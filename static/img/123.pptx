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1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32155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Kính thưa quý thầy cô trong hội đồng, em tên là Nguyễn Đông Từ. Hôm nay em xin trình bày đồ án tốt nghiệp với đề tài nghiên cứu giải pháp điểm danh tự động bằng thị giác máy tính.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trình bày gồm sáu phần chính. Em sẽ đi từ lý do chọn đề tài, các nghiên cứu liên quan, tổng quan hệ thống, phương pháp đề xuất, kết quả thực nghiệm và cuối cùng là kết luận, hướng phát triển.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này trả lời câu hỏi tại sao đề tài cần thiết. Điểm danh thủ công vừa mất thời gian, vừa khó chống gian lận, vừa khó quản lý dữ liệu. Vì vậy đề tài hướng tới giải pháp tự động, có kiểm tra liveness và lưu dữ liệu tập trung.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dùng để làm bước đệm. Em không trình bày dài từng công trình, mà rút ra điểm chung: các nghiên cứu đã ứng dụng nhận diện khuôn mặt vào điểm danh, nhưng vẫn còn khoảng trống về chống giả mạo, kiến trúc linh hoạt và quản lý tổng thể.</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Ở phần mục tiêu và phạm vi, em nhấn mạnh hệ thống không chỉ dừng ở nhận diện khuôn mặt, mà còn có quản trị dữ liệu, phiên điểm danh, chống giả mạo và báo cáo.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Kiến trúc hệ thống được chia thành các tầng rõ ràng. Web và Kiosk dùng để vận hành, Flask xử lý nghiệp vụ, AI Core xử lý hình ảnh và chống giả mạo, SQL Server lưu dữ liệu, Socket.IO đẩy kết quả thời gian thực lên giao diện.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quy trình quan trọng nhất. Hình ảnh từ camera được tiền xử lý, phát hiện và căn chỉnh khuôn mặt, kiểm tra liveness, trích vector, so khớp, làm mượt theo thời gian, kiểm tra nghiệp vụ rồi mới ghi nhận.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có hai lõi AI. InsightFace được chọn làm lõi mặc định vì tốc độ và pipeline ổn định. YOLO11 kết hợp ResNet50 là lựa chọn thử nghiệm để huấn luyện hoặc tùy biến dữ liệu riêng.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Ở slide chống gian lận, em cần nói thẳng là hệ thống đã triển khai cơ chế nhiều lớp, nhưng chưa đủ số liệu để kết luận định lượng FAR, FRR, EER. Cách trình bày này an toàn và có tính khoa học.</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 tổng quát cho thấy ba nhóm người dùng chính là quản trị viên, giảng viên và sinh viên. Mỗi vai trò có quyền và chức năng khác nhau nhưng cùng dùng chung quy trình điểm danh.</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Ở luồng Kiosk, giảng viên chọn lớp, chọn camera và mở phiên. Backend kiểm tra phiên hợp lệ, AI phát hiện và xác định khuôn mặt. Nếu hợp lệ, hệ thống lưu điểm danh và cập nhật kết quả qua Socket.IO.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Cơ sở dữ liệu liên kết sinh viên, lớp học, phiên điểm danh, kết quả điểm danh, camera và cảnh báo. Mọi bản ghi điểm danh đều đi qua backend để đảm bảo nhất quán dữ liệu.</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 Admin là nơi quản lý tập trung. Quản trị viên có thể quản lý sinh viên, lớp học, phiên điểm danh, camera, cảnh báo, thống kê và xuất báo cáo.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Giao diện Kiosk là màn hình đặt tại lớp học. Nó hiển thị camera, kết quả nhận diện và lịch sử điểm danh bên phải. Khi nhận diện thành công, thông tin sinh viên được cập nhật ngay.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rất dễ thuyết trình. Ảnh bên trái là trường hợp nhận diện thành công và ghi vào lịch sử. Ảnh bên phải là trường hợp không đủ điều kiện, hệ thống hiển thị cảnh báo và không ghi nhận điểm danh hợp lệ.</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Ứng dụng mobile giúp mở rộng nghiệp vụ cho giảng viên và sinh viên. Mobile hỗ trợ đăng ký khuôn mặt, quét QR, GPS, xem lịch sử, nhận thông báo và đồng bộ khi mạng không ổn định.</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Đường cong huấn luyện cho thấy mô hình ResNet50 có xu hướng hội tụ. Tuy nhiên đây là kết quả của một lần chạy, nên em chỉ dùng để mô tả xu hướng chứ không khẳng định tuyệt đối.</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trận nhầm lẫn cho thấy trong tập kiểm thử nhỏ, 26 mẫu đều nằm trên đường chéo chính. Nhưng vì tập dữ liệu nhỏ và chưa đa dạng, em không kết luận độ chính xác tuyệt đối.</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so sánh hiệu năng. InsightFace đạt 29 FPS, YOLO11 kết hợp ResNet50 đạt 24 FPS trong cấu hình thử nghiệm. Vì chưa có nhiều lần chạy và độ lệch chuẩn, em chỉ dùng để so sánh tương đối.</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tổng kết những gì hệ thống đã làm được: hoàn thành nền tảng Web/Kiosk, có AI nhận diện, có chống gian lận, có quản lý và báo cáo, có realtime và có bằng chứng thực nghiệm.</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kết luận cần nói rõ: hệ thống đã hoàn thành nền tảng và chứng minh khả thi, nhưng cần mở rộng dữ liệu, đo liveness bằng chỉ số định lượng và hoàn thiện bảo vệ dữ liệu sinh trắc học khi triển khai thực tế.</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xin chân thành cảm ơn quý thầy cô đã lắng nghe phần trình bày của em. Em kính mong nhận được câu hỏi và góp ý từ hội đồng để hoàn thiện đề tài tốt hơn.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jp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1777472" y="0"/>
            <a:ext cx="411480" cy="6858000"/>
          </a:xfrm>
          <a:prstGeom prst="rect">
            <a:avLst/>
          </a:prstGeom>
          <a:solidFill>
            <a:srgbClr val="2563EB"/>
          </a:solidFill>
          <a:ln w="12700">
            <a:solidFill>
              <a:srgbClr val="2563EB"/>
            </a:solidFill>
            <a:prstDash val="solid"/>
          </a:ln>
        </p:spPr>
      </p:sp>
      <p:pic>
        <p:nvPicPr>
          <p:cNvPr id="3" name="Image 0" descr="/mnt/data/unz/ppt/media/image.png"/>
          <p:cNvPicPr>
            <a:picLocks noChangeAspect="1"/>
          </p:cNvPicPr>
          <p:nvPr/>
        </p:nvPicPr>
        <p:blipFill>
          <a:blip r:embed="rId3"/>
          <a:stretch>
            <a:fillRect/>
          </a:stretch>
        </p:blipFill>
        <p:spPr>
          <a:xfrm>
            <a:off x="685800" y="685251"/>
            <a:ext cx="1143000" cy="906354"/>
          </a:xfrm>
          <a:prstGeom prst="rect">
            <a:avLst/>
          </a:prstGeom>
        </p:spPr>
      </p:pic>
      <p:sp>
        <p:nvSpPr>
          <p:cNvPr id="4" name="Text 1"/>
          <p:cNvSpPr/>
          <p:nvPr/>
        </p:nvSpPr>
        <p:spPr>
          <a:xfrm>
            <a:off x="2194560" y="822960"/>
            <a:ext cx="6858000" cy="274320"/>
          </a:xfrm>
          <a:prstGeom prst="rect">
            <a:avLst/>
          </a:prstGeom>
          <a:noFill/>
          <a:ln/>
        </p:spPr>
        <p:txBody>
          <a:bodyPr wrap="square" lIns="0" tIns="0" rIns="0" bIns="0" rtlCol="0" anchor="ctr"/>
          <a:lstStyle/>
          <a:p>
            <a:pPr marL="0" indent="0">
              <a:buNone/>
            </a:pPr>
            <a:r>
              <a:rPr lang="en-US" sz="2000" b="1" dirty="0">
                <a:solidFill>
                  <a:srgbClr val="0F172A"/>
                </a:solidFill>
              </a:rPr>
              <a:t>TRƯỜNG ĐẠI HỌC XÂY DỰNG MIỀN </a:t>
            </a:r>
            <a:r>
              <a:rPr lang="en-US" sz="2000" b="1">
                <a:solidFill>
                  <a:srgbClr val="0F172A"/>
                </a:solidFill>
              </a:rPr>
              <a:t>TÂY </a:t>
            </a:r>
          </a:p>
          <a:p>
            <a:pPr marL="0" indent="0">
              <a:buNone/>
            </a:pPr>
            <a:r>
              <a:rPr lang="en-US" sz="2000" b="1">
                <a:solidFill>
                  <a:srgbClr val="0F172A"/>
                </a:solidFill>
              </a:rPr>
              <a:t> </a:t>
            </a:r>
            <a:r>
              <a:rPr lang="en-US" sz="2000" b="1" dirty="0">
                <a:solidFill>
                  <a:srgbClr val="0F172A"/>
                </a:solidFill>
              </a:rPr>
              <a:t>KHOA CÔNG NGHỆ</a:t>
            </a:r>
            <a:endParaRPr lang="en-US" sz="2000" dirty="0"/>
          </a:p>
        </p:txBody>
      </p:sp>
      <p:sp>
        <p:nvSpPr>
          <p:cNvPr id="5" name="Text 2"/>
          <p:cNvSpPr/>
          <p:nvPr/>
        </p:nvSpPr>
        <p:spPr>
          <a:xfrm>
            <a:off x="2267712" y="1371600"/>
            <a:ext cx="4572000" cy="256032"/>
          </a:xfrm>
          <a:prstGeom prst="rect">
            <a:avLst/>
          </a:prstGeom>
          <a:noFill/>
          <a:ln/>
        </p:spPr>
        <p:txBody>
          <a:bodyPr wrap="square" lIns="0" tIns="0" rIns="0" bIns="0" rtlCol="0" anchor="ctr"/>
          <a:lstStyle/>
          <a:p>
            <a:pPr marL="0" indent="0">
              <a:buNone/>
            </a:pPr>
            <a:r>
              <a:rPr lang="en-US" sz="1600" b="1" dirty="0">
                <a:solidFill>
                  <a:srgbClr val="2563EB"/>
                </a:solidFill>
              </a:rPr>
              <a:t>BÁO CÁO BẢO VỆ ĐỒ ÁN TỐT NGHIỆP</a:t>
            </a:r>
            <a:endParaRPr lang="en-US" sz="1600" dirty="0"/>
          </a:p>
        </p:txBody>
      </p:sp>
      <p:sp>
        <p:nvSpPr>
          <p:cNvPr id="6" name="Text 3"/>
          <p:cNvSpPr/>
          <p:nvPr/>
        </p:nvSpPr>
        <p:spPr>
          <a:xfrm>
            <a:off x="777240" y="2240280"/>
            <a:ext cx="7680960" cy="1554480"/>
          </a:xfrm>
          <a:prstGeom prst="rect">
            <a:avLst/>
          </a:prstGeom>
          <a:noFill/>
          <a:ln/>
        </p:spPr>
        <p:txBody>
          <a:bodyPr wrap="square" lIns="0" tIns="0" rIns="0" bIns="0" rtlCol="0" anchor="ctr">
            <a:normAutofit/>
          </a:bodyPr>
          <a:lstStyle/>
          <a:p>
            <a:pPr marL="0" indent="0">
              <a:buNone/>
            </a:pPr>
            <a:r>
              <a:rPr lang="en-US" sz="3100" b="1" dirty="0">
                <a:solidFill>
                  <a:srgbClr val="0F172A"/>
                </a:solidFill>
              </a:rPr>
              <a:t>NGHIÊN CỨU GIẢI PHÁP</a:t>
            </a:r>
            <a:endParaRPr lang="en-US" sz="3100" dirty="0"/>
          </a:p>
          <a:p>
            <a:pPr marL="0" indent="0">
              <a:buNone/>
            </a:pPr>
            <a:r>
              <a:rPr lang="en-US" sz="3100" b="1" dirty="0">
                <a:solidFill>
                  <a:srgbClr val="0F172A"/>
                </a:solidFill>
              </a:rPr>
              <a:t>ĐIỂM DANH TỰ ĐỘNG BẰNG</a:t>
            </a:r>
            <a:endParaRPr lang="en-US" sz="3100" dirty="0"/>
          </a:p>
          <a:p>
            <a:pPr marL="0" indent="0">
              <a:buNone/>
            </a:pPr>
            <a:r>
              <a:rPr lang="en-US" sz="3100" b="1" dirty="0">
                <a:solidFill>
                  <a:srgbClr val="0F172A"/>
                </a:solidFill>
              </a:rPr>
              <a:t>THỊ GIÁC MÁY TÍNH</a:t>
            </a:r>
            <a:endParaRPr lang="en-US" sz="3100" dirty="0"/>
          </a:p>
        </p:txBody>
      </p:sp>
      <p:sp>
        <p:nvSpPr>
          <p:cNvPr id="7" name="Shape 4"/>
          <p:cNvSpPr/>
          <p:nvPr/>
        </p:nvSpPr>
        <p:spPr>
          <a:xfrm>
            <a:off x="685800" y="4800600"/>
            <a:ext cx="10972800" cy="1051560"/>
          </a:xfrm>
          <a:prstGeom prst="roundRect">
            <a:avLst>
              <a:gd name="adj" fmla="val 4348"/>
            </a:avLst>
          </a:prstGeom>
          <a:solidFill>
            <a:srgbClr val="F1F5F9"/>
          </a:solidFill>
          <a:ln w="12700">
            <a:solidFill>
              <a:srgbClr val="F1F5F9"/>
            </a:solidFill>
            <a:prstDash val="solid"/>
          </a:ln>
        </p:spPr>
      </p:sp>
      <p:sp>
        <p:nvSpPr>
          <p:cNvPr id="8" name="Text 5"/>
          <p:cNvSpPr/>
          <p:nvPr/>
        </p:nvSpPr>
        <p:spPr>
          <a:xfrm>
            <a:off x="1005840" y="5074920"/>
            <a:ext cx="9601200" cy="274320"/>
          </a:xfrm>
          <a:prstGeom prst="rect">
            <a:avLst/>
          </a:prstGeom>
          <a:noFill/>
          <a:ln/>
        </p:spPr>
        <p:txBody>
          <a:bodyPr wrap="square" lIns="0" tIns="0" rIns="0" bIns="0" rtlCol="0" anchor="ctr"/>
          <a:lstStyle/>
          <a:p>
            <a:pPr marL="0" indent="0">
              <a:buNone/>
            </a:pPr>
            <a:r>
              <a:rPr lang="en-US" sz="1500" b="1" dirty="0">
                <a:solidFill>
                  <a:srgbClr val="0F172A"/>
                </a:solidFill>
              </a:rPr>
              <a:t>Sinh viên</a:t>
            </a:r>
            <a:r>
              <a:rPr lang="en-US" sz="1500" b="1">
                <a:solidFill>
                  <a:srgbClr val="0F172A"/>
                </a:solidFill>
              </a:rPr>
              <a:t>: NGUYỄN ĐÔNG TỪ  -  </a:t>
            </a:r>
            <a:r>
              <a:rPr lang="en-US" sz="1500" b="1" dirty="0">
                <a:solidFill>
                  <a:srgbClr val="0F172A"/>
                </a:solidFill>
              </a:rPr>
              <a:t>MSSV: </a:t>
            </a:r>
            <a:r>
              <a:rPr lang="en-US" sz="1500" b="1">
                <a:solidFill>
                  <a:srgbClr val="0F172A"/>
                </a:solidFill>
              </a:rPr>
              <a:t>21D14801030074  -  </a:t>
            </a:r>
            <a:r>
              <a:rPr lang="en-US" sz="1500" b="1" dirty="0">
                <a:solidFill>
                  <a:srgbClr val="0F172A"/>
                </a:solidFill>
              </a:rPr>
              <a:t>Lớp: KP22D01</a:t>
            </a:r>
            <a:endParaRPr lang="en-US" sz="1500" dirty="0"/>
          </a:p>
        </p:txBody>
      </p:sp>
      <p:sp>
        <p:nvSpPr>
          <p:cNvPr id="9" name="Text 6"/>
          <p:cNvSpPr/>
          <p:nvPr/>
        </p:nvSpPr>
        <p:spPr>
          <a:xfrm>
            <a:off x="1005840" y="5440680"/>
            <a:ext cx="8229600" cy="228600"/>
          </a:xfrm>
          <a:prstGeom prst="rect">
            <a:avLst/>
          </a:prstGeom>
          <a:noFill/>
          <a:ln/>
        </p:spPr>
        <p:txBody>
          <a:bodyPr wrap="square" lIns="0" tIns="0" rIns="0" bIns="0" rtlCol="0" anchor="ctr"/>
          <a:lstStyle/>
          <a:p>
            <a:pPr marL="0" indent="0">
              <a:buNone/>
            </a:pPr>
            <a:r>
              <a:rPr lang="en-US" sz="1300" dirty="0">
                <a:solidFill>
                  <a:srgbClr val="6B7280"/>
                </a:solidFill>
              </a:rPr>
              <a:t>GVHD: ThS</a:t>
            </a:r>
            <a:r>
              <a:rPr lang="en-US" sz="1300">
                <a:solidFill>
                  <a:srgbClr val="6B7280"/>
                </a:solidFill>
              </a:rPr>
              <a:t>. ĐẶNG THỊ XUÂN TIÊN - </a:t>
            </a:r>
            <a:r>
              <a:rPr lang="en-US" sz="1300" dirty="0">
                <a:solidFill>
                  <a:srgbClr val="6B7280"/>
                </a:solidFill>
              </a:rPr>
              <a:t>ThS</a:t>
            </a:r>
            <a:r>
              <a:rPr lang="en-US" sz="1300">
                <a:solidFill>
                  <a:srgbClr val="6B7280"/>
                </a:solidFill>
              </a:rPr>
              <a:t>. HÀ HOÀI NAM</a:t>
            </a:r>
            <a:endParaRPr lang="en-US" sz="1300" dirty="0"/>
          </a:p>
        </p:txBody>
      </p:sp>
      <p:sp>
        <p:nvSpPr>
          <p:cNvPr id="10" name="Text 7"/>
          <p:cNvSpPr/>
          <p:nvPr/>
        </p:nvSpPr>
        <p:spPr>
          <a:xfrm>
            <a:off x="10149840" y="6327648"/>
            <a:ext cx="1097280" cy="201168"/>
          </a:xfrm>
          <a:prstGeom prst="rect">
            <a:avLst/>
          </a:prstGeom>
          <a:noFill/>
          <a:ln/>
        </p:spPr>
        <p:txBody>
          <a:bodyPr wrap="square" lIns="0" tIns="0" rIns="0" bIns="0" rtlCol="0" anchor="ctr"/>
          <a:lstStyle/>
          <a:p>
            <a:pPr marL="0" indent="0" algn="r">
              <a:buNone/>
            </a:pPr>
            <a:r>
              <a:rPr lang="en-US" sz="1000" dirty="0">
                <a:solidFill>
                  <a:srgbClr val="6B7280"/>
                </a:solidFill>
              </a:rPr>
              <a:t>Vĩnh Long,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1814048" y="0"/>
            <a:ext cx="374904" cy="6858000"/>
          </a:xfrm>
          <a:prstGeom prst="rect">
            <a:avLst/>
          </a:prstGeom>
          <a:solidFill>
            <a:srgbClr val="2563EB"/>
          </a:solidFill>
          <a:ln w="12700">
            <a:solidFill>
              <a:srgbClr val="2563EB"/>
            </a:solidFill>
            <a:prstDash val="solid"/>
          </a:ln>
        </p:spPr>
      </p:sp>
      <p:sp>
        <p:nvSpPr>
          <p:cNvPr id="3" name="Text 1"/>
          <p:cNvSpPr/>
          <p:nvPr/>
        </p:nvSpPr>
        <p:spPr>
          <a:xfrm>
            <a:off x="603504" y="347472"/>
            <a:ext cx="1463040" cy="228600"/>
          </a:xfrm>
          <a:prstGeom prst="rect">
            <a:avLst/>
          </a:prstGeom>
          <a:noFill/>
          <a:ln/>
        </p:spPr>
        <p:txBody>
          <a:bodyPr wrap="square" lIns="0" tIns="0" rIns="0" bIns="0" rtlCol="0" anchor="ctr"/>
          <a:lstStyle/>
          <a:p>
            <a:pPr marL="0" indent="0">
              <a:buNone/>
            </a:pPr>
            <a:r>
              <a:rPr lang="en-US" sz="1000" b="1" dirty="0">
                <a:solidFill>
                  <a:srgbClr val="2563EB"/>
                </a:solidFill>
              </a:rPr>
              <a:t>MTU FACE</a:t>
            </a:r>
            <a:endParaRPr lang="en-US" sz="1000" dirty="0"/>
          </a:p>
        </p:txBody>
      </p:sp>
      <p:sp>
        <p:nvSpPr>
          <p:cNvPr id="4" name="Text 2"/>
          <p:cNvSpPr/>
          <p:nvPr/>
        </p:nvSpPr>
        <p:spPr>
          <a:xfrm>
            <a:off x="603504" y="804672"/>
            <a:ext cx="10515600" cy="548640"/>
          </a:xfrm>
          <a:prstGeom prst="rect">
            <a:avLst/>
          </a:prstGeom>
          <a:noFill/>
          <a:ln/>
        </p:spPr>
        <p:txBody>
          <a:bodyPr wrap="square" lIns="0" tIns="0" rIns="0" bIns="0" rtlCol="0" anchor="ctr">
            <a:normAutofit/>
          </a:bodyPr>
          <a:lstStyle/>
          <a:p>
            <a:pPr marL="0" indent="0">
              <a:buNone/>
            </a:pPr>
            <a:r>
              <a:rPr lang="en-US" sz="2800" b="1" dirty="0">
                <a:solidFill>
                  <a:srgbClr val="0F172A"/>
                </a:solidFill>
              </a:rPr>
              <a:t>Nội dung báo cáo</a:t>
            </a:r>
            <a:endParaRPr lang="en-US" sz="2800" dirty="0"/>
          </a:p>
        </p:txBody>
      </p:sp>
      <p:sp>
        <p:nvSpPr>
          <p:cNvPr id="5" name="Shape 3"/>
          <p:cNvSpPr/>
          <p:nvPr/>
        </p:nvSpPr>
        <p:spPr>
          <a:xfrm>
            <a:off x="530352" y="1417320"/>
            <a:ext cx="10881360" cy="0"/>
          </a:xfrm>
          <a:prstGeom prst="line">
            <a:avLst/>
          </a:prstGeom>
          <a:noFill/>
          <a:ln w="12700">
            <a:solidFill>
              <a:srgbClr val="CBD5E1"/>
            </a:solidFill>
            <a:prstDash val="solid"/>
          </a:ln>
        </p:spPr>
      </p:sp>
      <p:sp>
        <p:nvSpPr>
          <p:cNvPr id="6" name="Shape 4"/>
          <p:cNvSpPr/>
          <p:nvPr/>
        </p:nvSpPr>
        <p:spPr>
          <a:xfrm>
            <a:off x="530352" y="6492240"/>
            <a:ext cx="10881360" cy="0"/>
          </a:xfrm>
          <a:prstGeom prst="line">
            <a:avLst/>
          </a:prstGeom>
          <a:noFill/>
          <a:ln w="10160">
            <a:solidFill>
              <a:srgbClr val="CBD5E1"/>
            </a:solidFill>
            <a:prstDash val="solid"/>
          </a:ln>
        </p:spPr>
      </p:sp>
      <p:sp>
        <p:nvSpPr>
          <p:cNvPr id="7" name="Text 5"/>
          <p:cNvSpPr/>
          <p:nvPr/>
        </p:nvSpPr>
        <p:spPr>
          <a:xfrm>
            <a:off x="603504" y="6565392"/>
            <a:ext cx="4389120" cy="137160"/>
          </a:xfrm>
          <a:prstGeom prst="rect">
            <a:avLst/>
          </a:prstGeom>
          <a:noFill/>
          <a:ln/>
        </p:spPr>
        <p:txBody>
          <a:bodyPr wrap="square" lIns="0" tIns="0" rIns="0" bIns="0" rtlCol="0" anchor="ctr"/>
          <a:lstStyle/>
          <a:p>
            <a:pPr marL="0" indent="0">
              <a:buNone/>
            </a:pPr>
            <a:r>
              <a:rPr lang="en-US" sz="800" dirty="0">
                <a:solidFill>
                  <a:srgbClr val="6B7280"/>
                </a:solidFill>
              </a:rPr>
              <a:t>ĐỒ ÁN TỐT NGHIỆP • KỸ THUẬT PHẦN MỀM</a:t>
            </a:r>
            <a:endParaRPr lang="en-US" sz="800" dirty="0"/>
          </a:p>
        </p:txBody>
      </p:sp>
      <p:sp>
        <p:nvSpPr>
          <p:cNvPr id="8" name="Text 6"/>
          <p:cNvSpPr/>
          <p:nvPr/>
        </p:nvSpPr>
        <p:spPr>
          <a:xfrm>
            <a:off x="11109960" y="6547104"/>
            <a:ext cx="274320" cy="182880"/>
          </a:xfrm>
          <a:prstGeom prst="rect">
            <a:avLst/>
          </a:prstGeom>
          <a:noFill/>
          <a:ln/>
        </p:spPr>
        <p:txBody>
          <a:bodyPr wrap="square" lIns="0" tIns="0" rIns="0" bIns="0" rtlCol="0" anchor="ctr"/>
          <a:lstStyle/>
          <a:p>
            <a:pPr marL="0" indent="0" algn="r">
              <a:buNone/>
            </a:pPr>
            <a:r>
              <a:rPr lang="en-US" sz="900" dirty="0">
                <a:solidFill>
                  <a:srgbClr val="6B7280"/>
                </a:solidFill>
              </a:rPr>
              <a:t>02</a:t>
            </a:r>
            <a:endParaRPr lang="en-US" sz="900" dirty="0"/>
          </a:p>
        </p:txBody>
      </p:sp>
      <p:sp>
        <p:nvSpPr>
          <p:cNvPr id="9" name="Shape 7"/>
          <p:cNvSpPr/>
          <p:nvPr/>
        </p:nvSpPr>
        <p:spPr>
          <a:xfrm rot="360000">
            <a:off x="822960" y="1792224"/>
            <a:ext cx="210312" cy="393192"/>
          </a:xfrm>
          <a:prstGeom prst="rect">
            <a:avLst/>
          </a:prstGeom>
          <a:solidFill>
            <a:srgbClr val="2563EB"/>
          </a:solidFill>
          <a:ln w="12700">
            <a:solidFill>
              <a:srgbClr val="2563EB"/>
            </a:solidFill>
            <a:prstDash val="solid"/>
          </a:ln>
        </p:spPr>
      </p:sp>
      <p:sp>
        <p:nvSpPr>
          <p:cNvPr id="10" name="Text 8"/>
          <p:cNvSpPr/>
          <p:nvPr/>
        </p:nvSpPr>
        <p:spPr>
          <a:xfrm>
            <a:off x="1234440" y="1755648"/>
            <a:ext cx="457200" cy="365760"/>
          </a:xfrm>
          <a:prstGeom prst="rect">
            <a:avLst/>
          </a:prstGeom>
          <a:noFill/>
          <a:ln/>
        </p:spPr>
        <p:txBody>
          <a:bodyPr wrap="square" lIns="0" tIns="0" rIns="0" bIns="0" rtlCol="0" anchor="ctr"/>
          <a:lstStyle/>
          <a:p>
            <a:pPr marL="0" indent="0">
              <a:buNone/>
            </a:pPr>
            <a:r>
              <a:rPr lang="en-US" sz="2100" b="1" dirty="0">
                <a:solidFill>
                  <a:srgbClr val="000000"/>
                </a:solidFill>
              </a:rPr>
              <a:t>01.</a:t>
            </a:r>
            <a:endParaRPr lang="en-US" sz="2100" dirty="0"/>
          </a:p>
        </p:txBody>
      </p:sp>
      <p:sp>
        <p:nvSpPr>
          <p:cNvPr id="11" name="Text 9"/>
          <p:cNvSpPr/>
          <p:nvPr/>
        </p:nvSpPr>
        <p:spPr>
          <a:xfrm>
            <a:off x="1783080" y="1755648"/>
            <a:ext cx="7132320" cy="365760"/>
          </a:xfrm>
          <a:prstGeom prst="rect">
            <a:avLst/>
          </a:prstGeom>
          <a:noFill/>
          <a:ln/>
        </p:spPr>
        <p:txBody>
          <a:bodyPr wrap="square" lIns="0" tIns="0" rIns="0" bIns="0" rtlCol="0" anchor="ctr">
            <a:normAutofit/>
          </a:bodyPr>
          <a:lstStyle/>
          <a:p>
            <a:pPr marL="0" indent="0">
              <a:buNone/>
            </a:pPr>
            <a:r>
              <a:rPr lang="en-US" sz="2100" dirty="0">
                <a:solidFill>
                  <a:srgbClr val="000000"/>
                </a:solidFill>
              </a:rPr>
              <a:t>Tính cấp thiết của đề tài</a:t>
            </a:r>
            <a:endParaRPr lang="en-US" sz="2100" dirty="0"/>
          </a:p>
        </p:txBody>
      </p:sp>
      <p:sp>
        <p:nvSpPr>
          <p:cNvPr id="12" name="Shape 10"/>
          <p:cNvSpPr/>
          <p:nvPr/>
        </p:nvSpPr>
        <p:spPr>
          <a:xfrm rot="360000">
            <a:off x="822960" y="2478024"/>
            <a:ext cx="210312" cy="393192"/>
          </a:xfrm>
          <a:prstGeom prst="rect">
            <a:avLst/>
          </a:prstGeom>
          <a:solidFill>
            <a:srgbClr val="2563EB"/>
          </a:solidFill>
          <a:ln w="12700">
            <a:solidFill>
              <a:srgbClr val="2563EB"/>
            </a:solidFill>
            <a:prstDash val="solid"/>
          </a:ln>
        </p:spPr>
      </p:sp>
      <p:sp>
        <p:nvSpPr>
          <p:cNvPr id="13" name="Text 11"/>
          <p:cNvSpPr/>
          <p:nvPr/>
        </p:nvSpPr>
        <p:spPr>
          <a:xfrm>
            <a:off x="1234440" y="2441448"/>
            <a:ext cx="457200" cy="365760"/>
          </a:xfrm>
          <a:prstGeom prst="rect">
            <a:avLst/>
          </a:prstGeom>
          <a:noFill/>
          <a:ln/>
        </p:spPr>
        <p:txBody>
          <a:bodyPr wrap="square" lIns="0" tIns="0" rIns="0" bIns="0" rtlCol="0" anchor="ctr"/>
          <a:lstStyle/>
          <a:p>
            <a:pPr marL="0" indent="0">
              <a:buNone/>
            </a:pPr>
            <a:r>
              <a:rPr lang="en-US" sz="2100" b="1" dirty="0">
                <a:solidFill>
                  <a:srgbClr val="000000"/>
                </a:solidFill>
              </a:rPr>
              <a:t>02.</a:t>
            </a:r>
            <a:endParaRPr lang="en-US" sz="2100" dirty="0"/>
          </a:p>
        </p:txBody>
      </p:sp>
      <p:sp>
        <p:nvSpPr>
          <p:cNvPr id="14" name="Text 12"/>
          <p:cNvSpPr/>
          <p:nvPr/>
        </p:nvSpPr>
        <p:spPr>
          <a:xfrm>
            <a:off x="1783080" y="2441448"/>
            <a:ext cx="7132320" cy="365760"/>
          </a:xfrm>
          <a:prstGeom prst="rect">
            <a:avLst/>
          </a:prstGeom>
          <a:noFill/>
          <a:ln/>
        </p:spPr>
        <p:txBody>
          <a:bodyPr wrap="square" lIns="0" tIns="0" rIns="0" bIns="0" rtlCol="0" anchor="ctr">
            <a:normAutofit/>
          </a:bodyPr>
          <a:lstStyle/>
          <a:p>
            <a:pPr marL="0" indent="0">
              <a:buNone/>
            </a:pPr>
            <a:r>
              <a:rPr lang="en-US" sz="2100" dirty="0">
                <a:solidFill>
                  <a:srgbClr val="000000"/>
                </a:solidFill>
              </a:rPr>
              <a:t>Các nghiên cứu liên quan</a:t>
            </a:r>
            <a:endParaRPr lang="en-US" sz="2100" dirty="0"/>
          </a:p>
        </p:txBody>
      </p:sp>
      <p:sp>
        <p:nvSpPr>
          <p:cNvPr id="15" name="Shape 13"/>
          <p:cNvSpPr/>
          <p:nvPr/>
        </p:nvSpPr>
        <p:spPr>
          <a:xfrm rot="360000">
            <a:off x="822960" y="3163824"/>
            <a:ext cx="210312" cy="393192"/>
          </a:xfrm>
          <a:prstGeom prst="rect">
            <a:avLst/>
          </a:prstGeom>
          <a:solidFill>
            <a:srgbClr val="2563EB"/>
          </a:solidFill>
          <a:ln w="12700">
            <a:solidFill>
              <a:srgbClr val="2563EB"/>
            </a:solidFill>
            <a:prstDash val="solid"/>
          </a:ln>
        </p:spPr>
      </p:sp>
      <p:sp>
        <p:nvSpPr>
          <p:cNvPr id="16" name="Text 14"/>
          <p:cNvSpPr/>
          <p:nvPr/>
        </p:nvSpPr>
        <p:spPr>
          <a:xfrm>
            <a:off x="1234440" y="3127248"/>
            <a:ext cx="457200" cy="365760"/>
          </a:xfrm>
          <a:prstGeom prst="rect">
            <a:avLst/>
          </a:prstGeom>
          <a:noFill/>
          <a:ln/>
        </p:spPr>
        <p:txBody>
          <a:bodyPr wrap="square" lIns="0" tIns="0" rIns="0" bIns="0" rtlCol="0" anchor="ctr"/>
          <a:lstStyle/>
          <a:p>
            <a:pPr marL="0" indent="0">
              <a:buNone/>
            </a:pPr>
            <a:r>
              <a:rPr lang="en-US" sz="2100" b="1" dirty="0">
                <a:solidFill>
                  <a:srgbClr val="000000"/>
                </a:solidFill>
              </a:rPr>
              <a:t>03.</a:t>
            </a:r>
            <a:endParaRPr lang="en-US" sz="2100" dirty="0"/>
          </a:p>
        </p:txBody>
      </p:sp>
      <p:sp>
        <p:nvSpPr>
          <p:cNvPr id="17" name="Text 15"/>
          <p:cNvSpPr/>
          <p:nvPr/>
        </p:nvSpPr>
        <p:spPr>
          <a:xfrm>
            <a:off x="1783080" y="3127248"/>
            <a:ext cx="7132320" cy="365760"/>
          </a:xfrm>
          <a:prstGeom prst="rect">
            <a:avLst/>
          </a:prstGeom>
          <a:noFill/>
          <a:ln/>
        </p:spPr>
        <p:txBody>
          <a:bodyPr wrap="square" lIns="0" tIns="0" rIns="0" bIns="0" rtlCol="0" anchor="ctr">
            <a:normAutofit/>
          </a:bodyPr>
          <a:lstStyle/>
          <a:p>
            <a:pPr marL="0" indent="0">
              <a:buNone/>
            </a:pPr>
            <a:r>
              <a:rPr lang="en-US" sz="2100" dirty="0">
                <a:solidFill>
                  <a:srgbClr val="000000"/>
                </a:solidFill>
              </a:rPr>
              <a:t>Tổng quan hệ thống điểm danh tự động</a:t>
            </a:r>
            <a:endParaRPr lang="en-US" sz="2100" dirty="0"/>
          </a:p>
        </p:txBody>
      </p:sp>
      <p:sp>
        <p:nvSpPr>
          <p:cNvPr id="18" name="Shape 16"/>
          <p:cNvSpPr/>
          <p:nvPr/>
        </p:nvSpPr>
        <p:spPr>
          <a:xfrm rot="360000">
            <a:off x="822960" y="3849624"/>
            <a:ext cx="210312" cy="393192"/>
          </a:xfrm>
          <a:prstGeom prst="rect">
            <a:avLst/>
          </a:prstGeom>
          <a:solidFill>
            <a:srgbClr val="2563EB"/>
          </a:solidFill>
          <a:ln w="12700">
            <a:solidFill>
              <a:srgbClr val="2563EB"/>
            </a:solidFill>
            <a:prstDash val="solid"/>
          </a:ln>
        </p:spPr>
      </p:sp>
      <p:sp>
        <p:nvSpPr>
          <p:cNvPr id="19" name="Text 17"/>
          <p:cNvSpPr/>
          <p:nvPr/>
        </p:nvSpPr>
        <p:spPr>
          <a:xfrm>
            <a:off x="1234440" y="3813048"/>
            <a:ext cx="457200" cy="365760"/>
          </a:xfrm>
          <a:prstGeom prst="rect">
            <a:avLst/>
          </a:prstGeom>
          <a:noFill/>
          <a:ln/>
        </p:spPr>
        <p:txBody>
          <a:bodyPr wrap="square" lIns="0" tIns="0" rIns="0" bIns="0" rtlCol="0" anchor="ctr"/>
          <a:lstStyle/>
          <a:p>
            <a:pPr marL="0" indent="0">
              <a:buNone/>
            </a:pPr>
            <a:r>
              <a:rPr lang="en-US" sz="2100" b="1" dirty="0">
                <a:solidFill>
                  <a:srgbClr val="000000"/>
                </a:solidFill>
              </a:rPr>
              <a:t>04.</a:t>
            </a:r>
            <a:endParaRPr lang="en-US" sz="2100" dirty="0"/>
          </a:p>
        </p:txBody>
      </p:sp>
      <p:sp>
        <p:nvSpPr>
          <p:cNvPr id="20" name="Text 18"/>
          <p:cNvSpPr/>
          <p:nvPr/>
        </p:nvSpPr>
        <p:spPr>
          <a:xfrm>
            <a:off x="1783080" y="3813048"/>
            <a:ext cx="7132320" cy="365760"/>
          </a:xfrm>
          <a:prstGeom prst="rect">
            <a:avLst/>
          </a:prstGeom>
          <a:noFill/>
          <a:ln/>
        </p:spPr>
        <p:txBody>
          <a:bodyPr wrap="square" lIns="0" tIns="0" rIns="0" bIns="0" rtlCol="0" anchor="ctr">
            <a:normAutofit/>
          </a:bodyPr>
          <a:lstStyle/>
          <a:p>
            <a:pPr marL="0" indent="0">
              <a:buNone/>
            </a:pPr>
            <a:r>
              <a:rPr lang="en-US" sz="2100" dirty="0">
                <a:solidFill>
                  <a:srgbClr val="000000"/>
                </a:solidFill>
              </a:rPr>
              <a:t>Phương pháp đề xuất</a:t>
            </a:r>
            <a:endParaRPr lang="en-US" sz="2100" dirty="0"/>
          </a:p>
        </p:txBody>
      </p:sp>
      <p:sp>
        <p:nvSpPr>
          <p:cNvPr id="21" name="Shape 19"/>
          <p:cNvSpPr/>
          <p:nvPr/>
        </p:nvSpPr>
        <p:spPr>
          <a:xfrm rot="360000">
            <a:off x="822960" y="4535424"/>
            <a:ext cx="210312" cy="393192"/>
          </a:xfrm>
          <a:prstGeom prst="rect">
            <a:avLst/>
          </a:prstGeom>
          <a:solidFill>
            <a:srgbClr val="2563EB"/>
          </a:solidFill>
          <a:ln w="12700">
            <a:solidFill>
              <a:srgbClr val="2563EB"/>
            </a:solidFill>
            <a:prstDash val="solid"/>
          </a:ln>
        </p:spPr>
      </p:sp>
      <p:sp>
        <p:nvSpPr>
          <p:cNvPr id="22" name="Text 20"/>
          <p:cNvSpPr/>
          <p:nvPr/>
        </p:nvSpPr>
        <p:spPr>
          <a:xfrm>
            <a:off x="1234440" y="4498848"/>
            <a:ext cx="457200" cy="365760"/>
          </a:xfrm>
          <a:prstGeom prst="rect">
            <a:avLst/>
          </a:prstGeom>
          <a:noFill/>
          <a:ln/>
        </p:spPr>
        <p:txBody>
          <a:bodyPr wrap="square" lIns="0" tIns="0" rIns="0" bIns="0" rtlCol="0" anchor="ctr"/>
          <a:lstStyle/>
          <a:p>
            <a:pPr marL="0" indent="0">
              <a:buNone/>
            </a:pPr>
            <a:r>
              <a:rPr lang="en-US" sz="2100" b="1" dirty="0">
                <a:solidFill>
                  <a:srgbClr val="000000"/>
                </a:solidFill>
              </a:rPr>
              <a:t>05.</a:t>
            </a:r>
            <a:endParaRPr lang="en-US" sz="2100" dirty="0"/>
          </a:p>
        </p:txBody>
      </p:sp>
      <p:sp>
        <p:nvSpPr>
          <p:cNvPr id="23" name="Text 21"/>
          <p:cNvSpPr/>
          <p:nvPr/>
        </p:nvSpPr>
        <p:spPr>
          <a:xfrm>
            <a:off x="1783080" y="4498848"/>
            <a:ext cx="7132320" cy="365760"/>
          </a:xfrm>
          <a:prstGeom prst="rect">
            <a:avLst/>
          </a:prstGeom>
          <a:noFill/>
          <a:ln/>
        </p:spPr>
        <p:txBody>
          <a:bodyPr wrap="square" lIns="0" tIns="0" rIns="0" bIns="0" rtlCol="0" anchor="ctr">
            <a:normAutofit/>
          </a:bodyPr>
          <a:lstStyle/>
          <a:p>
            <a:pPr marL="0" indent="0">
              <a:buNone/>
            </a:pPr>
            <a:r>
              <a:rPr lang="en-US" sz="2100" dirty="0">
                <a:solidFill>
                  <a:srgbClr val="000000"/>
                </a:solidFill>
              </a:rPr>
              <a:t>Kết quả thực nghiệm</a:t>
            </a:r>
            <a:endParaRPr lang="en-US" sz="2100" dirty="0"/>
          </a:p>
        </p:txBody>
      </p:sp>
      <p:sp>
        <p:nvSpPr>
          <p:cNvPr id="24" name="Shape 22"/>
          <p:cNvSpPr/>
          <p:nvPr/>
        </p:nvSpPr>
        <p:spPr>
          <a:xfrm rot="360000">
            <a:off x="822960" y="5221224"/>
            <a:ext cx="210312" cy="393192"/>
          </a:xfrm>
          <a:prstGeom prst="rect">
            <a:avLst/>
          </a:prstGeom>
          <a:solidFill>
            <a:srgbClr val="2563EB"/>
          </a:solidFill>
          <a:ln w="12700">
            <a:solidFill>
              <a:srgbClr val="2563EB"/>
            </a:solidFill>
            <a:prstDash val="solid"/>
          </a:ln>
        </p:spPr>
      </p:sp>
      <p:sp>
        <p:nvSpPr>
          <p:cNvPr id="25" name="Text 23"/>
          <p:cNvSpPr/>
          <p:nvPr/>
        </p:nvSpPr>
        <p:spPr>
          <a:xfrm>
            <a:off x="1234440" y="5184648"/>
            <a:ext cx="457200" cy="365760"/>
          </a:xfrm>
          <a:prstGeom prst="rect">
            <a:avLst/>
          </a:prstGeom>
          <a:noFill/>
          <a:ln/>
        </p:spPr>
        <p:txBody>
          <a:bodyPr wrap="square" lIns="0" tIns="0" rIns="0" bIns="0" rtlCol="0" anchor="ctr"/>
          <a:lstStyle/>
          <a:p>
            <a:pPr marL="0" indent="0">
              <a:buNone/>
            </a:pPr>
            <a:r>
              <a:rPr lang="en-US" sz="2100" b="1" dirty="0">
                <a:solidFill>
                  <a:srgbClr val="000000"/>
                </a:solidFill>
              </a:rPr>
              <a:t>06.</a:t>
            </a:r>
            <a:endParaRPr lang="en-US" sz="2100" dirty="0"/>
          </a:p>
        </p:txBody>
      </p:sp>
      <p:sp>
        <p:nvSpPr>
          <p:cNvPr id="26" name="Text 24"/>
          <p:cNvSpPr/>
          <p:nvPr/>
        </p:nvSpPr>
        <p:spPr>
          <a:xfrm>
            <a:off x="1783080" y="5184648"/>
            <a:ext cx="7132320" cy="365760"/>
          </a:xfrm>
          <a:prstGeom prst="rect">
            <a:avLst/>
          </a:prstGeom>
          <a:noFill/>
          <a:ln/>
        </p:spPr>
        <p:txBody>
          <a:bodyPr wrap="square" lIns="0" tIns="0" rIns="0" bIns="0" rtlCol="0" anchor="ctr">
            <a:normAutofit/>
          </a:bodyPr>
          <a:lstStyle/>
          <a:p>
            <a:pPr marL="0" indent="0">
              <a:buNone/>
            </a:pPr>
            <a:r>
              <a:rPr lang="en-US" sz="2100" dirty="0">
                <a:solidFill>
                  <a:srgbClr val="000000"/>
                </a:solidFill>
              </a:rPr>
              <a:t>Kết luận và hướng phát triển</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1814048" y="0"/>
            <a:ext cx="374904" cy="6858000"/>
          </a:xfrm>
          <a:prstGeom prst="rect">
            <a:avLst/>
          </a:prstGeom>
          <a:solidFill>
            <a:srgbClr val="2563EB"/>
          </a:solidFill>
          <a:ln w="12700">
            <a:solidFill>
              <a:srgbClr val="2563EB"/>
            </a:solidFill>
            <a:prstDash val="solid"/>
          </a:ln>
        </p:spPr>
      </p:sp>
      <p:sp>
        <p:nvSpPr>
          <p:cNvPr id="3" name="Text 1"/>
          <p:cNvSpPr/>
          <p:nvPr/>
        </p:nvSpPr>
        <p:spPr>
          <a:xfrm>
            <a:off x="603504" y="347472"/>
            <a:ext cx="1463040" cy="228600"/>
          </a:xfrm>
          <a:prstGeom prst="rect">
            <a:avLst/>
          </a:prstGeom>
          <a:noFill/>
          <a:ln/>
        </p:spPr>
        <p:txBody>
          <a:bodyPr wrap="square" lIns="0" tIns="0" rIns="0" bIns="0" rtlCol="0" anchor="ctr"/>
          <a:lstStyle/>
          <a:p>
            <a:pPr marL="0" indent="0">
              <a:buNone/>
            </a:pPr>
            <a:r>
              <a:rPr lang="en-US" sz="1000" b="1" dirty="0">
                <a:solidFill>
                  <a:srgbClr val="2563EB"/>
                </a:solidFill>
              </a:rPr>
              <a:t>MTU FACE</a:t>
            </a:r>
            <a:endParaRPr lang="en-US" sz="1000" dirty="0"/>
          </a:p>
        </p:txBody>
      </p:sp>
      <p:sp>
        <p:nvSpPr>
          <p:cNvPr id="4" name="Text 2"/>
          <p:cNvSpPr/>
          <p:nvPr/>
        </p:nvSpPr>
        <p:spPr>
          <a:xfrm>
            <a:off x="603504" y="804672"/>
            <a:ext cx="10515600" cy="548640"/>
          </a:xfrm>
          <a:prstGeom prst="rect">
            <a:avLst/>
          </a:prstGeom>
          <a:noFill/>
          <a:ln/>
        </p:spPr>
        <p:txBody>
          <a:bodyPr wrap="square" lIns="0" tIns="0" rIns="0" bIns="0" rtlCol="0" anchor="ctr">
            <a:normAutofit/>
          </a:bodyPr>
          <a:lstStyle/>
          <a:p>
            <a:pPr marL="0" indent="0">
              <a:buNone/>
            </a:pPr>
            <a:r>
              <a:rPr lang="en-US" sz="2800" b="1" dirty="0">
                <a:solidFill>
                  <a:srgbClr val="0F172A"/>
                </a:solidFill>
              </a:rPr>
              <a:t>Tính cấp thiết của đề tài</a:t>
            </a:r>
            <a:endParaRPr lang="en-US" sz="2800" dirty="0"/>
          </a:p>
        </p:txBody>
      </p:sp>
      <p:sp>
        <p:nvSpPr>
          <p:cNvPr id="5" name="Shape 3"/>
          <p:cNvSpPr/>
          <p:nvPr/>
        </p:nvSpPr>
        <p:spPr>
          <a:xfrm>
            <a:off x="530352" y="1417320"/>
            <a:ext cx="10881360" cy="0"/>
          </a:xfrm>
          <a:prstGeom prst="line">
            <a:avLst/>
          </a:prstGeom>
          <a:noFill/>
          <a:ln w="12700">
            <a:solidFill>
              <a:srgbClr val="CBD5E1"/>
            </a:solidFill>
            <a:prstDash val="solid"/>
          </a:ln>
        </p:spPr>
      </p:sp>
      <p:sp>
        <p:nvSpPr>
          <p:cNvPr id="6" name="Shape 4"/>
          <p:cNvSpPr/>
          <p:nvPr/>
        </p:nvSpPr>
        <p:spPr>
          <a:xfrm>
            <a:off x="530352" y="6492240"/>
            <a:ext cx="10881360" cy="0"/>
          </a:xfrm>
          <a:prstGeom prst="line">
            <a:avLst/>
          </a:prstGeom>
          <a:noFill/>
          <a:ln w="10160">
            <a:solidFill>
              <a:srgbClr val="CBD5E1"/>
            </a:solidFill>
            <a:prstDash val="solid"/>
          </a:ln>
        </p:spPr>
      </p:sp>
      <p:sp>
        <p:nvSpPr>
          <p:cNvPr id="7" name="Text 5"/>
          <p:cNvSpPr/>
          <p:nvPr/>
        </p:nvSpPr>
        <p:spPr>
          <a:xfrm>
            <a:off x="603504" y="6565392"/>
            <a:ext cx="4389120" cy="137160"/>
          </a:xfrm>
          <a:prstGeom prst="rect">
            <a:avLst/>
          </a:prstGeom>
          <a:noFill/>
          <a:ln/>
        </p:spPr>
        <p:txBody>
          <a:bodyPr wrap="square" lIns="0" tIns="0" rIns="0" bIns="0" rtlCol="0" anchor="ctr"/>
          <a:lstStyle/>
          <a:p>
            <a:pPr marL="0" indent="0">
              <a:buNone/>
            </a:pPr>
            <a:r>
              <a:rPr lang="en-US" sz="800" dirty="0">
                <a:solidFill>
                  <a:srgbClr val="6B7280"/>
                </a:solidFill>
              </a:rPr>
              <a:t>ĐỒ ÁN TỐT NGHIỆP • KỸ THUẬT PHẦN MỀM</a:t>
            </a:r>
            <a:endParaRPr lang="en-US" sz="800" dirty="0"/>
          </a:p>
        </p:txBody>
      </p:sp>
      <p:sp>
        <p:nvSpPr>
          <p:cNvPr id="8" name="Text 6"/>
          <p:cNvSpPr/>
          <p:nvPr/>
        </p:nvSpPr>
        <p:spPr>
          <a:xfrm>
            <a:off x="11109960" y="6547104"/>
            <a:ext cx="274320" cy="182880"/>
          </a:xfrm>
          <a:prstGeom prst="rect">
            <a:avLst/>
          </a:prstGeom>
          <a:noFill/>
          <a:ln/>
        </p:spPr>
        <p:txBody>
          <a:bodyPr wrap="square" lIns="0" tIns="0" rIns="0" bIns="0" rtlCol="0" anchor="ctr"/>
          <a:lstStyle/>
          <a:p>
            <a:pPr marL="0" indent="0" algn="r">
              <a:buNone/>
            </a:pPr>
            <a:r>
              <a:rPr lang="en-US" sz="900" dirty="0">
                <a:solidFill>
                  <a:srgbClr val="6B7280"/>
                </a:solidFill>
              </a:rPr>
              <a:t>03</a:t>
            </a:r>
            <a:endParaRPr lang="en-US" sz="900" dirty="0"/>
          </a:p>
        </p:txBody>
      </p:sp>
      <p:sp>
        <p:nvSpPr>
          <p:cNvPr id="9" name="Shape 7"/>
          <p:cNvSpPr/>
          <p:nvPr/>
        </p:nvSpPr>
        <p:spPr>
          <a:xfrm>
            <a:off x="685800" y="1783080"/>
            <a:ext cx="3337560" cy="1280160"/>
          </a:xfrm>
          <a:prstGeom prst="roundRect">
            <a:avLst>
              <a:gd name="adj" fmla="val 4286"/>
            </a:avLst>
          </a:prstGeom>
          <a:solidFill>
            <a:srgbClr val="FFFFFF"/>
          </a:solidFill>
          <a:ln w="12700">
            <a:solidFill>
              <a:srgbClr val="E2E8F0"/>
            </a:solidFill>
            <a:prstDash val="solid"/>
          </a:ln>
          <a:effectLst>
            <a:outerShdw blurRad="12700" dist="50800" dir="2700000" algn="bl" rotWithShape="0">
              <a:srgbClr val="94A3B8">
                <a:alpha val="15000"/>
              </a:srgbClr>
            </a:outerShdw>
          </a:effectLst>
        </p:spPr>
      </p:sp>
      <p:sp>
        <p:nvSpPr>
          <p:cNvPr id="10" name="Shape 8"/>
          <p:cNvSpPr/>
          <p:nvPr/>
        </p:nvSpPr>
        <p:spPr>
          <a:xfrm>
            <a:off x="685800" y="1783080"/>
            <a:ext cx="73152" cy="1280160"/>
          </a:xfrm>
          <a:prstGeom prst="rect">
            <a:avLst/>
          </a:prstGeom>
          <a:solidFill>
            <a:srgbClr val="2563EB"/>
          </a:solidFill>
          <a:ln w="12700">
            <a:solidFill>
              <a:srgbClr val="2563EB"/>
            </a:solidFill>
            <a:prstDash val="solid"/>
          </a:ln>
        </p:spPr>
      </p:sp>
      <p:sp>
        <p:nvSpPr>
          <p:cNvPr id="11" name="Text 9"/>
          <p:cNvSpPr/>
          <p:nvPr/>
        </p:nvSpPr>
        <p:spPr>
          <a:xfrm>
            <a:off x="896112" y="1947672"/>
            <a:ext cx="3017520" cy="256032"/>
          </a:xfrm>
          <a:prstGeom prst="rect">
            <a:avLst/>
          </a:prstGeom>
          <a:noFill/>
          <a:ln/>
        </p:spPr>
        <p:txBody>
          <a:bodyPr wrap="square" lIns="0" tIns="0" rIns="0" bIns="0" rtlCol="0" anchor="ctr"/>
          <a:lstStyle/>
          <a:p>
            <a:pPr marL="0" indent="0">
              <a:buNone/>
            </a:pPr>
            <a:r>
              <a:rPr lang="en-US" sz="1500" b="1" dirty="0">
                <a:solidFill>
                  <a:srgbClr val="2563EB"/>
                </a:solidFill>
              </a:rPr>
              <a:t>Vấn đề </a:t>
            </a:r>
            <a:r>
              <a:rPr lang="en-US" sz="1500" b="1">
                <a:solidFill>
                  <a:srgbClr val="2563EB"/>
                </a:solidFill>
              </a:rPr>
              <a:t>1 - </a:t>
            </a:r>
            <a:r>
              <a:rPr lang="en-US" sz="1500" b="1" dirty="0">
                <a:solidFill>
                  <a:srgbClr val="2563EB"/>
                </a:solidFill>
              </a:rPr>
              <a:t>Tốn thời gian</a:t>
            </a:r>
            <a:endParaRPr lang="en-US" sz="1500" dirty="0"/>
          </a:p>
        </p:txBody>
      </p:sp>
      <p:sp>
        <p:nvSpPr>
          <p:cNvPr id="12" name="Text 10"/>
          <p:cNvSpPr/>
          <p:nvPr/>
        </p:nvSpPr>
        <p:spPr>
          <a:xfrm>
            <a:off x="896112" y="2313432"/>
            <a:ext cx="2990088" cy="621792"/>
          </a:xfrm>
          <a:prstGeom prst="rect">
            <a:avLst/>
          </a:prstGeom>
          <a:noFill/>
          <a:ln/>
        </p:spPr>
        <p:txBody>
          <a:bodyPr wrap="square" lIns="127" tIns="127" rIns="127" bIns="127" rtlCol="0" anchor="t">
            <a:normAutofit/>
          </a:bodyPr>
          <a:lstStyle/>
          <a:p>
            <a:pPr marL="0" indent="0">
              <a:buNone/>
            </a:pPr>
            <a:r>
              <a:rPr lang="en-US" sz="1220" dirty="0">
                <a:solidFill>
                  <a:srgbClr val="111827"/>
                </a:solidFill>
              </a:rPr>
              <a:t>Điểm danh thủ công thường chiếm 5–10 phút đầu buổi học, đặc biệt với lớp đông sinh viên.</a:t>
            </a:r>
            <a:endParaRPr lang="en-US" sz="1220" dirty="0"/>
          </a:p>
        </p:txBody>
      </p:sp>
      <p:sp>
        <p:nvSpPr>
          <p:cNvPr id="13" name="Shape 11"/>
          <p:cNvSpPr/>
          <p:nvPr/>
        </p:nvSpPr>
        <p:spPr>
          <a:xfrm>
            <a:off x="4343400" y="1783080"/>
            <a:ext cx="3337560" cy="1280160"/>
          </a:xfrm>
          <a:prstGeom prst="roundRect">
            <a:avLst>
              <a:gd name="adj" fmla="val 4286"/>
            </a:avLst>
          </a:prstGeom>
          <a:solidFill>
            <a:srgbClr val="FFFFFF"/>
          </a:solidFill>
          <a:ln w="12700">
            <a:solidFill>
              <a:srgbClr val="E2E8F0"/>
            </a:solidFill>
            <a:prstDash val="solid"/>
          </a:ln>
          <a:effectLst>
            <a:outerShdw blurRad="12700" dist="50800" dir="2700000" algn="bl" rotWithShape="0">
              <a:srgbClr val="94A3B8">
                <a:alpha val="15000"/>
              </a:srgbClr>
            </a:outerShdw>
          </a:effectLst>
        </p:spPr>
      </p:sp>
      <p:sp>
        <p:nvSpPr>
          <p:cNvPr id="14" name="Shape 12"/>
          <p:cNvSpPr/>
          <p:nvPr/>
        </p:nvSpPr>
        <p:spPr>
          <a:xfrm>
            <a:off x="4343400" y="1783080"/>
            <a:ext cx="73152" cy="1280160"/>
          </a:xfrm>
          <a:prstGeom prst="rect">
            <a:avLst/>
          </a:prstGeom>
          <a:solidFill>
            <a:srgbClr val="D97706"/>
          </a:solidFill>
          <a:ln w="12700">
            <a:solidFill>
              <a:srgbClr val="D97706"/>
            </a:solidFill>
            <a:prstDash val="solid"/>
          </a:ln>
        </p:spPr>
      </p:sp>
      <p:sp>
        <p:nvSpPr>
          <p:cNvPr id="15" name="Text 13"/>
          <p:cNvSpPr/>
          <p:nvPr/>
        </p:nvSpPr>
        <p:spPr>
          <a:xfrm>
            <a:off x="4553712" y="1947672"/>
            <a:ext cx="3017520" cy="256032"/>
          </a:xfrm>
          <a:prstGeom prst="rect">
            <a:avLst/>
          </a:prstGeom>
          <a:noFill/>
          <a:ln/>
        </p:spPr>
        <p:txBody>
          <a:bodyPr wrap="square" lIns="0" tIns="0" rIns="0" bIns="0" rtlCol="0" anchor="ctr"/>
          <a:lstStyle/>
          <a:p>
            <a:pPr marL="0" indent="0">
              <a:buNone/>
            </a:pPr>
            <a:r>
              <a:rPr lang="en-US" sz="1500" b="1" dirty="0">
                <a:solidFill>
                  <a:srgbClr val="D97706"/>
                </a:solidFill>
              </a:rPr>
              <a:t>Vấn đề </a:t>
            </a:r>
            <a:r>
              <a:rPr lang="en-US" sz="1500" b="1">
                <a:solidFill>
                  <a:srgbClr val="D97706"/>
                </a:solidFill>
              </a:rPr>
              <a:t>2 - </a:t>
            </a:r>
            <a:r>
              <a:rPr lang="en-US" sz="1500" b="1" dirty="0">
                <a:solidFill>
                  <a:srgbClr val="D97706"/>
                </a:solidFill>
              </a:rPr>
              <a:t>Khó chống gian lận</a:t>
            </a:r>
            <a:endParaRPr lang="en-US" sz="1500" dirty="0"/>
          </a:p>
        </p:txBody>
      </p:sp>
      <p:sp>
        <p:nvSpPr>
          <p:cNvPr id="16" name="Text 14"/>
          <p:cNvSpPr/>
          <p:nvPr/>
        </p:nvSpPr>
        <p:spPr>
          <a:xfrm>
            <a:off x="4553712" y="2313432"/>
            <a:ext cx="2990088" cy="621792"/>
          </a:xfrm>
          <a:prstGeom prst="rect">
            <a:avLst/>
          </a:prstGeom>
          <a:noFill/>
          <a:ln/>
        </p:spPr>
        <p:txBody>
          <a:bodyPr wrap="square" lIns="127" tIns="127" rIns="127" bIns="127" rtlCol="0" anchor="t">
            <a:normAutofit/>
          </a:bodyPr>
          <a:lstStyle/>
          <a:p>
            <a:pPr marL="0" indent="0">
              <a:buNone/>
            </a:pPr>
            <a:r>
              <a:rPr lang="en-US" sz="1220" dirty="0">
                <a:solidFill>
                  <a:srgbClr val="111827"/>
                </a:solidFill>
              </a:rPr>
              <a:t>Điểm danh hộ, ký thay, mượn thẻ hoặc dùng ảnh/video làm giảm độ tin cậy dữ liệu.</a:t>
            </a:r>
            <a:endParaRPr lang="en-US" sz="1220" dirty="0"/>
          </a:p>
        </p:txBody>
      </p:sp>
      <p:sp>
        <p:nvSpPr>
          <p:cNvPr id="17" name="Shape 15"/>
          <p:cNvSpPr/>
          <p:nvPr/>
        </p:nvSpPr>
        <p:spPr>
          <a:xfrm>
            <a:off x="8001000" y="1783080"/>
            <a:ext cx="3337560" cy="1280160"/>
          </a:xfrm>
          <a:prstGeom prst="roundRect">
            <a:avLst>
              <a:gd name="adj" fmla="val 4286"/>
            </a:avLst>
          </a:prstGeom>
          <a:solidFill>
            <a:srgbClr val="FFFFFF"/>
          </a:solidFill>
          <a:ln w="12700">
            <a:solidFill>
              <a:srgbClr val="E2E8F0"/>
            </a:solidFill>
            <a:prstDash val="solid"/>
          </a:ln>
          <a:effectLst>
            <a:outerShdw blurRad="12700" dist="50800" dir="2700000" algn="bl" rotWithShape="0">
              <a:srgbClr val="94A3B8">
                <a:alpha val="15000"/>
              </a:srgbClr>
            </a:outerShdw>
          </a:effectLst>
        </p:spPr>
      </p:sp>
      <p:sp>
        <p:nvSpPr>
          <p:cNvPr id="18" name="Shape 16"/>
          <p:cNvSpPr/>
          <p:nvPr/>
        </p:nvSpPr>
        <p:spPr>
          <a:xfrm>
            <a:off x="8001000" y="1783080"/>
            <a:ext cx="73152" cy="1280160"/>
          </a:xfrm>
          <a:prstGeom prst="rect">
            <a:avLst/>
          </a:prstGeom>
          <a:solidFill>
            <a:srgbClr val="DC2626"/>
          </a:solidFill>
          <a:ln w="12700">
            <a:solidFill>
              <a:srgbClr val="DC2626"/>
            </a:solidFill>
            <a:prstDash val="solid"/>
          </a:ln>
        </p:spPr>
      </p:sp>
      <p:sp>
        <p:nvSpPr>
          <p:cNvPr id="19" name="Text 17"/>
          <p:cNvSpPr/>
          <p:nvPr/>
        </p:nvSpPr>
        <p:spPr>
          <a:xfrm>
            <a:off x="8211312" y="1947672"/>
            <a:ext cx="3017520" cy="256032"/>
          </a:xfrm>
          <a:prstGeom prst="rect">
            <a:avLst/>
          </a:prstGeom>
          <a:noFill/>
          <a:ln/>
        </p:spPr>
        <p:txBody>
          <a:bodyPr wrap="square" lIns="0" tIns="0" rIns="0" bIns="0" rtlCol="0" anchor="ctr"/>
          <a:lstStyle/>
          <a:p>
            <a:pPr marL="0" indent="0">
              <a:buNone/>
            </a:pPr>
            <a:r>
              <a:rPr lang="en-US" sz="1500" b="1" dirty="0">
                <a:solidFill>
                  <a:srgbClr val="DC2626"/>
                </a:solidFill>
              </a:rPr>
              <a:t>Vấn đề </a:t>
            </a:r>
            <a:r>
              <a:rPr lang="en-US" sz="1500" b="1">
                <a:solidFill>
                  <a:srgbClr val="DC2626"/>
                </a:solidFill>
              </a:rPr>
              <a:t>3 - </a:t>
            </a:r>
            <a:r>
              <a:rPr lang="en-US" sz="1500" b="1" dirty="0">
                <a:solidFill>
                  <a:srgbClr val="DC2626"/>
                </a:solidFill>
              </a:rPr>
              <a:t>Dữ liệu phân tán</a:t>
            </a:r>
            <a:endParaRPr lang="en-US" sz="1500" dirty="0"/>
          </a:p>
        </p:txBody>
      </p:sp>
      <p:sp>
        <p:nvSpPr>
          <p:cNvPr id="20" name="Text 18"/>
          <p:cNvSpPr/>
          <p:nvPr/>
        </p:nvSpPr>
        <p:spPr>
          <a:xfrm>
            <a:off x="8211312" y="2313432"/>
            <a:ext cx="2990088" cy="621792"/>
          </a:xfrm>
          <a:prstGeom prst="rect">
            <a:avLst/>
          </a:prstGeom>
          <a:noFill/>
          <a:ln/>
        </p:spPr>
        <p:txBody>
          <a:bodyPr wrap="square" lIns="127" tIns="127" rIns="127" bIns="127" rtlCol="0" anchor="t">
            <a:normAutofit/>
          </a:bodyPr>
          <a:lstStyle/>
          <a:p>
            <a:pPr marL="0" indent="0">
              <a:buNone/>
            </a:pPr>
            <a:r>
              <a:rPr lang="en-US" sz="1220" dirty="0">
                <a:solidFill>
                  <a:srgbClr val="111827"/>
                </a:solidFill>
              </a:rPr>
              <a:t>Dữ liệu giấy khó tổng hợp, khó truy vết tranh chấp và thiếu theo dõi thời gian thực.</a:t>
            </a:r>
            <a:endParaRPr lang="en-US" sz="1220" dirty="0"/>
          </a:p>
        </p:txBody>
      </p:sp>
      <p:sp>
        <p:nvSpPr>
          <p:cNvPr id="21" name="Text 19"/>
          <p:cNvSpPr/>
          <p:nvPr/>
        </p:nvSpPr>
        <p:spPr>
          <a:xfrm>
            <a:off x="685800" y="3703320"/>
            <a:ext cx="2926080" cy="274320"/>
          </a:xfrm>
          <a:prstGeom prst="rect">
            <a:avLst/>
          </a:prstGeom>
          <a:noFill/>
          <a:ln/>
        </p:spPr>
        <p:txBody>
          <a:bodyPr wrap="square" lIns="0" tIns="0" rIns="0" bIns="0" rtlCol="0" anchor="ctr"/>
          <a:lstStyle/>
          <a:p>
            <a:pPr marL="0" indent="0">
              <a:buNone/>
            </a:pPr>
            <a:r>
              <a:rPr lang="en-US" sz="1800" b="1" dirty="0">
                <a:solidFill>
                  <a:srgbClr val="0F172A"/>
                </a:solidFill>
              </a:rPr>
              <a:t>Yêu cầu đặt ra</a:t>
            </a:r>
            <a:endParaRPr lang="en-US" sz="1800" dirty="0"/>
          </a:p>
        </p:txBody>
      </p:sp>
      <p:sp>
        <p:nvSpPr>
          <p:cNvPr id="22" name="Text 20"/>
          <p:cNvSpPr/>
          <p:nvPr/>
        </p:nvSpPr>
        <p:spPr>
          <a:xfrm>
            <a:off x="868680" y="4160520"/>
            <a:ext cx="9966960" cy="1417320"/>
          </a:xfrm>
          <a:prstGeom prst="rect">
            <a:avLst/>
          </a:prstGeom>
          <a:noFill/>
          <a:ln/>
        </p:spPr>
        <p:txBody>
          <a:bodyPr wrap="square" lIns="254" tIns="254" rIns="254" bIns="254" rtlCol="0" anchor="ctr">
            <a:normAutofit/>
          </a:bodyPr>
          <a:lstStyle/>
          <a:p>
            <a:r>
              <a:rPr lang="en-US" sz="1600" dirty="0">
                <a:solidFill>
                  <a:srgbClr val="111827"/>
                </a:solidFill>
              </a:rPr>
              <a:t>Tự động hóa quy trình điểm danh bằng camera.</a:t>
            </a:r>
            <a:endParaRPr lang="en-US" sz="1600" dirty="0"/>
          </a:p>
          <a:p>
            <a:r>
              <a:rPr lang="en-US" sz="1600" dirty="0">
                <a:solidFill>
                  <a:srgbClr val="111827"/>
                </a:solidFill>
              </a:rPr>
              <a:t>Xác minh danh tính theo thời gian thực bằng nhận diện khuôn mặt.</a:t>
            </a:r>
            <a:endParaRPr lang="en-US" sz="1600" dirty="0"/>
          </a:p>
          <a:p>
            <a:r>
              <a:rPr lang="en-US" sz="1600" dirty="0">
                <a:solidFill>
                  <a:srgbClr val="111827"/>
                </a:solidFill>
              </a:rPr>
              <a:t>Bổ sung liveness/anti-spoofing để hạn chế gian lận.</a:t>
            </a:r>
            <a:endParaRPr lang="en-US" sz="1600" dirty="0"/>
          </a:p>
          <a:p>
            <a:r>
              <a:rPr lang="en-US" sz="1600" dirty="0">
                <a:solidFill>
                  <a:srgbClr val="111827"/>
                </a:solidFill>
              </a:rPr>
              <a:t>Quản lý tập trung: lịch sử, thống kê, cảnh báo và xuất báo cáo.</a:t>
            </a:r>
            <a:endParaRPr lang="en-US" sz="1600" dirty="0"/>
          </a:p>
        </p:txBody>
      </p:sp>
      <p:sp>
        <p:nvSpPr>
          <p:cNvPr id="23" name="Shape 21"/>
          <p:cNvSpPr/>
          <p:nvPr/>
        </p:nvSpPr>
        <p:spPr>
          <a:xfrm>
            <a:off x="685800" y="5806440"/>
            <a:ext cx="10515600" cy="393192"/>
          </a:xfrm>
          <a:prstGeom prst="roundRect">
            <a:avLst>
              <a:gd name="adj" fmla="val 9302"/>
            </a:avLst>
          </a:prstGeom>
          <a:solidFill>
            <a:srgbClr val="EFF6FF"/>
          </a:solidFill>
          <a:ln w="12700">
            <a:solidFill>
              <a:srgbClr val="DBEAFE"/>
            </a:solidFill>
            <a:prstDash val="solid"/>
          </a:ln>
        </p:spPr>
      </p:sp>
      <p:sp>
        <p:nvSpPr>
          <p:cNvPr id="24" name="Text 22"/>
          <p:cNvSpPr/>
          <p:nvPr/>
        </p:nvSpPr>
        <p:spPr>
          <a:xfrm>
            <a:off x="868680" y="5916168"/>
            <a:ext cx="9966960" cy="182880"/>
          </a:xfrm>
          <a:prstGeom prst="rect">
            <a:avLst/>
          </a:prstGeom>
          <a:noFill/>
          <a:ln/>
        </p:spPr>
        <p:txBody>
          <a:bodyPr wrap="square" lIns="0" tIns="0" rIns="0" bIns="0" rtlCol="0" anchor="ctr"/>
          <a:lstStyle/>
          <a:p>
            <a:pPr marL="0" indent="0" algn="ctr">
              <a:buNone/>
            </a:pPr>
            <a:r>
              <a:rPr lang="en-US" sz="1250" b="1" dirty="0">
                <a:solidFill>
                  <a:srgbClr val="2563EB"/>
                </a:solidFill>
              </a:rPr>
              <a:t>Mục tiêu cốt lõi: tạo ra hệ thống điểm danh minh bạch, nhanh hơn và có bằng chứng kiểm tra.</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1814048" y="0"/>
            <a:ext cx="374904" cy="6858000"/>
          </a:xfrm>
          <a:prstGeom prst="rect">
            <a:avLst/>
          </a:prstGeom>
          <a:solidFill>
            <a:srgbClr val="2563EB"/>
          </a:solidFill>
          <a:ln w="12700">
            <a:solidFill>
              <a:srgbClr val="2563EB"/>
            </a:solidFill>
            <a:prstDash val="solid"/>
          </a:ln>
        </p:spPr>
      </p:sp>
      <p:sp>
        <p:nvSpPr>
          <p:cNvPr id="3" name="Text 1"/>
          <p:cNvSpPr/>
          <p:nvPr/>
        </p:nvSpPr>
        <p:spPr>
          <a:xfrm>
            <a:off x="603504" y="347472"/>
            <a:ext cx="1463040" cy="228600"/>
          </a:xfrm>
          <a:prstGeom prst="rect">
            <a:avLst/>
          </a:prstGeom>
          <a:noFill/>
          <a:ln/>
        </p:spPr>
        <p:txBody>
          <a:bodyPr wrap="square" lIns="0" tIns="0" rIns="0" bIns="0" rtlCol="0" anchor="ctr"/>
          <a:lstStyle/>
          <a:p>
            <a:pPr marL="0" indent="0">
              <a:buNone/>
            </a:pPr>
            <a:r>
              <a:rPr lang="en-US" sz="1000" b="1" dirty="0">
                <a:solidFill>
                  <a:srgbClr val="2563EB"/>
                </a:solidFill>
              </a:rPr>
              <a:t>MTU FACE</a:t>
            </a:r>
            <a:endParaRPr lang="en-US" sz="1000" dirty="0"/>
          </a:p>
        </p:txBody>
      </p:sp>
      <p:sp>
        <p:nvSpPr>
          <p:cNvPr id="4" name="Text 2"/>
          <p:cNvSpPr/>
          <p:nvPr/>
        </p:nvSpPr>
        <p:spPr>
          <a:xfrm>
            <a:off x="603504" y="804672"/>
            <a:ext cx="10515600" cy="548640"/>
          </a:xfrm>
          <a:prstGeom prst="rect">
            <a:avLst/>
          </a:prstGeom>
          <a:noFill/>
          <a:ln/>
        </p:spPr>
        <p:txBody>
          <a:bodyPr wrap="square" lIns="0" tIns="0" rIns="0" bIns="0" rtlCol="0" anchor="ctr">
            <a:normAutofit/>
          </a:bodyPr>
          <a:lstStyle/>
          <a:p>
            <a:pPr marL="0" indent="0">
              <a:buNone/>
            </a:pPr>
            <a:r>
              <a:rPr lang="en-US" sz="2800" b="1" dirty="0">
                <a:solidFill>
                  <a:srgbClr val="0F172A"/>
                </a:solidFill>
              </a:rPr>
              <a:t>Các nghiên cứu liên quan tại Việt Nam</a:t>
            </a:r>
            <a:endParaRPr lang="en-US" sz="2800" dirty="0"/>
          </a:p>
        </p:txBody>
      </p:sp>
      <p:sp>
        <p:nvSpPr>
          <p:cNvPr id="5" name="Shape 3"/>
          <p:cNvSpPr/>
          <p:nvPr/>
        </p:nvSpPr>
        <p:spPr>
          <a:xfrm>
            <a:off x="530352" y="1417320"/>
            <a:ext cx="10881360" cy="0"/>
          </a:xfrm>
          <a:prstGeom prst="line">
            <a:avLst/>
          </a:prstGeom>
          <a:noFill/>
          <a:ln w="12700">
            <a:solidFill>
              <a:srgbClr val="CBD5E1"/>
            </a:solidFill>
            <a:prstDash val="solid"/>
          </a:ln>
        </p:spPr>
      </p:sp>
      <p:sp>
        <p:nvSpPr>
          <p:cNvPr id="6" name="Shape 4"/>
          <p:cNvSpPr/>
          <p:nvPr/>
        </p:nvSpPr>
        <p:spPr>
          <a:xfrm>
            <a:off x="530352" y="6492240"/>
            <a:ext cx="10881360" cy="0"/>
          </a:xfrm>
          <a:prstGeom prst="line">
            <a:avLst/>
          </a:prstGeom>
          <a:noFill/>
          <a:ln w="10160">
            <a:solidFill>
              <a:srgbClr val="CBD5E1"/>
            </a:solidFill>
            <a:prstDash val="solid"/>
          </a:ln>
        </p:spPr>
      </p:sp>
      <p:sp>
        <p:nvSpPr>
          <p:cNvPr id="7" name="Text 5"/>
          <p:cNvSpPr/>
          <p:nvPr/>
        </p:nvSpPr>
        <p:spPr>
          <a:xfrm>
            <a:off x="603504" y="6565392"/>
            <a:ext cx="4389120" cy="137160"/>
          </a:xfrm>
          <a:prstGeom prst="rect">
            <a:avLst/>
          </a:prstGeom>
          <a:noFill/>
          <a:ln/>
        </p:spPr>
        <p:txBody>
          <a:bodyPr wrap="square" lIns="0" tIns="0" rIns="0" bIns="0" rtlCol="0" anchor="ctr"/>
          <a:lstStyle/>
          <a:p>
            <a:pPr marL="0" indent="0">
              <a:buNone/>
            </a:pPr>
            <a:r>
              <a:rPr lang="en-US" sz="800" dirty="0">
                <a:solidFill>
                  <a:srgbClr val="6B7280"/>
                </a:solidFill>
              </a:rPr>
              <a:t>ĐỒ ÁN TỐT NGHIỆP • KỸ THUẬT PHẦN MỀM</a:t>
            </a:r>
            <a:endParaRPr lang="en-US" sz="800" dirty="0"/>
          </a:p>
        </p:txBody>
      </p:sp>
      <p:sp>
        <p:nvSpPr>
          <p:cNvPr id="8" name="Text 6"/>
          <p:cNvSpPr/>
          <p:nvPr/>
        </p:nvSpPr>
        <p:spPr>
          <a:xfrm>
            <a:off x="11109960" y="6547104"/>
            <a:ext cx="274320" cy="182880"/>
          </a:xfrm>
          <a:prstGeom prst="rect">
            <a:avLst/>
          </a:prstGeom>
          <a:noFill/>
          <a:ln/>
        </p:spPr>
        <p:txBody>
          <a:bodyPr wrap="square" lIns="0" tIns="0" rIns="0" bIns="0" rtlCol="0" anchor="ctr"/>
          <a:lstStyle/>
          <a:p>
            <a:pPr marL="0" indent="0" algn="r">
              <a:buNone/>
            </a:pPr>
            <a:r>
              <a:rPr lang="en-US" sz="900" dirty="0">
                <a:solidFill>
                  <a:srgbClr val="6B7280"/>
                </a:solidFill>
              </a:rPr>
              <a:t>04</a:t>
            </a:r>
            <a:endParaRPr lang="en-US" sz="900" dirty="0"/>
          </a:p>
        </p:txBody>
      </p:sp>
      <p:sp>
        <p:nvSpPr>
          <p:cNvPr id="9" name="Shape 7"/>
          <p:cNvSpPr/>
          <p:nvPr/>
        </p:nvSpPr>
        <p:spPr>
          <a:xfrm>
            <a:off x="640080" y="1737360"/>
            <a:ext cx="3474720" cy="2057400"/>
          </a:xfrm>
          <a:prstGeom prst="roundRect">
            <a:avLst>
              <a:gd name="adj" fmla="val 2667"/>
            </a:avLst>
          </a:prstGeom>
          <a:solidFill>
            <a:srgbClr val="FFFFFF"/>
          </a:solidFill>
          <a:ln w="12700">
            <a:solidFill>
              <a:srgbClr val="E2E8F0"/>
            </a:solidFill>
            <a:prstDash val="solid"/>
          </a:ln>
          <a:effectLst>
            <a:outerShdw blurRad="12700" dist="50800" dir="2700000" algn="bl" rotWithShape="0">
              <a:srgbClr val="94A3B8">
                <a:alpha val="15000"/>
              </a:srgbClr>
            </a:outerShdw>
          </a:effectLst>
        </p:spPr>
      </p:sp>
      <p:sp>
        <p:nvSpPr>
          <p:cNvPr id="10" name="Shape 8"/>
          <p:cNvSpPr/>
          <p:nvPr/>
        </p:nvSpPr>
        <p:spPr>
          <a:xfrm>
            <a:off x="640080" y="1737360"/>
            <a:ext cx="73152" cy="2057400"/>
          </a:xfrm>
          <a:prstGeom prst="rect">
            <a:avLst/>
          </a:prstGeom>
          <a:solidFill>
            <a:srgbClr val="2563EB"/>
          </a:solidFill>
          <a:ln w="12700">
            <a:solidFill>
              <a:srgbClr val="2563EB"/>
            </a:solidFill>
            <a:prstDash val="solid"/>
          </a:ln>
        </p:spPr>
      </p:sp>
      <p:sp>
        <p:nvSpPr>
          <p:cNvPr id="11" name="Text 9"/>
          <p:cNvSpPr/>
          <p:nvPr/>
        </p:nvSpPr>
        <p:spPr>
          <a:xfrm>
            <a:off x="850392" y="1901952"/>
            <a:ext cx="3154680" cy="256032"/>
          </a:xfrm>
          <a:prstGeom prst="rect">
            <a:avLst/>
          </a:prstGeom>
          <a:noFill/>
          <a:ln/>
        </p:spPr>
        <p:txBody>
          <a:bodyPr wrap="square" lIns="0" tIns="0" rIns="0" bIns="0" rtlCol="0" anchor="ctr"/>
          <a:lstStyle/>
          <a:p>
            <a:pPr marL="0" indent="0">
              <a:buNone/>
            </a:pPr>
            <a:r>
              <a:rPr lang="en-US" sz="1500" b="1" dirty="0">
                <a:solidFill>
                  <a:srgbClr val="2563EB"/>
                </a:solidFill>
              </a:rPr>
              <a:t>Đỗ T.K.D. và cộng sự (2024)</a:t>
            </a:r>
            <a:endParaRPr lang="en-US" sz="1500" dirty="0"/>
          </a:p>
        </p:txBody>
      </p:sp>
      <p:sp>
        <p:nvSpPr>
          <p:cNvPr id="12" name="Text 10"/>
          <p:cNvSpPr/>
          <p:nvPr/>
        </p:nvSpPr>
        <p:spPr>
          <a:xfrm>
            <a:off x="850392" y="2267712"/>
            <a:ext cx="3127248" cy="1399032"/>
          </a:xfrm>
          <a:prstGeom prst="rect">
            <a:avLst/>
          </a:prstGeom>
          <a:noFill/>
          <a:ln/>
        </p:spPr>
        <p:txBody>
          <a:bodyPr wrap="square" lIns="127" tIns="127" rIns="127" bIns="127" rtlCol="0" anchor="t">
            <a:normAutofit/>
          </a:bodyPr>
          <a:lstStyle/>
          <a:p>
            <a:pPr marL="0" indent="0">
              <a:buNone/>
            </a:pPr>
            <a:r>
              <a:rPr lang="en-US" sz="1220" dirty="0">
                <a:solidFill>
                  <a:srgbClr val="111827"/>
                </a:solidFill>
              </a:rPr>
              <a:t>Tối ưu hóa hệ thống điểm danh sinh viên sử dụng công nghệ nhận dạng khuôn mặt.</a:t>
            </a:r>
            <a:endParaRPr lang="en-US" sz="1220" dirty="0"/>
          </a:p>
          <a:p>
            <a:pPr marL="0" indent="0">
              <a:buNone/>
            </a:pPr>
            <a:endParaRPr lang="en-US" sz="1220" dirty="0"/>
          </a:p>
          <a:p>
            <a:pPr marL="0" indent="0">
              <a:buNone/>
            </a:pPr>
            <a:r>
              <a:rPr lang="en-US" sz="1220" dirty="0">
                <a:solidFill>
                  <a:srgbClr val="111827"/>
                </a:solidFill>
              </a:rPr>
              <a:t>Gợi ý kế thừa: ứng dụng nhận diện khuôn mặt vào bài toán điểm danh tự động.</a:t>
            </a:r>
            <a:endParaRPr lang="en-US" sz="1220" dirty="0"/>
          </a:p>
        </p:txBody>
      </p:sp>
      <p:sp>
        <p:nvSpPr>
          <p:cNvPr id="13" name="Shape 11"/>
          <p:cNvSpPr/>
          <p:nvPr/>
        </p:nvSpPr>
        <p:spPr>
          <a:xfrm>
            <a:off x="4343400" y="1737360"/>
            <a:ext cx="3474720" cy="2057400"/>
          </a:xfrm>
          <a:prstGeom prst="roundRect">
            <a:avLst>
              <a:gd name="adj" fmla="val 2667"/>
            </a:avLst>
          </a:prstGeom>
          <a:solidFill>
            <a:srgbClr val="FFFFFF"/>
          </a:solidFill>
          <a:ln w="12700">
            <a:solidFill>
              <a:srgbClr val="E2E8F0"/>
            </a:solidFill>
            <a:prstDash val="solid"/>
          </a:ln>
          <a:effectLst>
            <a:outerShdw blurRad="12700" dist="50800" dir="2700000" algn="bl" rotWithShape="0">
              <a:srgbClr val="94A3B8">
                <a:alpha val="15000"/>
              </a:srgbClr>
            </a:outerShdw>
          </a:effectLst>
        </p:spPr>
      </p:sp>
      <p:sp>
        <p:nvSpPr>
          <p:cNvPr id="14" name="Shape 12"/>
          <p:cNvSpPr/>
          <p:nvPr/>
        </p:nvSpPr>
        <p:spPr>
          <a:xfrm>
            <a:off x="4343400" y="1737360"/>
            <a:ext cx="73152" cy="2057400"/>
          </a:xfrm>
          <a:prstGeom prst="rect">
            <a:avLst/>
          </a:prstGeom>
          <a:solidFill>
            <a:srgbClr val="059669"/>
          </a:solidFill>
          <a:ln w="12700">
            <a:solidFill>
              <a:srgbClr val="059669"/>
            </a:solidFill>
            <a:prstDash val="solid"/>
          </a:ln>
        </p:spPr>
      </p:sp>
      <p:sp>
        <p:nvSpPr>
          <p:cNvPr id="15" name="Text 13"/>
          <p:cNvSpPr/>
          <p:nvPr/>
        </p:nvSpPr>
        <p:spPr>
          <a:xfrm>
            <a:off x="4553712" y="1901952"/>
            <a:ext cx="3154680" cy="256032"/>
          </a:xfrm>
          <a:prstGeom prst="rect">
            <a:avLst/>
          </a:prstGeom>
          <a:noFill/>
          <a:ln/>
        </p:spPr>
        <p:txBody>
          <a:bodyPr wrap="square" lIns="0" tIns="0" rIns="0" bIns="0" rtlCol="0" anchor="ctr"/>
          <a:lstStyle/>
          <a:p>
            <a:pPr marL="0" indent="0">
              <a:buNone/>
            </a:pPr>
            <a:r>
              <a:rPr lang="en-US" sz="1500" b="1" dirty="0">
                <a:solidFill>
                  <a:srgbClr val="059669"/>
                </a:solidFill>
              </a:rPr>
              <a:t>Thanh-Du và cộng sự (2022)</a:t>
            </a:r>
            <a:endParaRPr lang="en-US" sz="1500" dirty="0"/>
          </a:p>
        </p:txBody>
      </p:sp>
      <p:sp>
        <p:nvSpPr>
          <p:cNvPr id="16" name="Text 14"/>
          <p:cNvSpPr/>
          <p:nvPr/>
        </p:nvSpPr>
        <p:spPr>
          <a:xfrm>
            <a:off x="4553712" y="2267712"/>
            <a:ext cx="3127248" cy="1399032"/>
          </a:xfrm>
          <a:prstGeom prst="rect">
            <a:avLst/>
          </a:prstGeom>
          <a:noFill/>
          <a:ln/>
        </p:spPr>
        <p:txBody>
          <a:bodyPr wrap="square" lIns="127" tIns="127" rIns="127" bIns="127" rtlCol="0" anchor="t">
            <a:normAutofit/>
          </a:bodyPr>
          <a:lstStyle/>
          <a:p>
            <a:pPr marL="0" indent="0">
              <a:buNone/>
            </a:pPr>
            <a:r>
              <a:rPr lang="en-US" sz="1220" dirty="0">
                <a:solidFill>
                  <a:srgbClr val="111827"/>
                </a:solidFill>
              </a:rPr>
              <a:t>Attendance Checking System on Mobile Devices Using Transfer Learning.</a:t>
            </a:r>
            <a:endParaRPr lang="en-US" sz="1220" dirty="0"/>
          </a:p>
          <a:p>
            <a:pPr marL="0" indent="0">
              <a:buNone/>
            </a:pPr>
            <a:endParaRPr lang="en-US" sz="1220" dirty="0"/>
          </a:p>
          <a:p>
            <a:pPr marL="0" indent="0">
              <a:buNone/>
            </a:pPr>
            <a:r>
              <a:rPr lang="en-US" sz="1220" dirty="0">
                <a:solidFill>
                  <a:srgbClr val="111827"/>
                </a:solidFill>
              </a:rPr>
              <a:t>Gợi ý kế thừa: mở rộng bài toán điểm danh sang thiết bị di động và học chuyển giao.</a:t>
            </a:r>
            <a:endParaRPr lang="en-US" sz="1220" dirty="0"/>
          </a:p>
        </p:txBody>
      </p:sp>
      <p:sp>
        <p:nvSpPr>
          <p:cNvPr id="17" name="Shape 15"/>
          <p:cNvSpPr/>
          <p:nvPr/>
        </p:nvSpPr>
        <p:spPr>
          <a:xfrm>
            <a:off x="8046720" y="1737360"/>
            <a:ext cx="3474720" cy="2057400"/>
          </a:xfrm>
          <a:prstGeom prst="roundRect">
            <a:avLst>
              <a:gd name="adj" fmla="val 2667"/>
            </a:avLst>
          </a:prstGeom>
          <a:solidFill>
            <a:srgbClr val="FFFFFF"/>
          </a:solidFill>
          <a:ln w="12700">
            <a:solidFill>
              <a:srgbClr val="E2E8F0"/>
            </a:solidFill>
            <a:prstDash val="solid"/>
          </a:ln>
          <a:effectLst>
            <a:outerShdw blurRad="12700" dist="50800" dir="2700000" algn="bl" rotWithShape="0">
              <a:srgbClr val="94A3B8">
                <a:alpha val="15000"/>
              </a:srgbClr>
            </a:outerShdw>
          </a:effectLst>
        </p:spPr>
      </p:sp>
      <p:sp>
        <p:nvSpPr>
          <p:cNvPr id="18" name="Shape 16"/>
          <p:cNvSpPr/>
          <p:nvPr/>
        </p:nvSpPr>
        <p:spPr>
          <a:xfrm>
            <a:off x="8046720" y="1737360"/>
            <a:ext cx="73152" cy="2057400"/>
          </a:xfrm>
          <a:prstGeom prst="rect">
            <a:avLst/>
          </a:prstGeom>
          <a:solidFill>
            <a:srgbClr val="D97706"/>
          </a:solidFill>
          <a:ln w="12700">
            <a:solidFill>
              <a:srgbClr val="D97706"/>
            </a:solidFill>
            <a:prstDash val="solid"/>
          </a:ln>
        </p:spPr>
      </p:sp>
      <p:sp>
        <p:nvSpPr>
          <p:cNvPr id="19" name="Text 17"/>
          <p:cNvSpPr/>
          <p:nvPr/>
        </p:nvSpPr>
        <p:spPr>
          <a:xfrm>
            <a:off x="8257032" y="1901952"/>
            <a:ext cx="3154680" cy="256032"/>
          </a:xfrm>
          <a:prstGeom prst="rect">
            <a:avLst/>
          </a:prstGeom>
          <a:noFill/>
          <a:ln/>
        </p:spPr>
        <p:txBody>
          <a:bodyPr wrap="square" lIns="0" tIns="0" rIns="0" bIns="0" rtlCol="0" anchor="ctr"/>
          <a:lstStyle/>
          <a:p>
            <a:pPr marL="0" indent="0">
              <a:buNone/>
            </a:pPr>
            <a:r>
              <a:rPr lang="en-US" sz="1500" b="1" dirty="0">
                <a:solidFill>
                  <a:srgbClr val="D97706"/>
                </a:solidFill>
              </a:rPr>
              <a:t>L.N.T. &amp; N.T.T.P. (2024)</a:t>
            </a:r>
            <a:endParaRPr lang="en-US" sz="1500" dirty="0"/>
          </a:p>
        </p:txBody>
      </p:sp>
      <p:sp>
        <p:nvSpPr>
          <p:cNvPr id="20" name="Text 18"/>
          <p:cNvSpPr/>
          <p:nvPr/>
        </p:nvSpPr>
        <p:spPr>
          <a:xfrm>
            <a:off x="8257032" y="2267712"/>
            <a:ext cx="3127248" cy="1399032"/>
          </a:xfrm>
          <a:prstGeom prst="rect">
            <a:avLst/>
          </a:prstGeom>
          <a:noFill/>
          <a:ln/>
        </p:spPr>
        <p:txBody>
          <a:bodyPr wrap="square" lIns="127" tIns="127" rIns="127" bIns="127" rtlCol="0" anchor="t">
            <a:normAutofit/>
          </a:bodyPr>
          <a:lstStyle/>
          <a:p>
            <a:pPr marL="0" indent="0">
              <a:buNone/>
            </a:pPr>
            <a:r>
              <a:rPr lang="en-US" sz="1220" dirty="0">
                <a:solidFill>
                  <a:srgbClr val="111827"/>
                </a:solidFill>
              </a:rPr>
              <a:t>Sử dụng hệ thống quản lý điểm danh dựa trên nhận diện khuôn mặt ở trường học.</a:t>
            </a:r>
            <a:endParaRPr lang="en-US" sz="1220" dirty="0"/>
          </a:p>
          <a:p>
            <a:pPr marL="0" indent="0">
              <a:buNone/>
            </a:pPr>
            <a:endParaRPr lang="en-US" sz="1220" dirty="0"/>
          </a:p>
          <a:p>
            <a:pPr marL="0" indent="0">
              <a:buNone/>
            </a:pPr>
            <a:r>
              <a:rPr lang="en-US" sz="1220" dirty="0">
                <a:solidFill>
                  <a:srgbClr val="111827"/>
                </a:solidFill>
              </a:rPr>
              <a:t>Gợi ý kế thừa: tính khả thi của nhận diện khuôn mặt trong môi trường giáo dục.</a:t>
            </a:r>
            <a:endParaRPr lang="en-US" sz="1220" dirty="0"/>
          </a:p>
        </p:txBody>
      </p:sp>
      <p:sp>
        <p:nvSpPr>
          <p:cNvPr id="21" name="Text 19"/>
          <p:cNvSpPr/>
          <p:nvPr/>
        </p:nvSpPr>
        <p:spPr>
          <a:xfrm>
            <a:off x="713232" y="4343400"/>
            <a:ext cx="2286000" cy="256032"/>
          </a:xfrm>
          <a:prstGeom prst="rect">
            <a:avLst/>
          </a:prstGeom>
          <a:noFill/>
          <a:ln/>
        </p:spPr>
        <p:txBody>
          <a:bodyPr wrap="square" lIns="0" tIns="0" rIns="0" bIns="0" rtlCol="0" anchor="ctr"/>
          <a:lstStyle/>
          <a:p>
            <a:pPr marL="0" indent="0">
              <a:buNone/>
            </a:pPr>
            <a:r>
              <a:rPr lang="en-US" sz="1700" b="1" dirty="0">
                <a:solidFill>
                  <a:srgbClr val="0F172A"/>
                </a:solidFill>
              </a:rPr>
              <a:t>Nhận xét chung</a:t>
            </a:r>
            <a:endParaRPr lang="en-US" sz="1700" dirty="0"/>
          </a:p>
        </p:txBody>
      </p:sp>
      <p:sp>
        <p:nvSpPr>
          <p:cNvPr id="22" name="Text 20"/>
          <p:cNvSpPr/>
          <p:nvPr/>
        </p:nvSpPr>
        <p:spPr>
          <a:xfrm>
            <a:off x="868680" y="4709160"/>
            <a:ext cx="10241280" cy="1143000"/>
          </a:xfrm>
          <a:prstGeom prst="rect">
            <a:avLst/>
          </a:prstGeom>
          <a:noFill/>
          <a:ln/>
        </p:spPr>
        <p:txBody>
          <a:bodyPr wrap="square" lIns="254" tIns="254" rIns="254" bIns="254" rtlCol="0" anchor="ctr">
            <a:normAutofit/>
          </a:bodyPr>
          <a:lstStyle/>
          <a:p>
            <a:r>
              <a:rPr lang="en-US" sz="1450" dirty="0">
                <a:solidFill>
                  <a:srgbClr val="111827"/>
                </a:solidFill>
              </a:rPr>
              <a:t>Các nghiên cứu đã chứng minh nhận diện khuôn mặt có thể giảm thời gian điểm danh và hỗ trợ quản lý chuyên cần.</a:t>
            </a:r>
            <a:endParaRPr lang="en-US" sz="1450" dirty="0"/>
          </a:p>
          <a:p>
            <a:r>
              <a:rPr lang="en-US" sz="1450" dirty="0">
                <a:solidFill>
                  <a:srgbClr val="111827"/>
                </a:solidFill>
              </a:rPr>
              <a:t>Tuy nhiên nhiều giải pháp còn hạn chế về chống giả mạo, khả năng thay đổi lõi AI và quản lý nghiệp vụ tổng thể.</a:t>
            </a:r>
            <a:endParaRPr lang="en-US" sz="1450" dirty="0"/>
          </a:p>
          <a:p>
            <a:r>
              <a:rPr lang="en-US" sz="1450" dirty="0">
                <a:solidFill>
                  <a:srgbClr val="111827"/>
                </a:solidFill>
              </a:rPr>
              <a:t>Đây là bước đệm để đề tài MTUFace đề xuất hệ thống hoàn chỉnh hơn: nhận diện thời gian thực + liveness + quản lý tập trung.</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1814048" y="0"/>
            <a:ext cx="374904" cy="6858000"/>
          </a:xfrm>
          <a:prstGeom prst="rect">
            <a:avLst/>
          </a:prstGeom>
          <a:solidFill>
            <a:srgbClr val="2563EB"/>
          </a:solidFill>
          <a:ln w="12700">
            <a:solidFill>
              <a:srgbClr val="2563EB"/>
            </a:solidFill>
            <a:prstDash val="solid"/>
          </a:ln>
        </p:spPr>
      </p:sp>
      <p:sp>
        <p:nvSpPr>
          <p:cNvPr id="3" name="Text 1"/>
          <p:cNvSpPr/>
          <p:nvPr/>
        </p:nvSpPr>
        <p:spPr>
          <a:xfrm>
            <a:off x="603504" y="347472"/>
            <a:ext cx="1463040" cy="228600"/>
          </a:xfrm>
          <a:prstGeom prst="rect">
            <a:avLst/>
          </a:prstGeom>
          <a:noFill/>
          <a:ln/>
        </p:spPr>
        <p:txBody>
          <a:bodyPr wrap="square" lIns="0" tIns="0" rIns="0" bIns="0" rtlCol="0" anchor="ctr"/>
          <a:lstStyle/>
          <a:p>
            <a:pPr marL="0" indent="0">
              <a:buNone/>
            </a:pPr>
            <a:r>
              <a:rPr lang="en-US" sz="1000" b="1" dirty="0">
                <a:solidFill>
                  <a:srgbClr val="2563EB"/>
                </a:solidFill>
              </a:rPr>
              <a:t>MTU FACE</a:t>
            </a:r>
            <a:endParaRPr lang="en-US" sz="1000" dirty="0"/>
          </a:p>
        </p:txBody>
      </p:sp>
      <p:sp>
        <p:nvSpPr>
          <p:cNvPr id="4" name="Text 2"/>
          <p:cNvSpPr/>
          <p:nvPr/>
        </p:nvSpPr>
        <p:spPr>
          <a:xfrm>
            <a:off x="603504" y="804672"/>
            <a:ext cx="10515600" cy="548640"/>
          </a:xfrm>
          <a:prstGeom prst="rect">
            <a:avLst/>
          </a:prstGeom>
          <a:noFill/>
          <a:ln/>
        </p:spPr>
        <p:txBody>
          <a:bodyPr wrap="square" lIns="0" tIns="0" rIns="0" bIns="0" rtlCol="0" anchor="ctr">
            <a:normAutofit/>
          </a:bodyPr>
          <a:lstStyle/>
          <a:p>
            <a:pPr marL="0" indent="0">
              <a:buNone/>
            </a:pPr>
            <a:r>
              <a:rPr lang="en-US" sz="2800" b="1" dirty="0">
                <a:solidFill>
                  <a:srgbClr val="0F172A"/>
                </a:solidFill>
              </a:rPr>
              <a:t>Mục tiêu và phạm vi nghiên cứu</a:t>
            </a:r>
            <a:endParaRPr lang="en-US" sz="2800" dirty="0"/>
          </a:p>
        </p:txBody>
      </p:sp>
      <p:sp>
        <p:nvSpPr>
          <p:cNvPr id="5" name="Shape 3"/>
          <p:cNvSpPr/>
          <p:nvPr/>
        </p:nvSpPr>
        <p:spPr>
          <a:xfrm>
            <a:off x="530352" y="1417320"/>
            <a:ext cx="10881360" cy="0"/>
          </a:xfrm>
          <a:prstGeom prst="line">
            <a:avLst/>
          </a:prstGeom>
          <a:noFill/>
          <a:ln w="12700">
            <a:solidFill>
              <a:srgbClr val="CBD5E1"/>
            </a:solidFill>
            <a:prstDash val="solid"/>
          </a:ln>
        </p:spPr>
      </p:sp>
      <p:sp>
        <p:nvSpPr>
          <p:cNvPr id="6" name="Shape 4"/>
          <p:cNvSpPr/>
          <p:nvPr/>
        </p:nvSpPr>
        <p:spPr>
          <a:xfrm>
            <a:off x="530352" y="6492240"/>
            <a:ext cx="10881360" cy="0"/>
          </a:xfrm>
          <a:prstGeom prst="line">
            <a:avLst/>
          </a:prstGeom>
          <a:noFill/>
          <a:ln w="10160">
            <a:solidFill>
              <a:srgbClr val="CBD5E1"/>
            </a:solidFill>
            <a:prstDash val="solid"/>
          </a:ln>
        </p:spPr>
      </p:sp>
      <p:sp>
        <p:nvSpPr>
          <p:cNvPr id="7" name="Text 5"/>
          <p:cNvSpPr/>
          <p:nvPr/>
        </p:nvSpPr>
        <p:spPr>
          <a:xfrm>
            <a:off x="603504" y="6565392"/>
            <a:ext cx="4389120" cy="137160"/>
          </a:xfrm>
          <a:prstGeom prst="rect">
            <a:avLst/>
          </a:prstGeom>
          <a:noFill/>
          <a:ln/>
        </p:spPr>
        <p:txBody>
          <a:bodyPr wrap="square" lIns="0" tIns="0" rIns="0" bIns="0" rtlCol="0" anchor="ctr"/>
          <a:lstStyle/>
          <a:p>
            <a:pPr marL="0" indent="0">
              <a:buNone/>
            </a:pPr>
            <a:r>
              <a:rPr lang="en-US" sz="800" dirty="0">
                <a:solidFill>
                  <a:srgbClr val="6B7280"/>
                </a:solidFill>
              </a:rPr>
              <a:t>ĐỒ ÁN TỐT NGHIỆP • KỸ THUẬT PHẦN MỀM</a:t>
            </a:r>
            <a:endParaRPr lang="en-US" sz="800" dirty="0"/>
          </a:p>
        </p:txBody>
      </p:sp>
      <p:sp>
        <p:nvSpPr>
          <p:cNvPr id="8" name="Text 6"/>
          <p:cNvSpPr/>
          <p:nvPr/>
        </p:nvSpPr>
        <p:spPr>
          <a:xfrm>
            <a:off x="11109960" y="6547104"/>
            <a:ext cx="274320" cy="182880"/>
          </a:xfrm>
          <a:prstGeom prst="rect">
            <a:avLst/>
          </a:prstGeom>
          <a:noFill/>
          <a:ln/>
        </p:spPr>
        <p:txBody>
          <a:bodyPr wrap="square" lIns="0" tIns="0" rIns="0" bIns="0" rtlCol="0" anchor="ctr"/>
          <a:lstStyle/>
          <a:p>
            <a:pPr marL="0" indent="0" algn="r">
              <a:buNone/>
            </a:pPr>
            <a:r>
              <a:rPr lang="en-US" sz="900" dirty="0">
                <a:solidFill>
                  <a:srgbClr val="6B7280"/>
                </a:solidFill>
              </a:rPr>
              <a:t>05</a:t>
            </a:r>
            <a:endParaRPr lang="en-US" sz="900" dirty="0"/>
          </a:p>
        </p:txBody>
      </p:sp>
      <p:sp>
        <p:nvSpPr>
          <p:cNvPr id="9" name="Text 7"/>
          <p:cNvSpPr/>
          <p:nvPr/>
        </p:nvSpPr>
        <p:spPr>
          <a:xfrm>
            <a:off x="731520" y="1783080"/>
            <a:ext cx="2011680" cy="274320"/>
          </a:xfrm>
          <a:prstGeom prst="rect">
            <a:avLst/>
          </a:prstGeom>
          <a:noFill/>
          <a:ln/>
        </p:spPr>
        <p:txBody>
          <a:bodyPr wrap="square" lIns="0" tIns="0" rIns="0" bIns="0" rtlCol="0" anchor="ctr"/>
          <a:lstStyle/>
          <a:p>
            <a:pPr marL="0" indent="0">
              <a:buNone/>
            </a:pPr>
            <a:r>
              <a:rPr lang="en-US" sz="1900" b="1" dirty="0">
                <a:solidFill>
                  <a:srgbClr val="2563EB"/>
                </a:solidFill>
              </a:rPr>
              <a:t>Mục tiêu</a:t>
            </a:r>
            <a:endParaRPr lang="en-US" sz="1900" dirty="0"/>
          </a:p>
        </p:txBody>
      </p:sp>
      <p:sp>
        <p:nvSpPr>
          <p:cNvPr id="10" name="Text 8"/>
          <p:cNvSpPr/>
          <p:nvPr/>
        </p:nvSpPr>
        <p:spPr>
          <a:xfrm>
            <a:off x="868680" y="2221992"/>
            <a:ext cx="5120640" cy="1874520"/>
          </a:xfrm>
          <a:prstGeom prst="rect">
            <a:avLst/>
          </a:prstGeom>
          <a:noFill/>
          <a:ln/>
        </p:spPr>
        <p:txBody>
          <a:bodyPr wrap="square" lIns="254" tIns="254" rIns="254" bIns="254" rtlCol="0" anchor="ctr">
            <a:normAutofit/>
          </a:bodyPr>
          <a:lstStyle/>
          <a:p>
            <a:r>
              <a:rPr lang="en-US" sz="1550" dirty="0">
                <a:solidFill>
                  <a:srgbClr val="111827"/>
                </a:solidFill>
              </a:rPr>
              <a:t>Xây dựng hệ thống điểm danh tự động bằng nhận diện khuôn mặt thời gian thực.</a:t>
            </a:r>
            <a:endParaRPr lang="en-US" sz="1550" dirty="0"/>
          </a:p>
          <a:p>
            <a:r>
              <a:rPr lang="en-US" sz="1550" dirty="0">
                <a:solidFill>
                  <a:srgbClr val="111827"/>
                </a:solidFill>
              </a:rPr>
              <a:t>Hỗ trợ Web Admin và giao diện Camera/Kiosk tại lớp học.</a:t>
            </a:r>
            <a:endParaRPr lang="en-US" sz="1550" dirty="0"/>
          </a:p>
          <a:p>
            <a:r>
              <a:rPr lang="en-US" sz="1550" dirty="0">
                <a:solidFill>
                  <a:srgbClr val="111827"/>
                </a:solidFill>
              </a:rPr>
              <a:t>Tích hợp chống giả mạo/liveness và kiểm tra điều kiện phiên điểm danh.</a:t>
            </a:r>
            <a:endParaRPr lang="en-US" sz="1550" dirty="0"/>
          </a:p>
          <a:p>
            <a:r>
              <a:rPr lang="en-US" sz="1550" dirty="0">
                <a:solidFill>
                  <a:srgbClr val="111827"/>
                </a:solidFill>
              </a:rPr>
              <a:t>Quản lý sinh viên, lớp học, lịch sử điểm danh, thống kê và xuất báo cáo.</a:t>
            </a:r>
            <a:endParaRPr lang="en-US" sz="1550" dirty="0"/>
          </a:p>
        </p:txBody>
      </p:sp>
      <p:sp>
        <p:nvSpPr>
          <p:cNvPr id="11" name="Text 9"/>
          <p:cNvSpPr/>
          <p:nvPr/>
        </p:nvSpPr>
        <p:spPr>
          <a:xfrm>
            <a:off x="6446520" y="1783080"/>
            <a:ext cx="2011680" cy="274320"/>
          </a:xfrm>
          <a:prstGeom prst="rect">
            <a:avLst/>
          </a:prstGeom>
          <a:noFill/>
          <a:ln/>
        </p:spPr>
        <p:txBody>
          <a:bodyPr wrap="square" lIns="0" tIns="0" rIns="0" bIns="0" rtlCol="0" anchor="ctr"/>
          <a:lstStyle/>
          <a:p>
            <a:pPr marL="0" indent="0">
              <a:buNone/>
            </a:pPr>
            <a:r>
              <a:rPr lang="en-US" sz="1900" b="1" dirty="0">
                <a:solidFill>
                  <a:srgbClr val="2563EB"/>
                </a:solidFill>
              </a:rPr>
              <a:t>Phạm vi</a:t>
            </a:r>
            <a:endParaRPr lang="en-US" sz="1900" dirty="0"/>
          </a:p>
        </p:txBody>
      </p:sp>
      <p:sp>
        <p:nvSpPr>
          <p:cNvPr id="12" name="Text 10"/>
          <p:cNvSpPr/>
          <p:nvPr/>
        </p:nvSpPr>
        <p:spPr>
          <a:xfrm>
            <a:off x="6583680" y="2221992"/>
            <a:ext cx="4846320" cy="1874520"/>
          </a:xfrm>
          <a:prstGeom prst="rect">
            <a:avLst/>
          </a:prstGeom>
          <a:noFill/>
          <a:ln/>
        </p:spPr>
        <p:txBody>
          <a:bodyPr wrap="square" lIns="254" tIns="254" rIns="254" bIns="254" rtlCol="0" anchor="ctr">
            <a:normAutofit lnSpcReduction="10000"/>
          </a:bodyPr>
          <a:lstStyle/>
          <a:p>
            <a:r>
              <a:rPr lang="en-US" sz="1550" dirty="0">
                <a:solidFill>
                  <a:srgbClr val="111827"/>
                </a:solidFill>
              </a:rPr>
              <a:t>Ba nhóm người dùng: quản trị viên, giảng viên và sinh viên.</a:t>
            </a:r>
            <a:endParaRPr lang="en-US" sz="1550" dirty="0"/>
          </a:p>
          <a:p>
            <a:r>
              <a:rPr lang="en-US" sz="1550" dirty="0">
                <a:solidFill>
                  <a:srgbClr val="111827"/>
                </a:solidFill>
              </a:rPr>
              <a:t>Môi trường triển khai thử nghiệm: trường đại học, phòng học/kiosk.</a:t>
            </a:r>
            <a:endParaRPr lang="en-US" sz="1550" dirty="0"/>
          </a:p>
          <a:p>
            <a:r>
              <a:rPr lang="en-US" sz="1550" dirty="0">
                <a:solidFill>
                  <a:srgbClr val="111827"/>
                </a:solidFill>
              </a:rPr>
              <a:t>Lõi AI: InsightFace mặc định; YOLO11 + ResNet50 phục vụ thử nghiệm.</a:t>
            </a:r>
            <a:endParaRPr lang="en-US" sz="1550" dirty="0"/>
          </a:p>
          <a:p>
            <a:r>
              <a:rPr lang="en-US" sz="1550" dirty="0">
                <a:solidFill>
                  <a:srgbClr val="111827"/>
                </a:solidFill>
              </a:rPr>
              <a:t>Tập trung vào check-in và đánh giá nhận diện thời gian thực.</a:t>
            </a:r>
            <a:endParaRPr lang="en-US" sz="1550" dirty="0"/>
          </a:p>
        </p:txBody>
      </p:sp>
      <p:sp>
        <p:nvSpPr>
          <p:cNvPr id="13" name="Shape 11"/>
          <p:cNvSpPr/>
          <p:nvPr/>
        </p:nvSpPr>
        <p:spPr>
          <a:xfrm>
            <a:off x="731520" y="4937760"/>
            <a:ext cx="10607040" cy="640080"/>
          </a:xfrm>
          <a:prstGeom prst="roundRect">
            <a:avLst>
              <a:gd name="adj" fmla="val 7143"/>
            </a:avLst>
          </a:prstGeom>
          <a:solidFill>
            <a:srgbClr val="FFFFFF"/>
          </a:solidFill>
          <a:ln w="12700">
            <a:solidFill>
              <a:srgbClr val="E2E8F0"/>
            </a:solidFill>
            <a:prstDash val="solid"/>
          </a:ln>
        </p:spPr>
      </p:sp>
      <p:sp>
        <p:nvSpPr>
          <p:cNvPr id="14" name="Text 12"/>
          <p:cNvSpPr/>
          <p:nvPr/>
        </p:nvSpPr>
        <p:spPr>
          <a:xfrm>
            <a:off x="960120" y="5138928"/>
            <a:ext cx="10149840" cy="228600"/>
          </a:xfrm>
          <a:prstGeom prst="rect">
            <a:avLst/>
          </a:prstGeom>
          <a:noFill/>
          <a:ln/>
        </p:spPr>
        <p:txBody>
          <a:bodyPr wrap="square" lIns="0" tIns="0" rIns="0" bIns="0" rtlCol="0" anchor="ctr"/>
          <a:lstStyle/>
          <a:p>
            <a:pPr marL="0" indent="0" algn="ctr">
              <a:buNone/>
            </a:pPr>
            <a:r>
              <a:rPr lang="en-US" sz="1500" b="1" dirty="0">
                <a:solidFill>
                  <a:srgbClr val="0F172A"/>
                </a:solidFill>
              </a:rPr>
              <a:t>Thông điệp chính: hệ thống không chỉ “nhận diện khuôn mặt”, mà còn kiểm tra điều kiện nghiệp vụ trước khi ghi nhận điểm danh.</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1814048" y="0"/>
            <a:ext cx="374904" cy="6858000"/>
          </a:xfrm>
          <a:prstGeom prst="rect">
            <a:avLst/>
          </a:prstGeom>
          <a:solidFill>
            <a:srgbClr val="2563EB"/>
          </a:solidFill>
          <a:ln w="12700">
            <a:solidFill>
              <a:srgbClr val="2563EB"/>
            </a:solidFill>
            <a:prstDash val="solid"/>
          </a:ln>
        </p:spPr>
      </p:sp>
      <p:sp>
        <p:nvSpPr>
          <p:cNvPr id="3" name="Text 1"/>
          <p:cNvSpPr/>
          <p:nvPr/>
        </p:nvSpPr>
        <p:spPr>
          <a:xfrm>
            <a:off x="603504" y="347472"/>
            <a:ext cx="1463040" cy="228600"/>
          </a:xfrm>
          <a:prstGeom prst="rect">
            <a:avLst/>
          </a:prstGeom>
          <a:noFill/>
          <a:ln/>
        </p:spPr>
        <p:txBody>
          <a:bodyPr wrap="square" lIns="0" tIns="0" rIns="0" bIns="0" rtlCol="0" anchor="ctr"/>
          <a:lstStyle/>
          <a:p>
            <a:pPr marL="0" indent="0">
              <a:buNone/>
            </a:pPr>
            <a:r>
              <a:rPr lang="en-US" sz="1000" b="1" dirty="0">
                <a:solidFill>
                  <a:srgbClr val="2563EB"/>
                </a:solidFill>
              </a:rPr>
              <a:t>MTU FACE</a:t>
            </a:r>
            <a:endParaRPr lang="en-US" sz="1000" dirty="0"/>
          </a:p>
        </p:txBody>
      </p:sp>
      <p:sp>
        <p:nvSpPr>
          <p:cNvPr id="4" name="Text 2"/>
          <p:cNvSpPr/>
          <p:nvPr/>
        </p:nvSpPr>
        <p:spPr>
          <a:xfrm>
            <a:off x="603504" y="804672"/>
            <a:ext cx="10515600" cy="548640"/>
          </a:xfrm>
          <a:prstGeom prst="rect">
            <a:avLst/>
          </a:prstGeom>
          <a:noFill/>
          <a:ln/>
        </p:spPr>
        <p:txBody>
          <a:bodyPr wrap="square" lIns="0" tIns="0" rIns="0" bIns="0" rtlCol="0" anchor="ctr">
            <a:normAutofit/>
          </a:bodyPr>
          <a:lstStyle/>
          <a:p>
            <a:pPr marL="0" indent="0">
              <a:buNone/>
            </a:pPr>
            <a:r>
              <a:rPr lang="en-US" sz="2800" b="1" dirty="0">
                <a:solidFill>
                  <a:srgbClr val="0F172A"/>
                </a:solidFill>
              </a:rPr>
              <a:t>Tổng quan kiến trúc hệ thống</a:t>
            </a:r>
            <a:endParaRPr lang="en-US" sz="2800" dirty="0"/>
          </a:p>
        </p:txBody>
      </p:sp>
      <p:sp>
        <p:nvSpPr>
          <p:cNvPr id="5" name="Shape 3"/>
          <p:cNvSpPr/>
          <p:nvPr/>
        </p:nvSpPr>
        <p:spPr>
          <a:xfrm>
            <a:off x="530352" y="1417320"/>
            <a:ext cx="10881360" cy="0"/>
          </a:xfrm>
          <a:prstGeom prst="line">
            <a:avLst/>
          </a:prstGeom>
          <a:noFill/>
          <a:ln w="12700">
            <a:solidFill>
              <a:srgbClr val="CBD5E1"/>
            </a:solidFill>
            <a:prstDash val="solid"/>
          </a:ln>
        </p:spPr>
      </p:sp>
      <p:sp>
        <p:nvSpPr>
          <p:cNvPr id="6" name="Shape 4"/>
          <p:cNvSpPr/>
          <p:nvPr/>
        </p:nvSpPr>
        <p:spPr>
          <a:xfrm>
            <a:off x="530352" y="6492240"/>
            <a:ext cx="10881360" cy="0"/>
          </a:xfrm>
          <a:prstGeom prst="line">
            <a:avLst/>
          </a:prstGeom>
          <a:noFill/>
          <a:ln w="10160">
            <a:solidFill>
              <a:srgbClr val="CBD5E1"/>
            </a:solidFill>
            <a:prstDash val="solid"/>
          </a:ln>
        </p:spPr>
      </p:sp>
      <p:sp>
        <p:nvSpPr>
          <p:cNvPr id="7" name="Text 5"/>
          <p:cNvSpPr/>
          <p:nvPr/>
        </p:nvSpPr>
        <p:spPr>
          <a:xfrm>
            <a:off x="603504" y="6565392"/>
            <a:ext cx="4389120" cy="137160"/>
          </a:xfrm>
          <a:prstGeom prst="rect">
            <a:avLst/>
          </a:prstGeom>
          <a:noFill/>
          <a:ln/>
        </p:spPr>
        <p:txBody>
          <a:bodyPr wrap="square" lIns="0" tIns="0" rIns="0" bIns="0" rtlCol="0" anchor="ctr"/>
          <a:lstStyle/>
          <a:p>
            <a:pPr marL="0" indent="0">
              <a:buNone/>
            </a:pPr>
            <a:r>
              <a:rPr lang="en-US" sz="800" dirty="0">
                <a:solidFill>
                  <a:srgbClr val="6B7280"/>
                </a:solidFill>
              </a:rPr>
              <a:t>ĐỒ ÁN TỐT NGHIỆP • KỸ THUẬT PHẦN MỀM</a:t>
            </a:r>
            <a:endParaRPr lang="en-US" sz="800" dirty="0"/>
          </a:p>
        </p:txBody>
      </p:sp>
      <p:sp>
        <p:nvSpPr>
          <p:cNvPr id="8" name="Text 6"/>
          <p:cNvSpPr/>
          <p:nvPr/>
        </p:nvSpPr>
        <p:spPr>
          <a:xfrm>
            <a:off x="11109960" y="6547104"/>
            <a:ext cx="274320" cy="182880"/>
          </a:xfrm>
          <a:prstGeom prst="rect">
            <a:avLst/>
          </a:prstGeom>
          <a:noFill/>
          <a:ln/>
        </p:spPr>
        <p:txBody>
          <a:bodyPr wrap="square" lIns="0" tIns="0" rIns="0" bIns="0" rtlCol="0" anchor="ctr"/>
          <a:lstStyle/>
          <a:p>
            <a:pPr marL="0" indent="0" algn="r">
              <a:buNone/>
            </a:pPr>
            <a:r>
              <a:rPr lang="en-US" sz="900" dirty="0">
                <a:solidFill>
                  <a:srgbClr val="6B7280"/>
                </a:solidFill>
              </a:rPr>
              <a:t>06</a:t>
            </a:r>
            <a:endParaRPr lang="en-US" sz="900" dirty="0"/>
          </a:p>
        </p:txBody>
      </p:sp>
      <p:pic>
        <p:nvPicPr>
          <p:cNvPr id="9" name="Image 0" descr="/mnt/data/unz/ppt/media/image2.png"/>
          <p:cNvPicPr>
            <a:picLocks noChangeAspect="1"/>
          </p:cNvPicPr>
          <p:nvPr/>
        </p:nvPicPr>
        <p:blipFill>
          <a:blip r:embed="rId3"/>
          <a:stretch>
            <a:fillRect/>
          </a:stretch>
        </p:blipFill>
        <p:spPr>
          <a:xfrm>
            <a:off x="640080" y="1755926"/>
            <a:ext cx="7635240" cy="4260548"/>
          </a:xfrm>
          <a:prstGeom prst="rect">
            <a:avLst/>
          </a:prstGeom>
        </p:spPr>
      </p:pic>
      <p:sp>
        <p:nvSpPr>
          <p:cNvPr id="10" name="Text 7"/>
          <p:cNvSpPr/>
          <p:nvPr/>
        </p:nvSpPr>
        <p:spPr>
          <a:xfrm>
            <a:off x="8458200" y="1783080"/>
            <a:ext cx="2286000" cy="256032"/>
          </a:xfrm>
          <a:prstGeom prst="rect">
            <a:avLst/>
          </a:prstGeom>
          <a:noFill/>
          <a:ln/>
        </p:spPr>
        <p:txBody>
          <a:bodyPr wrap="square" lIns="0" tIns="0" rIns="0" bIns="0" rtlCol="0" anchor="ctr"/>
          <a:lstStyle/>
          <a:p>
            <a:pPr marL="0" indent="0">
              <a:buNone/>
            </a:pPr>
            <a:r>
              <a:rPr lang="en-US" sz="1800" b="1" dirty="0">
                <a:solidFill>
                  <a:srgbClr val="2563EB"/>
                </a:solidFill>
              </a:rPr>
              <a:t>Các tầng chính</a:t>
            </a:r>
            <a:endParaRPr lang="en-US" sz="1800" dirty="0"/>
          </a:p>
        </p:txBody>
      </p:sp>
      <p:sp>
        <p:nvSpPr>
          <p:cNvPr id="11" name="Text 8"/>
          <p:cNvSpPr/>
          <p:nvPr/>
        </p:nvSpPr>
        <p:spPr>
          <a:xfrm>
            <a:off x="8549640" y="2240280"/>
            <a:ext cx="2788920" cy="2468880"/>
          </a:xfrm>
          <a:prstGeom prst="rect">
            <a:avLst/>
          </a:prstGeom>
          <a:noFill/>
          <a:ln/>
        </p:spPr>
        <p:txBody>
          <a:bodyPr wrap="square" lIns="254" tIns="254" rIns="254" bIns="254" rtlCol="0" anchor="ctr">
            <a:normAutofit/>
          </a:bodyPr>
          <a:lstStyle/>
          <a:p>
            <a:r>
              <a:rPr lang="en-US" sz="1330" dirty="0">
                <a:solidFill>
                  <a:srgbClr val="111827"/>
                </a:solidFill>
              </a:rPr>
              <a:t>Tầng giao diện: Web Admin/Kiosk và Mobile.</a:t>
            </a:r>
            <a:endParaRPr lang="en-US" sz="1330" dirty="0"/>
          </a:p>
          <a:p>
            <a:r>
              <a:rPr lang="en-US" sz="1330" dirty="0">
                <a:solidFill>
                  <a:srgbClr val="111827"/>
                </a:solidFill>
              </a:rPr>
              <a:t>Backend Flask MVC xử lý nghiệp vụ và API.</a:t>
            </a:r>
            <a:endParaRPr lang="en-US" sz="1330" dirty="0"/>
          </a:p>
          <a:p>
            <a:r>
              <a:rPr lang="en-US" sz="1330" dirty="0">
                <a:solidFill>
                  <a:srgbClr val="111827"/>
                </a:solidFill>
              </a:rPr>
              <a:t>AI Core: nhận diện khuôn mặt, chống giả mạo và RAG Chatbot.</a:t>
            </a:r>
            <a:endParaRPr lang="en-US" sz="1330" dirty="0"/>
          </a:p>
          <a:p>
            <a:r>
              <a:rPr lang="en-US" sz="1330" dirty="0">
                <a:solidFill>
                  <a:srgbClr val="111827"/>
                </a:solidFill>
              </a:rPr>
              <a:t>SQL Server lưu dữ liệu nghiệp vụ, phiên, điểm danh và cảnh báo.</a:t>
            </a:r>
            <a:endParaRPr lang="en-US" sz="1330" dirty="0"/>
          </a:p>
          <a:p>
            <a:r>
              <a:rPr lang="en-US" sz="1330" dirty="0">
                <a:solidFill>
                  <a:srgbClr val="111827"/>
                </a:solidFill>
              </a:rPr>
              <a:t>Socket.IO cập nhật kết quả theo thời gian thực.</a:t>
            </a:r>
            <a:endParaRPr lang="en-US" sz="1330" dirty="0"/>
          </a:p>
        </p:txBody>
      </p:sp>
      <p:sp>
        <p:nvSpPr>
          <p:cNvPr id="12" name="Shape 9"/>
          <p:cNvSpPr/>
          <p:nvPr/>
        </p:nvSpPr>
        <p:spPr>
          <a:xfrm>
            <a:off x="8503920" y="5074920"/>
            <a:ext cx="1371600" cy="411480"/>
          </a:xfrm>
          <a:prstGeom prst="roundRect">
            <a:avLst>
              <a:gd name="adj" fmla="val 13333"/>
            </a:avLst>
          </a:prstGeom>
          <a:solidFill>
            <a:srgbClr val="2563EB"/>
          </a:solidFill>
          <a:ln w="12700">
            <a:solidFill>
              <a:srgbClr val="2563EB"/>
            </a:solidFill>
            <a:prstDash val="solid"/>
          </a:ln>
        </p:spPr>
      </p:sp>
      <p:sp>
        <p:nvSpPr>
          <p:cNvPr id="13" name="Text 10"/>
          <p:cNvSpPr/>
          <p:nvPr/>
        </p:nvSpPr>
        <p:spPr>
          <a:xfrm>
            <a:off x="8558784" y="5129784"/>
            <a:ext cx="1261872" cy="320040"/>
          </a:xfrm>
          <a:prstGeom prst="rect">
            <a:avLst/>
          </a:prstGeom>
          <a:noFill/>
          <a:ln/>
        </p:spPr>
        <p:txBody>
          <a:bodyPr wrap="square" lIns="0" tIns="0" rIns="0" bIns="0" rtlCol="0" anchor="ctr"/>
          <a:lstStyle/>
          <a:p>
            <a:pPr marL="0" indent="0" algn="ctr">
              <a:buNone/>
            </a:pPr>
            <a:r>
              <a:rPr lang="en-US" sz="1100" b="1" dirty="0">
                <a:solidFill>
                  <a:srgbClr val="FFFFFF"/>
                </a:solidFill>
              </a:rPr>
              <a:t>Client–Server</a:t>
            </a:r>
            <a:endParaRPr lang="en-US" sz="1100" dirty="0"/>
          </a:p>
        </p:txBody>
      </p:sp>
      <p:sp>
        <p:nvSpPr>
          <p:cNvPr id="14" name="Shape 11"/>
          <p:cNvSpPr/>
          <p:nvPr/>
        </p:nvSpPr>
        <p:spPr>
          <a:xfrm>
            <a:off x="10058400" y="5074920"/>
            <a:ext cx="1051560" cy="411480"/>
          </a:xfrm>
          <a:prstGeom prst="roundRect">
            <a:avLst>
              <a:gd name="adj" fmla="val 13333"/>
            </a:avLst>
          </a:prstGeom>
          <a:solidFill>
            <a:srgbClr val="059669"/>
          </a:solidFill>
          <a:ln w="12700">
            <a:solidFill>
              <a:srgbClr val="059669"/>
            </a:solidFill>
            <a:prstDash val="solid"/>
          </a:ln>
        </p:spPr>
      </p:sp>
      <p:sp>
        <p:nvSpPr>
          <p:cNvPr id="15" name="Text 12"/>
          <p:cNvSpPr/>
          <p:nvPr/>
        </p:nvSpPr>
        <p:spPr>
          <a:xfrm>
            <a:off x="10113264" y="5129784"/>
            <a:ext cx="941832" cy="320040"/>
          </a:xfrm>
          <a:prstGeom prst="rect">
            <a:avLst/>
          </a:prstGeom>
          <a:noFill/>
          <a:ln/>
        </p:spPr>
        <p:txBody>
          <a:bodyPr wrap="square" lIns="0" tIns="0" rIns="0" bIns="0" rtlCol="0" anchor="ctr"/>
          <a:lstStyle/>
          <a:p>
            <a:pPr marL="0" indent="0" algn="ctr">
              <a:buNone/>
            </a:pPr>
            <a:r>
              <a:rPr lang="en-US" sz="1100" b="1" dirty="0">
                <a:solidFill>
                  <a:srgbClr val="FFFFFF"/>
                </a:solidFill>
              </a:rPr>
              <a:t>Realtime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1814048" y="0"/>
            <a:ext cx="374904" cy="6858000"/>
          </a:xfrm>
          <a:prstGeom prst="rect">
            <a:avLst/>
          </a:prstGeom>
          <a:solidFill>
            <a:srgbClr val="2563EB"/>
          </a:solidFill>
          <a:ln w="12700">
            <a:solidFill>
              <a:srgbClr val="2563EB"/>
            </a:solidFill>
            <a:prstDash val="solid"/>
          </a:ln>
        </p:spPr>
      </p:sp>
      <p:sp>
        <p:nvSpPr>
          <p:cNvPr id="3" name="Text 1"/>
          <p:cNvSpPr/>
          <p:nvPr/>
        </p:nvSpPr>
        <p:spPr>
          <a:xfrm>
            <a:off x="603504" y="347472"/>
            <a:ext cx="1463040" cy="228600"/>
          </a:xfrm>
          <a:prstGeom prst="rect">
            <a:avLst/>
          </a:prstGeom>
          <a:noFill/>
          <a:ln/>
        </p:spPr>
        <p:txBody>
          <a:bodyPr wrap="square" lIns="0" tIns="0" rIns="0" bIns="0" rtlCol="0" anchor="ctr"/>
          <a:lstStyle/>
          <a:p>
            <a:pPr marL="0" indent="0">
              <a:buNone/>
            </a:pPr>
            <a:r>
              <a:rPr lang="en-US" sz="1000" b="1" dirty="0">
                <a:solidFill>
                  <a:srgbClr val="2563EB"/>
                </a:solidFill>
              </a:rPr>
              <a:t>MTU FACE</a:t>
            </a:r>
            <a:endParaRPr lang="en-US" sz="1000" dirty="0"/>
          </a:p>
        </p:txBody>
      </p:sp>
      <p:sp>
        <p:nvSpPr>
          <p:cNvPr id="4" name="Text 2"/>
          <p:cNvSpPr/>
          <p:nvPr/>
        </p:nvSpPr>
        <p:spPr>
          <a:xfrm>
            <a:off x="603504" y="804672"/>
            <a:ext cx="10515600" cy="548640"/>
          </a:xfrm>
          <a:prstGeom prst="rect">
            <a:avLst/>
          </a:prstGeom>
          <a:noFill/>
          <a:ln/>
        </p:spPr>
        <p:txBody>
          <a:bodyPr wrap="square" lIns="0" tIns="0" rIns="0" bIns="0" rtlCol="0" anchor="ctr">
            <a:normAutofit/>
          </a:bodyPr>
          <a:lstStyle/>
          <a:p>
            <a:pPr marL="0" indent="0">
              <a:buNone/>
            </a:pPr>
            <a:r>
              <a:rPr lang="en-US" sz="2800" b="1" dirty="0">
                <a:solidFill>
                  <a:srgbClr val="0F172A"/>
                </a:solidFill>
              </a:rPr>
              <a:t>Phương pháp đề xuất: quy trình ra quyết định điểm danh</a:t>
            </a:r>
            <a:endParaRPr lang="en-US" sz="2800" dirty="0"/>
          </a:p>
        </p:txBody>
      </p:sp>
      <p:sp>
        <p:nvSpPr>
          <p:cNvPr id="5" name="Shape 3"/>
          <p:cNvSpPr/>
          <p:nvPr/>
        </p:nvSpPr>
        <p:spPr>
          <a:xfrm>
            <a:off x="530352" y="1417320"/>
            <a:ext cx="10881360" cy="0"/>
          </a:xfrm>
          <a:prstGeom prst="line">
            <a:avLst/>
          </a:prstGeom>
          <a:noFill/>
          <a:ln w="12700">
            <a:solidFill>
              <a:srgbClr val="CBD5E1"/>
            </a:solidFill>
            <a:prstDash val="solid"/>
          </a:ln>
        </p:spPr>
      </p:sp>
      <p:sp>
        <p:nvSpPr>
          <p:cNvPr id="6" name="Shape 4"/>
          <p:cNvSpPr/>
          <p:nvPr/>
        </p:nvSpPr>
        <p:spPr>
          <a:xfrm>
            <a:off x="530352" y="6492240"/>
            <a:ext cx="10881360" cy="0"/>
          </a:xfrm>
          <a:prstGeom prst="line">
            <a:avLst/>
          </a:prstGeom>
          <a:noFill/>
          <a:ln w="10160">
            <a:solidFill>
              <a:srgbClr val="CBD5E1"/>
            </a:solidFill>
            <a:prstDash val="solid"/>
          </a:ln>
        </p:spPr>
      </p:sp>
      <p:sp>
        <p:nvSpPr>
          <p:cNvPr id="7" name="Text 5"/>
          <p:cNvSpPr/>
          <p:nvPr/>
        </p:nvSpPr>
        <p:spPr>
          <a:xfrm>
            <a:off x="603504" y="6565392"/>
            <a:ext cx="4389120" cy="137160"/>
          </a:xfrm>
          <a:prstGeom prst="rect">
            <a:avLst/>
          </a:prstGeom>
          <a:noFill/>
          <a:ln/>
        </p:spPr>
        <p:txBody>
          <a:bodyPr wrap="square" lIns="0" tIns="0" rIns="0" bIns="0" rtlCol="0" anchor="ctr"/>
          <a:lstStyle/>
          <a:p>
            <a:pPr marL="0" indent="0">
              <a:buNone/>
            </a:pPr>
            <a:r>
              <a:rPr lang="en-US" sz="800" dirty="0">
                <a:solidFill>
                  <a:srgbClr val="6B7280"/>
                </a:solidFill>
              </a:rPr>
              <a:t>ĐỒ ÁN TỐT NGHIỆP • KỸ THUẬT PHẦN MỀM</a:t>
            </a:r>
            <a:endParaRPr lang="en-US" sz="800" dirty="0"/>
          </a:p>
        </p:txBody>
      </p:sp>
      <p:sp>
        <p:nvSpPr>
          <p:cNvPr id="8" name="Text 6"/>
          <p:cNvSpPr/>
          <p:nvPr/>
        </p:nvSpPr>
        <p:spPr>
          <a:xfrm>
            <a:off x="11109960" y="6547104"/>
            <a:ext cx="274320" cy="182880"/>
          </a:xfrm>
          <a:prstGeom prst="rect">
            <a:avLst/>
          </a:prstGeom>
          <a:noFill/>
          <a:ln/>
        </p:spPr>
        <p:txBody>
          <a:bodyPr wrap="square" lIns="0" tIns="0" rIns="0" bIns="0" rtlCol="0" anchor="ctr"/>
          <a:lstStyle/>
          <a:p>
            <a:pPr marL="0" indent="0" algn="r">
              <a:buNone/>
            </a:pPr>
            <a:r>
              <a:rPr lang="en-US" sz="900" dirty="0">
                <a:solidFill>
                  <a:srgbClr val="6B7280"/>
                </a:solidFill>
              </a:rPr>
              <a:t>07</a:t>
            </a:r>
            <a:endParaRPr lang="en-US" sz="900" dirty="0"/>
          </a:p>
        </p:txBody>
      </p:sp>
      <p:pic>
        <p:nvPicPr>
          <p:cNvPr id="9" name="Image 0" descr="/mnt/data/unz/ppt/media/image3.png"/>
          <p:cNvPicPr>
            <a:picLocks noChangeAspect="1"/>
          </p:cNvPicPr>
          <p:nvPr/>
        </p:nvPicPr>
        <p:blipFill>
          <a:blip r:embed="rId3"/>
          <a:stretch>
            <a:fillRect/>
          </a:stretch>
        </p:blipFill>
        <p:spPr>
          <a:xfrm>
            <a:off x="2290572" y="1664208"/>
            <a:ext cx="7488936" cy="4160520"/>
          </a:xfrm>
          <a:prstGeom prst="rect">
            <a:avLst/>
          </a:prstGeom>
        </p:spPr>
      </p:pic>
      <p:sp>
        <p:nvSpPr>
          <p:cNvPr id="10" name="Text 7"/>
          <p:cNvSpPr/>
          <p:nvPr/>
        </p:nvSpPr>
        <p:spPr>
          <a:xfrm>
            <a:off x="1234440" y="5916168"/>
            <a:ext cx="9875520" cy="256032"/>
          </a:xfrm>
          <a:prstGeom prst="rect">
            <a:avLst/>
          </a:prstGeom>
          <a:noFill/>
          <a:ln/>
        </p:spPr>
        <p:txBody>
          <a:bodyPr wrap="square" lIns="0" tIns="0" rIns="0" bIns="0" rtlCol="0" anchor="ctr"/>
          <a:lstStyle/>
          <a:p>
            <a:pPr marL="0" indent="0" algn="ctr">
              <a:buNone/>
            </a:pPr>
            <a:r>
              <a:rPr lang="en-US" sz="1450" b="1" dirty="0">
                <a:solidFill>
                  <a:srgbClr val="0F172A"/>
                </a:solidFill>
              </a:rPr>
              <a:t>Điểm danh hợp lệ chỉ được ghi nhận khi đồng thời thỏa mãn điều kiện AI và nghiệp vụ.</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1814048" y="0"/>
            <a:ext cx="374904" cy="6858000"/>
          </a:xfrm>
          <a:prstGeom prst="rect">
            <a:avLst/>
          </a:prstGeom>
          <a:solidFill>
            <a:srgbClr val="2563EB"/>
          </a:solidFill>
          <a:ln w="12700">
            <a:solidFill>
              <a:srgbClr val="2563EB"/>
            </a:solidFill>
            <a:prstDash val="solid"/>
          </a:ln>
        </p:spPr>
      </p:sp>
      <p:sp>
        <p:nvSpPr>
          <p:cNvPr id="3" name="Text 1"/>
          <p:cNvSpPr/>
          <p:nvPr/>
        </p:nvSpPr>
        <p:spPr>
          <a:xfrm>
            <a:off x="603504" y="347472"/>
            <a:ext cx="1463040" cy="228600"/>
          </a:xfrm>
          <a:prstGeom prst="rect">
            <a:avLst/>
          </a:prstGeom>
          <a:noFill/>
          <a:ln/>
        </p:spPr>
        <p:txBody>
          <a:bodyPr wrap="square" lIns="0" tIns="0" rIns="0" bIns="0" rtlCol="0" anchor="ctr"/>
          <a:lstStyle/>
          <a:p>
            <a:pPr marL="0" indent="0">
              <a:buNone/>
            </a:pPr>
            <a:r>
              <a:rPr lang="en-US" sz="1000" b="1" dirty="0">
                <a:solidFill>
                  <a:srgbClr val="2563EB"/>
                </a:solidFill>
              </a:rPr>
              <a:t>MTU FACE</a:t>
            </a:r>
            <a:endParaRPr lang="en-US" sz="1000" dirty="0"/>
          </a:p>
        </p:txBody>
      </p:sp>
      <p:sp>
        <p:nvSpPr>
          <p:cNvPr id="4" name="Text 2"/>
          <p:cNvSpPr/>
          <p:nvPr/>
        </p:nvSpPr>
        <p:spPr>
          <a:xfrm>
            <a:off x="603504" y="804672"/>
            <a:ext cx="10515600" cy="548640"/>
          </a:xfrm>
          <a:prstGeom prst="rect">
            <a:avLst/>
          </a:prstGeom>
          <a:noFill/>
          <a:ln/>
        </p:spPr>
        <p:txBody>
          <a:bodyPr wrap="square" lIns="0" tIns="0" rIns="0" bIns="0" rtlCol="0" anchor="ctr">
            <a:normAutofit/>
          </a:bodyPr>
          <a:lstStyle/>
          <a:p>
            <a:pPr marL="0" indent="0">
              <a:buNone/>
            </a:pPr>
            <a:r>
              <a:rPr lang="en-US" sz="2800" b="1" dirty="0">
                <a:solidFill>
                  <a:srgbClr val="0F172A"/>
                </a:solidFill>
              </a:rPr>
              <a:t>Lõi AI nhận diện: InsightFace và YOLO11 + ResNet50</a:t>
            </a:r>
            <a:endParaRPr lang="en-US" sz="2800" dirty="0"/>
          </a:p>
        </p:txBody>
      </p:sp>
      <p:sp>
        <p:nvSpPr>
          <p:cNvPr id="5" name="Shape 3"/>
          <p:cNvSpPr/>
          <p:nvPr/>
        </p:nvSpPr>
        <p:spPr>
          <a:xfrm>
            <a:off x="530352" y="1417320"/>
            <a:ext cx="10881360" cy="0"/>
          </a:xfrm>
          <a:prstGeom prst="line">
            <a:avLst/>
          </a:prstGeom>
          <a:noFill/>
          <a:ln w="12700">
            <a:solidFill>
              <a:srgbClr val="CBD5E1"/>
            </a:solidFill>
            <a:prstDash val="solid"/>
          </a:ln>
        </p:spPr>
      </p:sp>
      <p:sp>
        <p:nvSpPr>
          <p:cNvPr id="6" name="Shape 4"/>
          <p:cNvSpPr/>
          <p:nvPr/>
        </p:nvSpPr>
        <p:spPr>
          <a:xfrm>
            <a:off x="530352" y="6492240"/>
            <a:ext cx="10881360" cy="0"/>
          </a:xfrm>
          <a:prstGeom prst="line">
            <a:avLst/>
          </a:prstGeom>
          <a:noFill/>
          <a:ln w="10160">
            <a:solidFill>
              <a:srgbClr val="CBD5E1"/>
            </a:solidFill>
            <a:prstDash val="solid"/>
          </a:ln>
        </p:spPr>
      </p:sp>
      <p:sp>
        <p:nvSpPr>
          <p:cNvPr id="7" name="Text 5"/>
          <p:cNvSpPr/>
          <p:nvPr/>
        </p:nvSpPr>
        <p:spPr>
          <a:xfrm>
            <a:off x="603504" y="6565392"/>
            <a:ext cx="4389120" cy="137160"/>
          </a:xfrm>
          <a:prstGeom prst="rect">
            <a:avLst/>
          </a:prstGeom>
          <a:noFill/>
          <a:ln/>
        </p:spPr>
        <p:txBody>
          <a:bodyPr wrap="square" lIns="0" tIns="0" rIns="0" bIns="0" rtlCol="0" anchor="ctr"/>
          <a:lstStyle/>
          <a:p>
            <a:pPr marL="0" indent="0">
              <a:buNone/>
            </a:pPr>
            <a:r>
              <a:rPr lang="en-US" sz="800" dirty="0">
                <a:solidFill>
                  <a:srgbClr val="6B7280"/>
                </a:solidFill>
              </a:rPr>
              <a:t>ĐỒ ÁN TỐT NGHIỆP • KỸ THUẬT PHẦN MỀM</a:t>
            </a:r>
            <a:endParaRPr lang="en-US" sz="800" dirty="0"/>
          </a:p>
        </p:txBody>
      </p:sp>
      <p:sp>
        <p:nvSpPr>
          <p:cNvPr id="8" name="Text 6"/>
          <p:cNvSpPr/>
          <p:nvPr/>
        </p:nvSpPr>
        <p:spPr>
          <a:xfrm>
            <a:off x="11109960" y="6547104"/>
            <a:ext cx="274320" cy="182880"/>
          </a:xfrm>
          <a:prstGeom prst="rect">
            <a:avLst/>
          </a:prstGeom>
          <a:noFill/>
          <a:ln/>
        </p:spPr>
        <p:txBody>
          <a:bodyPr wrap="square" lIns="0" tIns="0" rIns="0" bIns="0" rtlCol="0" anchor="ctr"/>
          <a:lstStyle/>
          <a:p>
            <a:pPr marL="0" indent="0" algn="r">
              <a:buNone/>
            </a:pPr>
            <a:r>
              <a:rPr lang="en-US" sz="900" dirty="0">
                <a:solidFill>
                  <a:srgbClr val="6B7280"/>
                </a:solidFill>
              </a:rPr>
              <a:t>08</a:t>
            </a:r>
            <a:endParaRPr lang="en-US" sz="900" dirty="0"/>
          </a:p>
        </p:txBody>
      </p:sp>
      <p:sp>
        <p:nvSpPr>
          <p:cNvPr id="9" name="Shape 7"/>
          <p:cNvSpPr/>
          <p:nvPr/>
        </p:nvSpPr>
        <p:spPr>
          <a:xfrm>
            <a:off x="731520" y="1828800"/>
            <a:ext cx="4937760" cy="2286000"/>
          </a:xfrm>
          <a:prstGeom prst="roundRect">
            <a:avLst>
              <a:gd name="adj" fmla="val 2400"/>
            </a:avLst>
          </a:prstGeom>
          <a:solidFill>
            <a:srgbClr val="FFFFFF"/>
          </a:solidFill>
          <a:ln w="12700">
            <a:solidFill>
              <a:srgbClr val="E2E8F0"/>
            </a:solidFill>
            <a:prstDash val="solid"/>
          </a:ln>
          <a:effectLst>
            <a:outerShdw blurRad="12700" dist="50800" dir="2700000" algn="bl" rotWithShape="0">
              <a:srgbClr val="94A3B8">
                <a:alpha val="15000"/>
              </a:srgbClr>
            </a:outerShdw>
          </a:effectLst>
        </p:spPr>
      </p:sp>
      <p:sp>
        <p:nvSpPr>
          <p:cNvPr id="10" name="Shape 8"/>
          <p:cNvSpPr/>
          <p:nvPr/>
        </p:nvSpPr>
        <p:spPr>
          <a:xfrm>
            <a:off x="731520" y="1828800"/>
            <a:ext cx="73152" cy="2286000"/>
          </a:xfrm>
          <a:prstGeom prst="rect">
            <a:avLst/>
          </a:prstGeom>
          <a:solidFill>
            <a:srgbClr val="2563EB"/>
          </a:solidFill>
          <a:ln w="12700">
            <a:solidFill>
              <a:srgbClr val="2563EB"/>
            </a:solidFill>
            <a:prstDash val="solid"/>
          </a:ln>
        </p:spPr>
      </p:sp>
      <p:sp>
        <p:nvSpPr>
          <p:cNvPr id="11" name="Text 9"/>
          <p:cNvSpPr/>
          <p:nvPr/>
        </p:nvSpPr>
        <p:spPr>
          <a:xfrm>
            <a:off x="941832" y="1993392"/>
            <a:ext cx="4617720" cy="256032"/>
          </a:xfrm>
          <a:prstGeom prst="rect">
            <a:avLst/>
          </a:prstGeom>
          <a:noFill/>
          <a:ln/>
        </p:spPr>
        <p:txBody>
          <a:bodyPr wrap="square" lIns="0" tIns="0" rIns="0" bIns="0" rtlCol="0" anchor="ctr"/>
          <a:lstStyle/>
          <a:p>
            <a:pPr marL="0" indent="0">
              <a:buNone/>
            </a:pPr>
            <a:r>
              <a:rPr lang="en-US" sz="1500" b="1" dirty="0">
                <a:solidFill>
                  <a:srgbClr val="2563EB"/>
                </a:solidFill>
              </a:rPr>
              <a:t>InsightFace — lõi mặc định</a:t>
            </a:r>
            <a:endParaRPr lang="en-US" sz="1500" dirty="0"/>
          </a:p>
        </p:txBody>
      </p:sp>
      <p:sp>
        <p:nvSpPr>
          <p:cNvPr id="12" name="Text 10"/>
          <p:cNvSpPr/>
          <p:nvPr/>
        </p:nvSpPr>
        <p:spPr>
          <a:xfrm>
            <a:off x="941832" y="2359152"/>
            <a:ext cx="4590288" cy="1627632"/>
          </a:xfrm>
          <a:prstGeom prst="rect">
            <a:avLst/>
          </a:prstGeom>
          <a:noFill/>
          <a:ln/>
        </p:spPr>
        <p:txBody>
          <a:bodyPr wrap="square" lIns="127" tIns="127" rIns="127" bIns="127" rtlCol="0" anchor="t">
            <a:normAutofit/>
          </a:bodyPr>
          <a:lstStyle/>
          <a:p>
            <a:pPr marL="0" indent="0">
              <a:buNone/>
            </a:pPr>
            <a:r>
              <a:rPr lang="en-US" sz="1220" dirty="0">
                <a:solidFill>
                  <a:srgbClr val="111827"/>
                </a:solidFill>
              </a:rPr>
              <a:t>SCRFD phát hiện và căn chỉnh khuôn mặt.</a:t>
            </a:r>
            <a:endParaRPr lang="en-US" sz="1220" dirty="0"/>
          </a:p>
          <a:p>
            <a:pPr marL="0" indent="0">
              <a:buNone/>
            </a:pPr>
            <a:r>
              <a:rPr lang="en-US" sz="1220" dirty="0">
                <a:solidFill>
                  <a:srgbClr val="111827"/>
                </a:solidFill>
              </a:rPr>
              <a:t>ArcFace trích xuất vector 512 chiều.</a:t>
            </a:r>
            <a:endParaRPr lang="en-US" sz="1220" dirty="0"/>
          </a:p>
          <a:p>
            <a:pPr marL="0" indent="0">
              <a:buNone/>
            </a:pPr>
            <a:r>
              <a:rPr lang="en-US" sz="1220" dirty="0">
                <a:solidFill>
                  <a:srgbClr val="111827"/>
                </a:solidFill>
              </a:rPr>
              <a:t>Phù hợp vận hành realtime và triển khai ổn định.</a:t>
            </a:r>
            <a:endParaRPr lang="en-US" sz="1220" dirty="0"/>
          </a:p>
          <a:p>
            <a:pPr marL="0" indent="0">
              <a:buNone/>
            </a:pPr>
            <a:r>
              <a:rPr lang="en-US" sz="1220" dirty="0">
                <a:solidFill>
                  <a:srgbClr val="111827"/>
                </a:solidFill>
              </a:rPr>
              <a:t>Số liệu quan sát: 29 FPS.</a:t>
            </a:r>
            <a:endParaRPr lang="en-US" sz="1220" dirty="0"/>
          </a:p>
        </p:txBody>
      </p:sp>
      <p:sp>
        <p:nvSpPr>
          <p:cNvPr id="13" name="Shape 11"/>
          <p:cNvSpPr/>
          <p:nvPr/>
        </p:nvSpPr>
        <p:spPr>
          <a:xfrm>
            <a:off x="6446520" y="1828800"/>
            <a:ext cx="4937760" cy="2286000"/>
          </a:xfrm>
          <a:prstGeom prst="roundRect">
            <a:avLst>
              <a:gd name="adj" fmla="val 2400"/>
            </a:avLst>
          </a:prstGeom>
          <a:solidFill>
            <a:srgbClr val="FFFFFF"/>
          </a:solidFill>
          <a:ln w="12700">
            <a:solidFill>
              <a:srgbClr val="E2E8F0"/>
            </a:solidFill>
            <a:prstDash val="solid"/>
          </a:ln>
          <a:effectLst>
            <a:outerShdw blurRad="12700" dist="50800" dir="2700000" algn="bl" rotWithShape="0">
              <a:srgbClr val="94A3B8">
                <a:alpha val="15000"/>
              </a:srgbClr>
            </a:outerShdw>
          </a:effectLst>
        </p:spPr>
      </p:sp>
      <p:sp>
        <p:nvSpPr>
          <p:cNvPr id="14" name="Shape 12"/>
          <p:cNvSpPr/>
          <p:nvPr/>
        </p:nvSpPr>
        <p:spPr>
          <a:xfrm>
            <a:off x="6446520" y="1828800"/>
            <a:ext cx="73152" cy="2286000"/>
          </a:xfrm>
          <a:prstGeom prst="rect">
            <a:avLst/>
          </a:prstGeom>
          <a:solidFill>
            <a:srgbClr val="059669"/>
          </a:solidFill>
          <a:ln w="12700">
            <a:solidFill>
              <a:srgbClr val="059669"/>
            </a:solidFill>
            <a:prstDash val="solid"/>
          </a:ln>
        </p:spPr>
      </p:sp>
      <p:sp>
        <p:nvSpPr>
          <p:cNvPr id="15" name="Text 13"/>
          <p:cNvSpPr/>
          <p:nvPr/>
        </p:nvSpPr>
        <p:spPr>
          <a:xfrm>
            <a:off x="6656832" y="1993392"/>
            <a:ext cx="4617720" cy="256032"/>
          </a:xfrm>
          <a:prstGeom prst="rect">
            <a:avLst/>
          </a:prstGeom>
          <a:noFill/>
          <a:ln/>
        </p:spPr>
        <p:txBody>
          <a:bodyPr wrap="square" lIns="0" tIns="0" rIns="0" bIns="0" rtlCol="0" anchor="ctr"/>
          <a:lstStyle/>
          <a:p>
            <a:pPr marL="0" indent="0">
              <a:buNone/>
            </a:pPr>
            <a:r>
              <a:rPr lang="en-US" sz="1500" b="1" dirty="0">
                <a:solidFill>
                  <a:srgbClr val="059669"/>
                </a:solidFill>
              </a:rPr>
              <a:t>YOLO11 + ResNet50 — lõi thử nghiệm</a:t>
            </a:r>
            <a:endParaRPr lang="en-US" sz="1500" dirty="0"/>
          </a:p>
        </p:txBody>
      </p:sp>
      <p:sp>
        <p:nvSpPr>
          <p:cNvPr id="16" name="Text 14"/>
          <p:cNvSpPr/>
          <p:nvPr/>
        </p:nvSpPr>
        <p:spPr>
          <a:xfrm>
            <a:off x="6656832" y="2359152"/>
            <a:ext cx="4590288" cy="1627632"/>
          </a:xfrm>
          <a:prstGeom prst="rect">
            <a:avLst/>
          </a:prstGeom>
          <a:noFill/>
          <a:ln/>
        </p:spPr>
        <p:txBody>
          <a:bodyPr wrap="square" lIns="127" tIns="127" rIns="127" bIns="127" rtlCol="0" anchor="t">
            <a:normAutofit/>
          </a:bodyPr>
          <a:lstStyle/>
          <a:p>
            <a:pPr marL="0" indent="0">
              <a:buNone/>
            </a:pPr>
            <a:r>
              <a:rPr lang="en-US" sz="1220" dirty="0">
                <a:solidFill>
                  <a:srgbClr val="111827"/>
                </a:solidFill>
              </a:rPr>
              <a:t>YOLO11 khoanh vùng khuôn mặt.</a:t>
            </a:r>
            <a:endParaRPr lang="en-US" sz="1220" dirty="0"/>
          </a:p>
          <a:p>
            <a:pPr marL="0" indent="0">
              <a:buNone/>
            </a:pPr>
            <a:r>
              <a:rPr lang="en-US" sz="1220" dirty="0">
                <a:solidFill>
                  <a:srgbClr val="111827"/>
                </a:solidFill>
              </a:rPr>
              <a:t>ResNet50 trích xuất/phân loại đặc trưng.</a:t>
            </a:r>
            <a:endParaRPr lang="en-US" sz="1220" dirty="0"/>
          </a:p>
          <a:p>
            <a:pPr marL="0" indent="0">
              <a:buNone/>
            </a:pPr>
            <a:r>
              <a:rPr lang="en-US" sz="1220" dirty="0">
                <a:solidFill>
                  <a:srgbClr val="111827"/>
                </a:solidFill>
              </a:rPr>
              <a:t>Thuận lợi khi huấn luyện thử trên dữ liệu riêng.</a:t>
            </a:r>
            <a:endParaRPr lang="en-US" sz="1220" dirty="0"/>
          </a:p>
          <a:p>
            <a:pPr marL="0" indent="0">
              <a:buNone/>
            </a:pPr>
            <a:r>
              <a:rPr lang="en-US" sz="1220" dirty="0">
                <a:solidFill>
                  <a:srgbClr val="111827"/>
                </a:solidFill>
              </a:rPr>
              <a:t>Số liệu quan sát: 24 FPS.</a:t>
            </a:r>
            <a:endParaRPr lang="en-US" sz="1220" dirty="0"/>
          </a:p>
        </p:txBody>
      </p:sp>
      <p:sp>
        <p:nvSpPr>
          <p:cNvPr id="17" name="Shape 15"/>
          <p:cNvSpPr/>
          <p:nvPr/>
        </p:nvSpPr>
        <p:spPr>
          <a:xfrm>
            <a:off x="731520" y="4892040"/>
            <a:ext cx="10652760" cy="685800"/>
          </a:xfrm>
          <a:prstGeom prst="roundRect">
            <a:avLst>
              <a:gd name="adj" fmla="val 6667"/>
            </a:avLst>
          </a:prstGeom>
          <a:solidFill>
            <a:srgbClr val="EFF6FF"/>
          </a:solidFill>
          <a:ln w="12700">
            <a:solidFill>
              <a:srgbClr val="DBEAFE"/>
            </a:solidFill>
            <a:prstDash val="solid"/>
          </a:ln>
        </p:spPr>
      </p:sp>
      <p:sp>
        <p:nvSpPr>
          <p:cNvPr id="18" name="Text 16"/>
          <p:cNvSpPr/>
          <p:nvPr/>
        </p:nvSpPr>
        <p:spPr>
          <a:xfrm>
            <a:off x="960120" y="5120640"/>
            <a:ext cx="10149840" cy="228600"/>
          </a:xfrm>
          <a:prstGeom prst="rect">
            <a:avLst/>
          </a:prstGeom>
          <a:noFill/>
          <a:ln/>
        </p:spPr>
        <p:txBody>
          <a:bodyPr wrap="square" lIns="0" tIns="0" rIns="0" bIns="0" rtlCol="0" anchor="ctr"/>
          <a:lstStyle/>
          <a:p>
            <a:pPr marL="0" indent="0" algn="ctr">
              <a:buNone/>
            </a:pPr>
            <a:r>
              <a:rPr lang="en-US" sz="1500" b="1" dirty="0">
                <a:solidFill>
                  <a:srgbClr val="2563EB"/>
                </a:solidFill>
              </a:rPr>
              <a:t>Kiến trúc Factory giúp chuyển đổi lõi AI bằng cấu hình mà không phải thay đổi logic nghiệp vụ.</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1814048" y="0"/>
            <a:ext cx="374904" cy="6858000"/>
          </a:xfrm>
          <a:prstGeom prst="rect">
            <a:avLst/>
          </a:prstGeom>
          <a:solidFill>
            <a:srgbClr val="2563EB"/>
          </a:solidFill>
          <a:ln w="12700">
            <a:solidFill>
              <a:srgbClr val="2563EB"/>
            </a:solidFill>
            <a:prstDash val="solid"/>
          </a:ln>
        </p:spPr>
      </p:sp>
      <p:sp>
        <p:nvSpPr>
          <p:cNvPr id="3" name="Text 1"/>
          <p:cNvSpPr/>
          <p:nvPr/>
        </p:nvSpPr>
        <p:spPr>
          <a:xfrm>
            <a:off x="603504" y="347472"/>
            <a:ext cx="1463040" cy="228600"/>
          </a:xfrm>
          <a:prstGeom prst="rect">
            <a:avLst/>
          </a:prstGeom>
          <a:noFill/>
          <a:ln/>
        </p:spPr>
        <p:txBody>
          <a:bodyPr wrap="square" lIns="0" tIns="0" rIns="0" bIns="0" rtlCol="0" anchor="ctr"/>
          <a:lstStyle/>
          <a:p>
            <a:pPr marL="0" indent="0">
              <a:buNone/>
            </a:pPr>
            <a:r>
              <a:rPr lang="en-US" sz="1000" b="1" dirty="0">
                <a:solidFill>
                  <a:srgbClr val="2563EB"/>
                </a:solidFill>
              </a:rPr>
              <a:t>MTU FACE</a:t>
            </a:r>
            <a:endParaRPr lang="en-US" sz="1000" dirty="0"/>
          </a:p>
        </p:txBody>
      </p:sp>
      <p:sp>
        <p:nvSpPr>
          <p:cNvPr id="4" name="Text 2"/>
          <p:cNvSpPr/>
          <p:nvPr/>
        </p:nvSpPr>
        <p:spPr>
          <a:xfrm>
            <a:off x="603504" y="804672"/>
            <a:ext cx="10515600" cy="548640"/>
          </a:xfrm>
          <a:prstGeom prst="rect">
            <a:avLst/>
          </a:prstGeom>
          <a:noFill/>
          <a:ln/>
        </p:spPr>
        <p:txBody>
          <a:bodyPr wrap="square" lIns="0" tIns="0" rIns="0" bIns="0" rtlCol="0" anchor="ctr">
            <a:normAutofit/>
          </a:bodyPr>
          <a:lstStyle/>
          <a:p>
            <a:pPr marL="0" indent="0">
              <a:buNone/>
            </a:pPr>
            <a:r>
              <a:rPr lang="en-US" sz="2800" b="1" dirty="0">
                <a:solidFill>
                  <a:srgbClr val="0F172A"/>
                </a:solidFill>
              </a:rPr>
              <a:t>Chống gian lận bằng nhiều lớp xác minh</a:t>
            </a:r>
            <a:endParaRPr lang="en-US" sz="2800" dirty="0"/>
          </a:p>
        </p:txBody>
      </p:sp>
      <p:sp>
        <p:nvSpPr>
          <p:cNvPr id="5" name="Shape 3"/>
          <p:cNvSpPr/>
          <p:nvPr/>
        </p:nvSpPr>
        <p:spPr>
          <a:xfrm>
            <a:off x="530352" y="1417320"/>
            <a:ext cx="10881360" cy="0"/>
          </a:xfrm>
          <a:prstGeom prst="line">
            <a:avLst/>
          </a:prstGeom>
          <a:noFill/>
          <a:ln w="12700">
            <a:solidFill>
              <a:srgbClr val="CBD5E1"/>
            </a:solidFill>
            <a:prstDash val="solid"/>
          </a:ln>
        </p:spPr>
      </p:sp>
      <p:sp>
        <p:nvSpPr>
          <p:cNvPr id="6" name="Shape 4"/>
          <p:cNvSpPr/>
          <p:nvPr/>
        </p:nvSpPr>
        <p:spPr>
          <a:xfrm>
            <a:off x="530352" y="6492240"/>
            <a:ext cx="10881360" cy="0"/>
          </a:xfrm>
          <a:prstGeom prst="line">
            <a:avLst/>
          </a:prstGeom>
          <a:noFill/>
          <a:ln w="10160">
            <a:solidFill>
              <a:srgbClr val="CBD5E1"/>
            </a:solidFill>
            <a:prstDash val="solid"/>
          </a:ln>
        </p:spPr>
      </p:sp>
      <p:sp>
        <p:nvSpPr>
          <p:cNvPr id="7" name="Text 5"/>
          <p:cNvSpPr/>
          <p:nvPr/>
        </p:nvSpPr>
        <p:spPr>
          <a:xfrm>
            <a:off x="603504" y="6565392"/>
            <a:ext cx="4389120" cy="137160"/>
          </a:xfrm>
          <a:prstGeom prst="rect">
            <a:avLst/>
          </a:prstGeom>
          <a:noFill/>
          <a:ln/>
        </p:spPr>
        <p:txBody>
          <a:bodyPr wrap="square" lIns="0" tIns="0" rIns="0" bIns="0" rtlCol="0" anchor="ctr"/>
          <a:lstStyle/>
          <a:p>
            <a:pPr marL="0" indent="0">
              <a:buNone/>
            </a:pPr>
            <a:r>
              <a:rPr lang="en-US" sz="800" dirty="0">
                <a:solidFill>
                  <a:srgbClr val="6B7280"/>
                </a:solidFill>
              </a:rPr>
              <a:t>ĐỒ ÁN TỐT NGHIỆP • KỸ THUẬT PHẦN MỀM</a:t>
            </a:r>
            <a:endParaRPr lang="en-US" sz="800" dirty="0"/>
          </a:p>
        </p:txBody>
      </p:sp>
      <p:sp>
        <p:nvSpPr>
          <p:cNvPr id="8" name="Text 6"/>
          <p:cNvSpPr/>
          <p:nvPr/>
        </p:nvSpPr>
        <p:spPr>
          <a:xfrm>
            <a:off x="11109960" y="6547104"/>
            <a:ext cx="274320" cy="182880"/>
          </a:xfrm>
          <a:prstGeom prst="rect">
            <a:avLst/>
          </a:prstGeom>
          <a:noFill/>
          <a:ln/>
        </p:spPr>
        <p:txBody>
          <a:bodyPr wrap="square" lIns="0" tIns="0" rIns="0" bIns="0" rtlCol="0" anchor="ctr"/>
          <a:lstStyle/>
          <a:p>
            <a:pPr marL="0" indent="0" algn="r">
              <a:buNone/>
            </a:pPr>
            <a:r>
              <a:rPr lang="en-US" sz="900" dirty="0">
                <a:solidFill>
                  <a:srgbClr val="6B7280"/>
                </a:solidFill>
              </a:rPr>
              <a:t>09</a:t>
            </a:r>
            <a:endParaRPr lang="en-US" sz="900" dirty="0"/>
          </a:p>
        </p:txBody>
      </p:sp>
      <p:sp>
        <p:nvSpPr>
          <p:cNvPr id="9" name="Shape 7"/>
          <p:cNvSpPr/>
          <p:nvPr/>
        </p:nvSpPr>
        <p:spPr>
          <a:xfrm>
            <a:off x="731520" y="1783080"/>
            <a:ext cx="5074920" cy="1097280"/>
          </a:xfrm>
          <a:prstGeom prst="roundRect">
            <a:avLst>
              <a:gd name="adj" fmla="val 4167"/>
            </a:avLst>
          </a:prstGeom>
          <a:solidFill>
            <a:srgbClr val="FFFFFF"/>
          </a:solidFill>
          <a:ln w="12700">
            <a:solidFill>
              <a:srgbClr val="E2E8F0"/>
            </a:solidFill>
            <a:prstDash val="solid"/>
          </a:ln>
        </p:spPr>
      </p:sp>
      <p:sp>
        <p:nvSpPr>
          <p:cNvPr id="10" name="Text 8"/>
          <p:cNvSpPr/>
          <p:nvPr/>
        </p:nvSpPr>
        <p:spPr>
          <a:xfrm>
            <a:off x="960120" y="2075688"/>
            <a:ext cx="502920" cy="320040"/>
          </a:xfrm>
          <a:prstGeom prst="rect">
            <a:avLst/>
          </a:prstGeom>
          <a:noFill/>
          <a:ln/>
        </p:spPr>
        <p:txBody>
          <a:bodyPr wrap="square" lIns="0" tIns="0" rIns="0" bIns="0" rtlCol="0" anchor="ctr"/>
          <a:lstStyle/>
          <a:p>
            <a:pPr marL="0" indent="0">
              <a:buNone/>
            </a:pPr>
            <a:r>
              <a:rPr lang="en-US" sz="1800" b="1" dirty="0">
                <a:solidFill>
                  <a:srgbClr val="2563EB"/>
                </a:solidFill>
              </a:rPr>
              <a:t>01</a:t>
            </a:r>
            <a:endParaRPr lang="en-US" sz="1800" dirty="0"/>
          </a:p>
        </p:txBody>
      </p:sp>
      <p:sp>
        <p:nvSpPr>
          <p:cNvPr id="11" name="Text 9"/>
          <p:cNvSpPr/>
          <p:nvPr/>
        </p:nvSpPr>
        <p:spPr>
          <a:xfrm>
            <a:off x="1600200" y="2002536"/>
            <a:ext cx="3840480" cy="228600"/>
          </a:xfrm>
          <a:prstGeom prst="rect">
            <a:avLst/>
          </a:prstGeom>
          <a:noFill/>
          <a:ln/>
        </p:spPr>
        <p:txBody>
          <a:bodyPr wrap="square" lIns="0" tIns="0" rIns="0" bIns="0" rtlCol="0" anchor="ctr"/>
          <a:lstStyle/>
          <a:p>
            <a:pPr marL="0" indent="0">
              <a:buNone/>
            </a:pPr>
            <a:r>
              <a:rPr lang="en-US" sz="1500" b="1" dirty="0">
                <a:solidFill>
                  <a:srgbClr val="0F172A"/>
                </a:solidFill>
              </a:rPr>
              <a:t>Chất lượng ảnh</a:t>
            </a:r>
            <a:endParaRPr lang="en-US" sz="1500" dirty="0"/>
          </a:p>
        </p:txBody>
      </p:sp>
      <p:sp>
        <p:nvSpPr>
          <p:cNvPr id="12" name="Text 10"/>
          <p:cNvSpPr/>
          <p:nvPr/>
        </p:nvSpPr>
        <p:spPr>
          <a:xfrm>
            <a:off x="1600200" y="2350008"/>
            <a:ext cx="3840480" cy="347472"/>
          </a:xfrm>
          <a:prstGeom prst="rect">
            <a:avLst/>
          </a:prstGeom>
          <a:noFill/>
          <a:ln/>
        </p:spPr>
        <p:txBody>
          <a:bodyPr wrap="square" lIns="0" tIns="0" rIns="0" bIns="0" rtlCol="0" anchor="ctr">
            <a:normAutofit lnSpcReduction="10000"/>
          </a:bodyPr>
          <a:lstStyle/>
          <a:p>
            <a:pPr marL="0" indent="0">
              <a:buNone/>
            </a:pPr>
            <a:r>
              <a:rPr lang="en-US" sz="1240" dirty="0">
                <a:solidFill>
                  <a:srgbClr val="6B7280"/>
                </a:solidFill>
              </a:rPr>
              <a:t>Kiểm tra kích thước vùng mặt, độ mờ và vùng chói sáng.</a:t>
            </a:r>
            <a:endParaRPr lang="en-US" sz="1240" dirty="0"/>
          </a:p>
        </p:txBody>
      </p:sp>
      <p:sp>
        <p:nvSpPr>
          <p:cNvPr id="13" name="Shape 11"/>
          <p:cNvSpPr/>
          <p:nvPr/>
        </p:nvSpPr>
        <p:spPr>
          <a:xfrm>
            <a:off x="6263640" y="1783080"/>
            <a:ext cx="5074920" cy="1097280"/>
          </a:xfrm>
          <a:prstGeom prst="roundRect">
            <a:avLst>
              <a:gd name="adj" fmla="val 4167"/>
            </a:avLst>
          </a:prstGeom>
          <a:solidFill>
            <a:srgbClr val="FFFFFF"/>
          </a:solidFill>
          <a:ln w="12700">
            <a:solidFill>
              <a:srgbClr val="E2E8F0"/>
            </a:solidFill>
            <a:prstDash val="solid"/>
          </a:ln>
        </p:spPr>
      </p:sp>
      <p:sp>
        <p:nvSpPr>
          <p:cNvPr id="14" name="Text 12"/>
          <p:cNvSpPr/>
          <p:nvPr/>
        </p:nvSpPr>
        <p:spPr>
          <a:xfrm>
            <a:off x="6492240" y="2075688"/>
            <a:ext cx="502920" cy="320040"/>
          </a:xfrm>
          <a:prstGeom prst="rect">
            <a:avLst/>
          </a:prstGeom>
          <a:noFill/>
          <a:ln/>
        </p:spPr>
        <p:txBody>
          <a:bodyPr wrap="square" lIns="0" tIns="0" rIns="0" bIns="0" rtlCol="0" anchor="ctr"/>
          <a:lstStyle/>
          <a:p>
            <a:pPr marL="0" indent="0">
              <a:buNone/>
            </a:pPr>
            <a:r>
              <a:rPr lang="en-US" sz="1800" b="1" dirty="0">
                <a:solidFill>
                  <a:srgbClr val="2563EB"/>
                </a:solidFill>
              </a:rPr>
              <a:t>02</a:t>
            </a:r>
            <a:endParaRPr lang="en-US" sz="1800" dirty="0"/>
          </a:p>
        </p:txBody>
      </p:sp>
      <p:sp>
        <p:nvSpPr>
          <p:cNvPr id="15" name="Text 13"/>
          <p:cNvSpPr/>
          <p:nvPr/>
        </p:nvSpPr>
        <p:spPr>
          <a:xfrm>
            <a:off x="7132320" y="2002536"/>
            <a:ext cx="3840480" cy="228600"/>
          </a:xfrm>
          <a:prstGeom prst="rect">
            <a:avLst/>
          </a:prstGeom>
          <a:noFill/>
          <a:ln/>
        </p:spPr>
        <p:txBody>
          <a:bodyPr wrap="square" lIns="0" tIns="0" rIns="0" bIns="0" rtlCol="0" anchor="ctr"/>
          <a:lstStyle/>
          <a:p>
            <a:pPr marL="0" indent="0">
              <a:buNone/>
            </a:pPr>
            <a:r>
              <a:rPr lang="en-US" sz="1500" b="1" dirty="0">
                <a:solidFill>
                  <a:srgbClr val="0F172A"/>
                </a:solidFill>
              </a:rPr>
              <a:t>MiniFASNetV2</a:t>
            </a:r>
            <a:endParaRPr lang="en-US" sz="1500" dirty="0"/>
          </a:p>
        </p:txBody>
      </p:sp>
      <p:sp>
        <p:nvSpPr>
          <p:cNvPr id="16" name="Text 14"/>
          <p:cNvSpPr/>
          <p:nvPr/>
        </p:nvSpPr>
        <p:spPr>
          <a:xfrm>
            <a:off x="7132320" y="2350008"/>
            <a:ext cx="3840480" cy="347472"/>
          </a:xfrm>
          <a:prstGeom prst="rect">
            <a:avLst/>
          </a:prstGeom>
          <a:noFill/>
          <a:ln/>
        </p:spPr>
        <p:txBody>
          <a:bodyPr wrap="square" lIns="0" tIns="0" rIns="0" bIns="0" rtlCol="0" anchor="ctr">
            <a:normAutofit/>
          </a:bodyPr>
          <a:lstStyle/>
          <a:p>
            <a:pPr marL="0" indent="0">
              <a:buNone/>
            </a:pPr>
            <a:r>
              <a:rPr lang="en-US" sz="1240" dirty="0">
                <a:solidFill>
                  <a:srgbClr val="6B7280"/>
                </a:solidFill>
              </a:rPr>
              <a:t>Ước lượng khuôn mặt thật hay ảnh/video giả mạo.</a:t>
            </a:r>
            <a:endParaRPr lang="en-US" sz="1240" dirty="0"/>
          </a:p>
        </p:txBody>
      </p:sp>
      <p:sp>
        <p:nvSpPr>
          <p:cNvPr id="17" name="Shape 15"/>
          <p:cNvSpPr/>
          <p:nvPr/>
        </p:nvSpPr>
        <p:spPr>
          <a:xfrm>
            <a:off x="731520" y="3383280"/>
            <a:ext cx="5074920" cy="1097280"/>
          </a:xfrm>
          <a:prstGeom prst="roundRect">
            <a:avLst>
              <a:gd name="adj" fmla="val 4167"/>
            </a:avLst>
          </a:prstGeom>
          <a:solidFill>
            <a:srgbClr val="FFFFFF"/>
          </a:solidFill>
          <a:ln w="12700">
            <a:solidFill>
              <a:srgbClr val="E2E8F0"/>
            </a:solidFill>
            <a:prstDash val="solid"/>
          </a:ln>
        </p:spPr>
      </p:sp>
      <p:sp>
        <p:nvSpPr>
          <p:cNvPr id="18" name="Text 16"/>
          <p:cNvSpPr/>
          <p:nvPr/>
        </p:nvSpPr>
        <p:spPr>
          <a:xfrm>
            <a:off x="960120" y="3675888"/>
            <a:ext cx="502920" cy="320040"/>
          </a:xfrm>
          <a:prstGeom prst="rect">
            <a:avLst/>
          </a:prstGeom>
          <a:noFill/>
          <a:ln/>
        </p:spPr>
        <p:txBody>
          <a:bodyPr wrap="square" lIns="0" tIns="0" rIns="0" bIns="0" rtlCol="0" anchor="ctr"/>
          <a:lstStyle/>
          <a:p>
            <a:pPr marL="0" indent="0">
              <a:buNone/>
            </a:pPr>
            <a:r>
              <a:rPr lang="en-US" sz="1800" b="1" dirty="0">
                <a:solidFill>
                  <a:srgbClr val="2563EB"/>
                </a:solidFill>
              </a:rPr>
              <a:t>03</a:t>
            </a:r>
            <a:endParaRPr lang="en-US" sz="1800" dirty="0"/>
          </a:p>
        </p:txBody>
      </p:sp>
      <p:sp>
        <p:nvSpPr>
          <p:cNvPr id="19" name="Text 17"/>
          <p:cNvSpPr/>
          <p:nvPr/>
        </p:nvSpPr>
        <p:spPr>
          <a:xfrm>
            <a:off x="1600200" y="3602736"/>
            <a:ext cx="3840480" cy="228600"/>
          </a:xfrm>
          <a:prstGeom prst="rect">
            <a:avLst/>
          </a:prstGeom>
          <a:noFill/>
          <a:ln/>
        </p:spPr>
        <p:txBody>
          <a:bodyPr wrap="square" lIns="0" tIns="0" rIns="0" bIns="0" rtlCol="0" anchor="ctr"/>
          <a:lstStyle/>
          <a:p>
            <a:pPr marL="0" indent="0">
              <a:buNone/>
            </a:pPr>
            <a:r>
              <a:rPr lang="en-US" sz="1500" b="1" dirty="0">
                <a:solidFill>
                  <a:srgbClr val="0F172A"/>
                </a:solidFill>
              </a:rPr>
              <a:t>Liveness chủ động</a:t>
            </a:r>
            <a:endParaRPr lang="en-US" sz="1500" dirty="0"/>
          </a:p>
        </p:txBody>
      </p:sp>
      <p:sp>
        <p:nvSpPr>
          <p:cNvPr id="20" name="Text 18"/>
          <p:cNvSpPr/>
          <p:nvPr/>
        </p:nvSpPr>
        <p:spPr>
          <a:xfrm>
            <a:off x="1600200" y="3950208"/>
            <a:ext cx="3840480" cy="347472"/>
          </a:xfrm>
          <a:prstGeom prst="rect">
            <a:avLst/>
          </a:prstGeom>
          <a:noFill/>
          <a:ln/>
        </p:spPr>
        <p:txBody>
          <a:bodyPr wrap="square" lIns="0" tIns="0" rIns="0" bIns="0" rtlCol="0" anchor="ctr">
            <a:normAutofit lnSpcReduction="10000"/>
          </a:bodyPr>
          <a:lstStyle/>
          <a:p>
            <a:pPr marL="0" indent="0">
              <a:buNone/>
            </a:pPr>
            <a:r>
              <a:rPr lang="en-US" sz="1240" dirty="0">
                <a:solidFill>
                  <a:srgbClr val="6B7280"/>
                </a:solidFill>
              </a:rPr>
              <a:t>Có thể mở rộng bằng chớp mắt, mỉm cười hoặc quay đầu.</a:t>
            </a:r>
            <a:endParaRPr lang="en-US" sz="1240" dirty="0"/>
          </a:p>
        </p:txBody>
      </p:sp>
      <p:sp>
        <p:nvSpPr>
          <p:cNvPr id="21" name="Shape 19"/>
          <p:cNvSpPr/>
          <p:nvPr/>
        </p:nvSpPr>
        <p:spPr>
          <a:xfrm>
            <a:off x="6263640" y="3383280"/>
            <a:ext cx="5074920" cy="1097280"/>
          </a:xfrm>
          <a:prstGeom prst="roundRect">
            <a:avLst>
              <a:gd name="adj" fmla="val 4167"/>
            </a:avLst>
          </a:prstGeom>
          <a:solidFill>
            <a:srgbClr val="FFFFFF"/>
          </a:solidFill>
          <a:ln w="12700">
            <a:solidFill>
              <a:srgbClr val="E2E8F0"/>
            </a:solidFill>
            <a:prstDash val="solid"/>
          </a:ln>
        </p:spPr>
      </p:sp>
      <p:sp>
        <p:nvSpPr>
          <p:cNvPr id="22" name="Text 20"/>
          <p:cNvSpPr/>
          <p:nvPr/>
        </p:nvSpPr>
        <p:spPr>
          <a:xfrm>
            <a:off x="6492240" y="3675888"/>
            <a:ext cx="502920" cy="320040"/>
          </a:xfrm>
          <a:prstGeom prst="rect">
            <a:avLst/>
          </a:prstGeom>
          <a:noFill/>
          <a:ln/>
        </p:spPr>
        <p:txBody>
          <a:bodyPr wrap="square" lIns="0" tIns="0" rIns="0" bIns="0" rtlCol="0" anchor="ctr"/>
          <a:lstStyle/>
          <a:p>
            <a:pPr marL="0" indent="0">
              <a:buNone/>
            </a:pPr>
            <a:r>
              <a:rPr lang="en-US" sz="1800" b="1" dirty="0">
                <a:solidFill>
                  <a:srgbClr val="2563EB"/>
                </a:solidFill>
              </a:rPr>
              <a:t>04</a:t>
            </a:r>
            <a:endParaRPr lang="en-US" sz="1800" dirty="0"/>
          </a:p>
        </p:txBody>
      </p:sp>
      <p:sp>
        <p:nvSpPr>
          <p:cNvPr id="23" name="Text 21"/>
          <p:cNvSpPr/>
          <p:nvPr/>
        </p:nvSpPr>
        <p:spPr>
          <a:xfrm>
            <a:off x="7132320" y="3602736"/>
            <a:ext cx="3840480" cy="228600"/>
          </a:xfrm>
          <a:prstGeom prst="rect">
            <a:avLst/>
          </a:prstGeom>
          <a:noFill/>
          <a:ln/>
        </p:spPr>
        <p:txBody>
          <a:bodyPr wrap="square" lIns="0" tIns="0" rIns="0" bIns="0" rtlCol="0" anchor="ctr"/>
          <a:lstStyle/>
          <a:p>
            <a:pPr marL="0" indent="0">
              <a:buNone/>
            </a:pPr>
            <a:r>
              <a:rPr lang="en-US" sz="1500" b="1" dirty="0">
                <a:solidFill>
                  <a:srgbClr val="0F172A"/>
                </a:solidFill>
              </a:rPr>
              <a:t>Ngữ cảnh nghiệp vụ</a:t>
            </a:r>
            <a:endParaRPr lang="en-US" sz="1500" dirty="0"/>
          </a:p>
        </p:txBody>
      </p:sp>
      <p:sp>
        <p:nvSpPr>
          <p:cNvPr id="24" name="Text 22"/>
          <p:cNvSpPr/>
          <p:nvPr/>
        </p:nvSpPr>
        <p:spPr>
          <a:xfrm>
            <a:off x="7132320" y="3950208"/>
            <a:ext cx="3840480" cy="347472"/>
          </a:xfrm>
          <a:prstGeom prst="rect">
            <a:avLst/>
          </a:prstGeom>
          <a:noFill/>
          <a:ln/>
        </p:spPr>
        <p:txBody>
          <a:bodyPr wrap="square" lIns="0" tIns="0" rIns="0" bIns="0" rtlCol="0" anchor="ctr">
            <a:normAutofit lnSpcReduction="10000"/>
          </a:bodyPr>
          <a:lstStyle/>
          <a:p>
            <a:pPr marL="0" indent="0">
              <a:buNone/>
            </a:pPr>
            <a:r>
              <a:rPr lang="en-US" sz="1240" dirty="0">
                <a:solidFill>
                  <a:srgbClr val="6B7280"/>
                </a:solidFill>
              </a:rPr>
              <a:t>Kiểm tra phiên, lớp, thời gian và chống điểm danh trùng.</a:t>
            </a:r>
            <a:endParaRPr lang="en-US" sz="1240" dirty="0"/>
          </a:p>
        </p:txBody>
      </p:sp>
      <p:sp>
        <p:nvSpPr>
          <p:cNvPr id="25" name="Text 23"/>
          <p:cNvSpPr/>
          <p:nvPr/>
        </p:nvSpPr>
        <p:spPr>
          <a:xfrm>
            <a:off x="822960" y="5166360"/>
            <a:ext cx="2011680" cy="228600"/>
          </a:xfrm>
          <a:prstGeom prst="rect">
            <a:avLst/>
          </a:prstGeom>
          <a:noFill/>
          <a:ln/>
        </p:spPr>
        <p:txBody>
          <a:bodyPr wrap="square" lIns="0" tIns="0" rIns="0" bIns="0" rtlCol="0" anchor="ctr"/>
          <a:lstStyle/>
          <a:p>
            <a:pPr marL="0" indent="0">
              <a:buNone/>
            </a:pPr>
            <a:r>
              <a:rPr lang="en-US" sz="1500" b="1" dirty="0">
                <a:solidFill>
                  <a:srgbClr val="DC2626"/>
                </a:solidFill>
              </a:rPr>
              <a:t>Lưu ý khi bảo vệ</a:t>
            </a:r>
            <a:endParaRPr lang="en-US" sz="1500" dirty="0"/>
          </a:p>
        </p:txBody>
      </p:sp>
      <p:sp>
        <p:nvSpPr>
          <p:cNvPr id="26" name="Text 24"/>
          <p:cNvSpPr/>
          <p:nvPr/>
        </p:nvSpPr>
        <p:spPr>
          <a:xfrm>
            <a:off x="2628900" y="5127731"/>
            <a:ext cx="8229600" cy="274320"/>
          </a:xfrm>
          <a:prstGeom prst="rect">
            <a:avLst/>
          </a:prstGeom>
          <a:noFill/>
          <a:ln/>
        </p:spPr>
        <p:txBody>
          <a:bodyPr wrap="square" lIns="0" tIns="0" rIns="0" bIns="0" rtlCol="0" anchor="ctr">
            <a:normAutofit fontScale="92500"/>
          </a:bodyPr>
          <a:lstStyle/>
          <a:p>
            <a:pPr marL="0" indent="0">
              <a:buNone/>
            </a:pPr>
            <a:r>
              <a:rPr lang="en-US" sz="1350" dirty="0">
                <a:solidFill>
                  <a:srgbClr val="111827"/>
                </a:solidFill>
              </a:rPr>
              <a:t>Chưa công bố FAR/FRR/EER vì chưa có đủ số đếm TP/TN/FP/FN theo từng kiểu giả mạo. Đây là hướng cần đo bổ sung.</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1814048" y="0"/>
            <a:ext cx="374904" cy="6858000"/>
          </a:xfrm>
          <a:prstGeom prst="rect">
            <a:avLst/>
          </a:prstGeom>
          <a:solidFill>
            <a:srgbClr val="2563EB"/>
          </a:solidFill>
          <a:ln w="12700">
            <a:solidFill>
              <a:srgbClr val="2563EB"/>
            </a:solidFill>
            <a:prstDash val="solid"/>
          </a:ln>
        </p:spPr>
      </p:sp>
      <p:sp>
        <p:nvSpPr>
          <p:cNvPr id="3" name="Text 1"/>
          <p:cNvSpPr/>
          <p:nvPr/>
        </p:nvSpPr>
        <p:spPr>
          <a:xfrm>
            <a:off x="603504" y="347472"/>
            <a:ext cx="1463040" cy="228600"/>
          </a:xfrm>
          <a:prstGeom prst="rect">
            <a:avLst/>
          </a:prstGeom>
          <a:noFill/>
          <a:ln/>
        </p:spPr>
        <p:txBody>
          <a:bodyPr wrap="square" lIns="0" tIns="0" rIns="0" bIns="0" rtlCol="0" anchor="ctr"/>
          <a:lstStyle/>
          <a:p>
            <a:pPr marL="0" indent="0">
              <a:buNone/>
            </a:pPr>
            <a:r>
              <a:rPr lang="en-US" sz="1000" b="1" dirty="0">
                <a:solidFill>
                  <a:srgbClr val="2563EB"/>
                </a:solidFill>
              </a:rPr>
              <a:t>MTU FACE</a:t>
            </a:r>
            <a:endParaRPr lang="en-US" sz="1000" dirty="0"/>
          </a:p>
        </p:txBody>
      </p:sp>
      <p:sp>
        <p:nvSpPr>
          <p:cNvPr id="4" name="Text 2"/>
          <p:cNvSpPr/>
          <p:nvPr/>
        </p:nvSpPr>
        <p:spPr>
          <a:xfrm>
            <a:off x="603504" y="804672"/>
            <a:ext cx="10515600" cy="548640"/>
          </a:xfrm>
          <a:prstGeom prst="rect">
            <a:avLst/>
          </a:prstGeom>
          <a:noFill/>
          <a:ln/>
        </p:spPr>
        <p:txBody>
          <a:bodyPr wrap="square" lIns="0" tIns="0" rIns="0" bIns="0" rtlCol="0" anchor="ctr">
            <a:normAutofit/>
          </a:bodyPr>
          <a:lstStyle/>
          <a:p>
            <a:pPr marL="0" indent="0">
              <a:buNone/>
            </a:pPr>
            <a:r>
              <a:rPr lang="en-US" sz="2800" b="1" dirty="0">
                <a:solidFill>
                  <a:srgbClr val="0F172A"/>
                </a:solidFill>
              </a:rPr>
              <a:t>Ba nhóm người dùng và nghiệp vụ chính</a:t>
            </a:r>
            <a:endParaRPr lang="en-US" sz="2800" dirty="0"/>
          </a:p>
        </p:txBody>
      </p:sp>
      <p:sp>
        <p:nvSpPr>
          <p:cNvPr id="5" name="Shape 3"/>
          <p:cNvSpPr/>
          <p:nvPr/>
        </p:nvSpPr>
        <p:spPr>
          <a:xfrm>
            <a:off x="530352" y="1417320"/>
            <a:ext cx="10881360" cy="0"/>
          </a:xfrm>
          <a:prstGeom prst="line">
            <a:avLst/>
          </a:prstGeom>
          <a:noFill/>
          <a:ln w="12700">
            <a:solidFill>
              <a:srgbClr val="CBD5E1"/>
            </a:solidFill>
            <a:prstDash val="solid"/>
          </a:ln>
        </p:spPr>
      </p:sp>
      <p:sp>
        <p:nvSpPr>
          <p:cNvPr id="6" name="Shape 4"/>
          <p:cNvSpPr/>
          <p:nvPr/>
        </p:nvSpPr>
        <p:spPr>
          <a:xfrm>
            <a:off x="530352" y="6492240"/>
            <a:ext cx="10881360" cy="0"/>
          </a:xfrm>
          <a:prstGeom prst="line">
            <a:avLst/>
          </a:prstGeom>
          <a:noFill/>
          <a:ln w="10160">
            <a:solidFill>
              <a:srgbClr val="CBD5E1"/>
            </a:solidFill>
            <a:prstDash val="solid"/>
          </a:ln>
        </p:spPr>
      </p:sp>
      <p:sp>
        <p:nvSpPr>
          <p:cNvPr id="7" name="Text 5"/>
          <p:cNvSpPr/>
          <p:nvPr/>
        </p:nvSpPr>
        <p:spPr>
          <a:xfrm>
            <a:off x="603504" y="6565392"/>
            <a:ext cx="4389120" cy="137160"/>
          </a:xfrm>
          <a:prstGeom prst="rect">
            <a:avLst/>
          </a:prstGeom>
          <a:noFill/>
          <a:ln/>
        </p:spPr>
        <p:txBody>
          <a:bodyPr wrap="square" lIns="0" tIns="0" rIns="0" bIns="0" rtlCol="0" anchor="ctr"/>
          <a:lstStyle/>
          <a:p>
            <a:pPr marL="0" indent="0">
              <a:buNone/>
            </a:pPr>
            <a:r>
              <a:rPr lang="en-US" sz="800" dirty="0">
                <a:solidFill>
                  <a:srgbClr val="6B7280"/>
                </a:solidFill>
              </a:rPr>
              <a:t>ĐỒ ÁN TỐT NGHIỆP • KỸ THUẬT PHẦN MỀM</a:t>
            </a:r>
            <a:endParaRPr lang="en-US" sz="800" dirty="0"/>
          </a:p>
        </p:txBody>
      </p:sp>
      <p:sp>
        <p:nvSpPr>
          <p:cNvPr id="8" name="Text 6"/>
          <p:cNvSpPr/>
          <p:nvPr/>
        </p:nvSpPr>
        <p:spPr>
          <a:xfrm>
            <a:off x="11109960" y="6547104"/>
            <a:ext cx="274320" cy="182880"/>
          </a:xfrm>
          <a:prstGeom prst="rect">
            <a:avLst/>
          </a:prstGeom>
          <a:noFill/>
          <a:ln/>
        </p:spPr>
        <p:txBody>
          <a:bodyPr wrap="square" lIns="0" tIns="0" rIns="0" bIns="0" rtlCol="0" anchor="ctr"/>
          <a:lstStyle/>
          <a:p>
            <a:pPr marL="0" indent="0" algn="r">
              <a:buNone/>
            </a:pPr>
            <a:r>
              <a:rPr lang="en-US" sz="900" dirty="0">
                <a:solidFill>
                  <a:srgbClr val="6B7280"/>
                </a:solidFill>
              </a:rPr>
              <a:t>10</a:t>
            </a:r>
            <a:endParaRPr lang="en-US" sz="900" dirty="0"/>
          </a:p>
        </p:txBody>
      </p:sp>
      <p:pic>
        <p:nvPicPr>
          <p:cNvPr id="9" name="Image 0" descr="/mnt/data/unz/ppt/media/image4.png"/>
          <p:cNvPicPr>
            <a:picLocks noChangeAspect="1"/>
          </p:cNvPicPr>
          <p:nvPr/>
        </p:nvPicPr>
        <p:blipFill>
          <a:blip r:embed="rId3"/>
          <a:stretch>
            <a:fillRect/>
          </a:stretch>
        </p:blipFill>
        <p:spPr>
          <a:xfrm>
            <a:off x="1195493" y="1600200"/>
            <a:ext cx="7301653" cy="4480560"/>
          </a:xfrm>
          <a:prstGeom prst="rect">
            <a:avLst/>
          </a:prstGeom>
        </p:spPr>
      </p:pic>
      <p:sp>
        <p:nvSpPr>
          <p:cNvPr id="10" name="Text 7"/>
          <p:cNvSpPr/>
          <p:nvPr/>
        </p:nvSpPr>
        <p:spPr>
          <a:xfrm>
            <a:off x="8732520" y="1810512"/>
            <a:ext cx="2194560" cy="256032"/>
          </a:xfrm>
          <a:prstGeom prst="rect">
            <a:avLst/>
          </a:prstGeom>
          <a:noFill/>
          <a:ln/>
        </p:spPr>
        <p:txBody>
          <a:bodyPr wrap="square" lIns="0" tIns="0" rIns="0" bIns="0" rtlCol="0" anchor="ctr"/>
          <a:lstStyle/>
          <a:p>
            <a:pPr marL="0" indent="0">
              <a:buNone/>
            </a:pPr>
            <a:r>
              <a:rPr lang="en-US" sz="1800" b="1" dirty="0">
                <a:solidFill>
                  <a:srgbClr val="2563EB"/>
                </a:solidFill>
              </a:rPr>
              <a:t>Vai trò chính</a:t>
            </a:r>
            <a:endParaRPr lang="en-US" sz="1800" dirty="0"/>
          </a:p>
        </p:txBody>
      </p:sp>
      <p:sp>
        <p:nvSpPr>
          <p:cNvPr id="11" name="Text 8"/>
          <p:cNvSpPr/>
          <p:nvPr/>
        </p:nvSpPr>
        <p:spPr>
          <a:xfrm>
            <a:off x="8823960" y="2286000"/>
            <a:ext cx="2514600" cy="2103120"/>
          </a:xfrm>
          <a:prstGeom prst="rect">
            <a:avLst/>
          </a:prstGeom>
          <a:noFill/>
          <a:ln/>
        </p:spPr>
        <p:txBody>
          <a:bodyPr wrap="square" lIns="254" tIns="254" rIns="254" bIns="254" rtlCol="0" anchor="ctr">
            <a:normAutofit/>
          </a:bodyPr>
          <a:lstStyle/>
          <a:p>
            <a:r>
              <a:rPr lang="en-US" sz="1320" dirty="0">
                <a:solidFill>
                  <a:srgbClr val="111827"/>
                </a:solidFill>
              </a:rPr>
              <a:t>Quản trị viên: quản lý tài khoản, sinh viên, lớp học, cảnh báo và báo cáo.</a:t>
            </a:r>
            <a:endParaRPr lang="en-US" sz="1320" dirty="0"/>
          </a:p>
          <a:p>
            <a:r>
              <a:rPr lang="en-US" sz="1320" dirty="0">
                <a:solidFill>
                  <a:srgbClr val="111827"/>
                </a:solidFill>
              </a:rPr>
              <a:t>Giảng viên: mở/dừng phiên điểm danh, theo dõi lịch sử và thống kê.</a:t>
            </a:r>
            <a:endParaRPr lang="en-US" sz="1320" dirty="0"/>
          </a:p>
          <a:p>
            <a:r>
              <a:rPr lang="en-US" sz="1320" dirty="0">
                <a:solidFill>
                  <a:srgbClr val="111827"/>
                </a:solidFill>
              </a:rPr>
              <a:t>Sinh viên: đăng ký khuôn mặt, theo dõi chuyên cần, gửi đơn xin phép.</a:t>
            </a:r>
            <a:endParaRPr lang="en-US" sz="13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1814048" y="0"/>
            <a:ext cx="374904" cy="6858000"/>
          </a:xfrm>
          <a:prstGeom prst="rect">
            <a:avLst/>
          </a:prstGeom>
          <a:solidFill>
            <a:srgbClr val="2563EB"/>
          </a:solidFill>
          <a:ln w="12700">
            <a:solidFill>
              <a:srgbClr val="2563EB"/>
            </a:solidFill>
            <a:prstDash val="solid"/>
          </a:ln>
        </p:spPr>
      </p:sp>
      <p:sp>
        <p:nvSpPr>
          <p:cNvPr id="3" name="Text 1"/>
          <p:cNvSpPr/>
          <p:nvPr/>
        </p:nvSpPr>
        <p:spPr>
          <a:xfrm>
            <a:off x="603504" y="347472"/>
            <a:ext cx="1463040" cy="228600"/>
          </a:xfrm>
          <a:prstGeom prst="rect">
            <a:avLst/>
          </a:prstGeom>
          <a:noFill/>
          <a:ln/>
        </p:spPr>
        <p:txBody>
          <a:bodyPr wrap="square" lIns="0" tIns="0" rIns="0" bIns="0" rtlCol="0" anchor="ctr"/>
          <a:lstStyle/>
          <a:p>
            <a:pPr marL="0" indent="0">
              <a:buNone/>
            </a:pPr>
            <a:r>
              <a:rPr lang="en-US" sz="1000" b="1" dirty="0">
                <a:solidFill>
                  <a:srgbClr val="2563EB"/>
                </a:solidFill>
              </a:rPr>
              <a:t>MTU FACE</a:t>
            </a:r>
            <a:endParaRPr lang="en-US" sz="1000" dirty="0"/>
          </a:p>
        </p:txBody>
      </p:sp>
      <p:sp>
        <p:nvSpPr>
          <p:cNvPr id="4" name="Text 2"/>
          <p:cNvSpPr/>
          <p:nvPr/>
        </p:nvSpPr>
        <p:spPr>
          <a:xfrm>
            <a:off x="603504" y="804672"/>
            <a:ext cx="10515600" cy="548640"/>
          </a:xfrm>
          <a:prstGeom prst="rect">
            <a:avLst/>
          </a:prstGeom>
          <a:noFill/>
          <a:ln/>
        </p:spPr>
        <p:txBody>
          <a:bodyPr wrap="square" lIns="0" tIns="0" rIns="0" bIns="0" rtlCol="0" anchor="ctr">
            <a:normAutofit/>
          </a:bodyPr>
          <a:lstStyle/>
          <a:p>
            <a:pPr marL="0" indent="0">
              <a:buNone/>
            </a:pPr>
            <a:r>
              <a:rPr lang="en-US" sz="2800" b="1" dirty="0">
                <a:solidFill>
                  <a:srgbClr val="0F172A"/>
                </a:solidFill>
              </a:rPr>
              <a:t>Luồng điểm danh qua Camera/Kiosk</a:t>
            </a:r>
            <a:endParaRPr lang="en-US" sz="2800" dirty="0"/>
          </a:p>
        </p:txBody>
      </p:sp>
      <p:sp>
        <p:nvSpPr>
          <p:cNvPr id="5" name="Shape 3"/>
          <p:cNvSpPr/>
          <p:nvPr/>
        </p:nvSpPr>
        <p:spPr>
          <a:xfrm>
            <a:off x="530352" y="1417320"/>
            <a:ext cx="10881360" cy="0"/>
          </a:xfrm>
          <a:prstGeom prst="line">
            <a:avLst/>
          </a:prstGeom>
          <a:noFill/>
          <a:ln w="12700">
            <a:solidFill>
              <a:srgbClr val="CBD5E1"/>
            </a:solidFill>
            <a:prstDash val="solid"/>
          </a:ln>
        </p:spPr>
      </p:sp>
      <p:sp>
        <p:nvSpPr>
          <p:cNvPr id="6" name="Shape 4"/>
          <p:cNvSpPr/>
          <p:nvPr/>
        </p:nvSpPr>
        <p:spPr>
          <a:xfrm>
            <a:off x="530352" y="6492240"/>
            <a:ext cx="10881360" cy="0"/>
          </a:xfrm>
          <a:prstGeom prst="line">
            <a:avLst/>
          </a:prstGeom>
          <a:noFill/>
          <a:ln w="10160">
            <a:solidFill>
              <a:srgbClr val="CBD5E1"/>
            </a:solidFill>
            <a:prstDash val="solid"/>
          </a:ln>
        </p:spPr>
      </p:sp>
      <p:sp>
        <p:nvSpPr>
          <p:cNvPr id="7" name="Text 5"/>
          <p:cNvSpPr/>
          <p:nvPr/>
        </p:nvSpPr>
        <p:spPr>
          <a:xfrm>
            <a:off x="603504" y="6565392"/>
            <a:ext cx="4389120" cy="137160"/>
          </a:xfrm>
          <a:prstGeom prst="rect">
            <a:avLst/>
          </a:prstGeom>
          <a:noFill/>
          <a:ln/>
        </p:spPr>
        <p:txBody>
          <a:bodyPr wrap="square" lIns="0" tIns="0" rIns="0" bIns="0" rtlCol="0" anchor="ctr"/>
          <a:lstStyle/>
          <a:p>
            <a:pPr marL="0" indent="0">
              <a:buNone/>
            </a:pPr>
            <a:r>
              <a:rPr lang="en-US" sz="800" dirty="0">
                <a:solidFill>
                  <a:srgbClr val="6B7280"/>
                </a:solidFill>
              </a:rPr>
              <a:t>ĐỒ ÁN TỐT NGHIỆP • KỸ THUẬT PHẦN MỀM</a:t>
            </a:r>
            <a:endParaRPr lang="en-US" sz="800" dirty="0"/>
          </a:p>
        </p:txBody>
      </p:sp>
      <p:sp>
        <p:nvSpPr>
          <p:cNvPr id="8" name="Text 6"/>
          <p:cNvSpPr/>
          <p:nvPr/>
        </p:nvSpPr>
        <p:spPr>
          <a:xfrm>
            <a:off x="11109960" y="6547104"/>
            <a:ext cx="274320" cy="182880"/>
          </a:xfrm>
          <a:prstGeom prst="rect">
            <a:avLst/>
          </a:prstGeom>
          <a:noFill/>
          <a:ln/>
        </p:spPr>
        <p:txBody>
          <a:bodyPr wrap="square" lIns="0" tIns="0" rIns="0" bIns="0" rtlCol="0" anchor="ctr"/>
          <a:lstStyle/>
          <a:p>
            <a:pPr marL="0" indent="0" algn="r">
              <a:buNone/>
            </a:pPr>
            <a:r>
              <a:rPr lang="en-US" sz="900" dirty="0">
                <a:solidFill>
                  <a:srgbClr val="6B7280"/>
                </a:solidFill>
              </a:rPr>
              <a:t>11</a:t>
            </a:r>
            <a:endParaRPr lang="en-US" sz="900" dirty="0"/>
          </a:p>
        </p:txBody>
      </p:sp>
      <p:pic>
        <p:nvPicPr>
          <p:cNvPr id="9" name="Image 0" descr="/mnt/data/unz/ppt/media/image5.png"/>
          <p:cNvPicPr>
            <a:picLocks noChangeAspect="1"/>
          </p:cNvPicPr>
          <p:nvPr/>
        </p:nvPicPr>
        <p:blipFill>
          <a:blip r:embed="rId3"/>
          <a:stretch>
            <a:fillRect/>
          </a:stretch>
        </p:blipFill>
        <p:spPr>
          <a:xfrm>
            <a:off x="2444327" y="1645920"/>
            <a:ext cx="7227147" cy="44348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1814048" y="0"/>
            <a:ext cx="374904" cy="6858000"/>
          </a:xfrm>
          <a:prstGeom prst="rect">
            <a:avLst/>
          </a:prstGeom>
          <a:solidFill>
            <a:srgbClr val="2563EB"/>
          </a:solidFill>
          <a:ln w="12700">
            <a:solidFill>
              <a:srgbClr val="2563EB"/>
            </a:solidFill>
            <a:prstDash val="solid"/>
          </a:ln>
        </p:spPr>
      </p:sp>
      <p:sp>
        <p:nvSpPr>
          <p:cNvPr id="3" name="Text 1"/>
          <p:cNvSpPr/>
          <p:nvPr/>
        </p:nvSpPr>
        <p:spPr>
          <a:xfrm>
            <a:off x="603504" y="347472"/>
            <a:ext cx="1463040" cy="228600"/>
          </a:xfrm>
          <a:prstGeom prst="rect">
            <a:avLst/>
          </a:prstGeom>
          <a:noFill/>
          <a:ln/>
        </p:spPr>
        <p:txBody>
          <a:bodyPr wrap="square" lIns="0" tIns="0" rIns="0" bIns="0" rtlCol="0" anchor="ctr"/>
          <a:lstStyle/>
          <a:p>
            <a:pPr marL="0" indent="0">
              <a:buNone/>
            </a:pPr>
            <a:r>
              <a:rPr lang="en-US" sz="1000" b="1" dirty="0">
                <a:solidFill>
                  <a:srgbClr val="2563EB"/>
                </a:solidFill>
              </a:rPr>
              <a:t>MTU FACE</a:t>
            </a:r>
            <a:endParaRPr lang="en-US" sz="1000" dirty="0"/>
          </a:p>
        </p:txBody>
      </p:sp>
      <p:sp>
        <p:nvSpPr>
          <p:cNvPr id="4" name="Text 2"/>
          <p:cNvSpPr/>
          <p:nvPr/>
        </p:nvSpPr>
        <p:spPr>
          <a:xfrm>
            <a:off x="603504" y="804672"/>
            <a:ext cx="10515600" cy="548640"/>
          </a:xfrm>
          <a:prstGeom prst="rect">
            <a:avLst/>
          </a:prstGeom>
          <a:noFill/>
          <a:ln/>
        </p:spPr>
        <p:txBody>
          <a:bodyPr wrap="square" lIns="0" tIns="0" rIns="0" bIns="0" rtlCol="0" anchor="ctr">
            <a:normAutofit/>
          </a:bodyPr>
          <a:lstStyle/>
          <a:p>
            <a:pPr marL="0" indent="0">
              <a:buNone/>
            </a:pPr>
            <a:r>
              <a:rPr lang="en-US" sz="2800" b="1" dirty="0">
                <a:solidFill>
                  <a:srgbClr val="0F172A"/>
                </a:solidFill>
              </a:rPr>
              <a:t>Cơ sở dữ liệu và giao tiếp hệ thống</a:t>
            </a:r>
            <a:endParaRPr lang="en-US" sz="2800" dirty="0"/>
          </a:p>
        </p:txBody>
      </p:sp>
      <p:sp>
        <p:nvSpPr>
          <p:cNvPr id="5" name="Shape 3"/>
          <p:cNvSpPr/>
          <p:nvPr/>
        </p:nvSpPr>
        <p:spPr>
          <a:xfrm>
            <a:off x="530352" y="1417320"/>
            <a:ext cx="10881360" cy="0"/>
          </a:xfrm>
          <a:prstGeom prst="line">
            <a:avLst/>
          </a:prstGeom>
          <a:noFill/>
          <a:ln w="12700">
            <a:solidFill>
              <a:srgbClr val="CBD5E1"/>
            </a:solidFill>
            <a:prstDash val="solid"/>
          </a:ln>
        </p:spPr>
      </p:sp>
      <p:sp>
        <p:nvSpPr>
          <p:cNvPr id="6" name="Shape 4"/>
          <p:cNvSpPr/>
          <p:nvPr/>
        </p:nvSpPr>
        <p:spPr>
          <a:xfrm>
            <a:off x="530352" y="6492240"/>
            <a:ext cx="10881360" cy="0"/>
          </a:xfrm>
          <a:prstGeom prst="line">
            <a:avLst/>
          </a:prstGeom>
          <a:noFill/>
          <a:ln w="10160">
            <a:solidFill>
              <a:srgbClr val="CBD5E1"/>
            </a:solidFill>
            <a:prstDash val="solid"/>
          </a:ln>
        </p:spPr>
      </p:sp>
      <p:sp>
        <p:nvSpPr>
          <p:cNvPr id="7" name="Text 5"/>
          <p:cNvSpPr/>
          <p:nvPr/>
        </p:nvSpPr>
        <p:spPr>
          <a:xfrm>
            <a:off x="603504" y="6565392"/>
            <a:ext cx="4389120" cy="137160"/>
          </a:xfrm>
          <a:prstGeom prst="rect">
            <a:avLst/>
          </a:prstGeom>
          <a:noFill/>
          <a:ln/>
        </p:spPr>
        <p:txBody>
          <a:bodyPr wrap="square" lIns="0" tIns="0" rIns="0" bIns="0" rtlCol="0" anchor="ctr"/>
          <a:lstStyle/>
          <a:p>
            <a:pPr marL="0" indent="0">
              <a:buNone/>
            </a:pPr>
            <a:r>
              <a:rPr lang="en-US" sz="800" dirty="0">
                <a:solidFill>
                  <a:srgbClr val="6B7280"/>
                </a:solidFill>
              </a:rPr>
              <a:t>ĐỒ ÁN TỐT NGHIỆP • KỸ THUẬT PHẦN MỀM</a:t>
            </a:r>
            <a:endParaRPr lang="en-US" sz="800" dirty="0"/>
          </a:p>
        </p:txBody>
      </p:sp>
      <p:sp>
        <p:nvSpPr>
          <p:cNvPr id="8" name="Text 6"/>
          <p:cNvSpPr/>
          <p:nvPr/>
        </p:nvSpPr>
        <p:spPr>
          <a:xfrm>
            <a:off x="11109960" y="6547104"/>
            <a:ext cx="274320" cy="182880"/>
          </a:xfrm>
          <a:prstGeom prst="rect">
            <a:avLst/>
          </a:prstGeom>
          <a:noFill/>
          <a:ln/>
        </p:spPr>
        <p:txBody>
          <a:bodyPr wrap="square" lIns="0" tIns="0" rIns="0" bIns="0" rtlCol="0" anchor="ctr"/>
          <a:lstStyle/>
          <a:p>
            <a:pPr marL="0" indent="0" algn="r">
              <a:buNone/>
            </a:pPr>
            <a:r>
              <a:rPr lang="en-US" sz="900" dirty="0">
                <a:solidFill>
                  <a:srgbClr val="6B7280"/>
                </a:solidFill>
              </a:rPr>
              <a:t>12</a:t>
            </a:r>
            <a:endParaRPr lang="en-US" sz="900" dirty="0"/>
          </a:p>
        </p:txBody>
      </p:sp>
      <p:pic>
        <p:nvPicPr>
          <p:cNvPr id="9" name="Image 0" descr="/mnt/data/unz/ppt/media/image7.png"/>
          <p:cNvPicPr>
            <a:picLocks noChangeAspect="1"/>
          </p:cNvPicPr>
          <p:nvPr/>
        </p:nvPicPr>
        <p:blipFill>
          <a:blip r:embed="rId3"/>
          <a:stretch>
            <a:fillRect/>
          </a:stretch>
        </p:blipFill>
        <p:spPr>
          <a:xfrm>
            <a:off x="1912620" y="1600200"/>
            <a:ext cx="3855720" cy="4526280"/>
          </a:xfrm>
          <a:prstGeom prst="rect">
            <a:avLst/>
          </a:prstGeom>
        </p:spPr>
      </p:pic>
      <p:sp>
        <p:nvSpPr>
          <p:cNvPr id="10" name="Text 7"/>
          <p:cNvSpPr/>
          <p:nvPr/>
        </p:nvSpPr>
        <p:spPr>
          <a:xfrm>
            <a:off x="7360920" y="1828800"/>
            <a:ext cx="2743200" cy="256032"/>
          </a:xfrm>
          <a:prstGeom prst="rect">
            <a:avLst/>
          </a:prstGeom>
          <a:noFill/>
          <a:ln/>
        </p:spPr>
        <p:txBody>
          <a:bodyPr wrap="square" lIns="0" tIns="0" rIns="0" bIns="0" rtlCol="0" anchor="ctr"/>
          <a:lstStyle/>
          <a:p>
            <a:pPr marL="0" indent="0">
              <a:buNone/>
            </a:pPr>
            <a:r>
              <a:rPr lang="en-US" sz="1800" b="1" dirty="0">
                <a:solidFill>
                  <a:srgbClr val="2563EB"/>
                </a:solidFill>
              </a:rPr>
              <a:t>Giao tiếp hệ thống</a:t>
            </a:r>
            <a:endParaRPr lang="en-US" sz="1800" dirty="0"/>
          </a:p>
        </p:txBody>
      </p:sp>
      <p:sp>
        <p:nvSpPr>
          <p:cNvPr id="11" name="Text 8"/>
          <p:cNvSpPr/>
          <p:nvPr/>
        </p:nvSpPr>
        <p:spPr>
          <a:xfrm>
            <a:off x="7543800" y="2331720"/>
            <a:ext cx="3657600" cy="2286000"/>
          </a:xfrm>
          <a:prstGeom prst="rect">
            <a:avLst/>
          </a:prstGeom>
          <a:noFill/>
          <a:ln/>
        </p:spPr>
        <p:txBody>
          <a:bodyPr wrap="square" lIns="254" tIns="254" rIns="254" bIns="254" rtlCol="0" anchor="ctr">
            <a:normAutofit/>
          </a:bodyPr>
          <a:lstStyle/>
          <a:p>
            <a:r>
              <a:rPr lang="en-US" sz="1420" dirty="0">
                <a:solidFill>
                  <a:srgbClr val="111827"/>
                </a:solidFill>
              </a:rPr>
              <a:t>REST API phục vụ Web và các thao tác nghiệp vụ.</a:t>
            </a:r>
            <a:endParaRPr lang="en-US" sz="1420" dirty="0"/>
          </a:p>
          <a:p>
            <a:r>
              <a:rPr lang="en-US" sz="1420" dirty="0">
                <a:solidFill>
                  <a:srgbClr val="111827"/>
                </a:solidFill>
              </a:rPr>
              <a:t>JWT/session và phân quyền theo vai trò.</a:t>
            </a:r>
            <a:endParaRPr lang="en-US" sz="1420" dirty="0"/>
          </a:p>
          <a:p>
            <a:r>
              <a:rPr lang="en-US" sz="1420" dirty="0">
                <a:solidFill>
                  <a:srgbClr val="111827"/>
                </a:solidFill>
              </a:rPr>
              <a:t>Socket.IO cập nhật Kiosk thời gian thực.</a:t>
            </a:r>
            <a:endParaRPr lang="en-US" sz="1420" dirty="0"/>
          </a:p>
          <a:p>
            <a:r>
              <a:rPr lang="en-US" sz="1420" dirty="0">
                <a:solidFill>
                  <a:srgbClr val="111827"/>
                </a:solidFill>
              </a:rPr>
              <a:t>SQL Server lưu sinh viên, lớp học, phiên, điểm danh, camera, cảnh báo và đơn xin phép.</a:t>
            </a:r>
            <a:endParaRPr lang="en-US" sz="14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1814048" y="0"/>
            <a:ext cx="374904" cy="6858000"/>
          </a:xfrm>
          <a:prstGeom prst="rect">
            <a:avLst/>
          </a:prstGeom>
          <a:solidFill>
            <a:srgbClr val="2563EB"/>
          </a:solidFill>
          <a:ln w="12700">
            <a:solidFill>
              <a:srgbClr val="2563EB"/>
            </a:solidFill>
            <a:prstDash val="solid"/>
          </a:ln>
        </p:spPr>
      </p:sp>
      <p:sp>
        <p:nvSpPr>
          <p:cNvPr id="3" name="Text 1"/>
          <p:cNvSpPr/>
          <p:nvPr/>
        </p:nvSpPr>
        <p:spPr>
          <a:xfrm>
            <a:off x="603504" y="347472"/>
            <a:ext cx="1463040" cy="228600"/>
          </a:xfrm>
          <a:prstGeom prst="rect">
            <a:avLst/>
          </a:prstGeom>
          <a:noFill/>
          <a:ln/>
        </p:spPr>
        <p:txBody>
          <a:bodyPr wrap="square" lIns="0" tIns="0" rIns="0" bIns="0" rtlCol="0" anchor="ctr"/>
          <a:lstStyle/>
          <a:p>
            <a:pPr marL="0" indent="0">
              <a:buNone/>
            </a:pPr>
            <a:r>
              <a:rPr lang="en-US" sz="1000" b="1" dirty="0">
                <a:solidFill>
                  <a:srgbClr val="2563EB"/>
                </a:solidFill>
              </a:rPr>
              <a:t>MTU FACE</a:t>
            </a:r>
            <a:endParaRPr lang="en-US" sz="1000" dirty="0"/>
          </a:p>
        </p:txBody>
      </p:sp>
      <p:sp>
        <p:nvSpPr>
          <p:cNvPr id="4" name="Text 2"/>
          <p:cNvSpPr/>
          <p:nvPr/>
        </p:nvSpPr>
        <p:spPr>
          <a:xfrm>
            <a:off x="603504" y="804672"/>
            <a:ext cx="10515600" cy="548640"/>
          </a:xfrm>
          <a:prstGeom prst="rect">
            <a:avLst/>
          </a:prstGeom>
          <a:noFill/>
          <a:ln/>
        </p:spPr>
        <p:txBody>
          <a:bodyPr wrap="square" lIns="0" tIns="0" rIns="0" bIns="0" rtlCol="0" anchor="ctr">
            <a:normAutofit/>
          </a:bodyPr>
          <a:lstStyle/>
          <a:p>
            <a:pPr marL="0" indent="0">
              <a:buNone/>
            </a:pPr>
            <a:r>
              <a:rPr lang="en-US" sz="2800" b="1" dirty="0">
                <a:solidFill>
                  <a:srgbClr val="0F172A"/>
                </a:solidFill>
              </a:rPr>
              <a:t>Web Admin quản lý và giám sát toàn bộ hệ thống</a:t>
            </a:r>
            <a:endParaRPr lang="en-US" sz="2800" dirty="0"/>
          </a:p>
        </p:txBody>
      </p:sp>
      <p:sp>
        <p:nvSpPr>
          <p:cNvPr id="5" name="Shape 3"/>
          <p:cNvSpPr/>
          <p:nvPr/>
        </p:nvSpPr>
        <p:spPr>
          <a:xfrm>
            <a:off x="530352" y="1417320"/>
            <a:ext cx="10881360" cy="0"/>
          </a:xfrm>
          <a:prstGeom prst="line">
            <a:avLst/>
          </a:prstGeom>
          <a:noFill/>
          <a:ln w="12700">
            <a:solidFill>
              <a:srgbClr val="CBD5E1"/>
            </a:solidFill>
            <a:prstDash val="solid"/>
          </a:ln>
        </p:spPr>
      </p:sp>
      <p:sp>
        <p:nvSpPr>
          <p:cNvPr id="6" name="Shape 4"/>
          <p:cNvSpPr/>
          <p:nvPr/>
        </p:nvSpPr>
        <p:spPr>
          <a:xfrm>
            <a:off x="530352" y="6492240"/>
            <a:ext cx="10881360" cy="0"/>
          </a:xfrm>
          <a:prstGeom prst="line">
            <a:avLst/>
          </a:prstGeom>
          <a:noFill/>
          <a:ln w="10160">
            <a:solidFill>
              <a:srgbClr val="CBD5E1"/>
            </a:solidFill>
            <a:prstDash val="solid"/>
          </a:ln>
        </p:spPr>
      </p:sp>
      <p:sp>
        <p:nvSpPr>
          <p:cNvPr id="7" name="Text 5"/>
          <p:cNvSpPr/>
          <p:nvPr/>
        </p:nvSpPr>
        <p:spPr>
          <a:xfrm>
            <a:off x="603504" y="6565392"/>
            <a:ext cx="4389120" cy="137160"/>
          </a:xfrm>
          <a:prstGeom prst="rect">
            <a:avLst/>
          </a:prstGeom>
          <a:noFill/>
          <a:ln/>
        </p:spPr>
        <p:txBody>
          <a:bodyPr wrap="square" lIns="0" tIns="0" rIns="0" bIns="0" rtlCol="0" anchor="ctr"/>
          <a:lstStyle/>
          <a:p>
            <a:pPr marL="0" indent="0">
              <a:buNone/>
            </a:pPr>
            <a:r>
              <a:rPr lang="en-US" sz="800" dirty="0">
                <a:solidFill>
                  <a:srgbClr val="6B7280"/>
                </a:solidFill>
              </a:rPr>
              <a:t>ĐỒ ÁN TỐT NGHIỆP • KỸ THUẬT PHẦN MỀM</a:t>
            </a:r>
            <a:endParaRPr lang="en-US" sz="800" dirty="0"/>
          </a:p>
        </p:txBody>
      </p:sp>
      <p:sp>
        <p:nvSpPr>
          <p:cNvPr id="8" name="Text 6"/>
          <p:cNvSpPr/>
          <p:nvPr/>
        </p:nvSpPr>
        <p:spPr>
          <a:xfrm>
            <a:off x="11109960" y="6547104"/>
            <a:ext cx="274320" cy="182880"/>
          </a:xfrm>
          <a:prstGeom prst="rect">
            <a:avLst/>
          </a:prstGeom>
          <a:noFill/>
          <a:ln/>
        </p:spPr>
        <p:txBody>
          <a:bodyPr wrap="square" lIns="0" tIns="0" rIns="0" bIns="0" rtlCol="0" anchor="ctr"/>
          <a:lstStyle/>
          <a:p>
            <a:pPr marL="0" indent="0" algn="r">
              <a:buNone/>
            </a:pPr>
            <a:r>
              <a:rPr lang="en-US" sz="900" dirty="0">
                <a:solidFill>
                  <a:srgbClr val="6B7280"/>
                </a:solidFill>
              </a:rPr>
              <a:t>13</a:t>
            </a:r>
            <a:endParaRPr lang="en-US" sz="900" dirty="0"/>
          </a:p>
        </p:txBody>
      </p:sp>
      <p:pic>
        <p:nvPicPr>
          <p:cNvPr id="9" name="Image 0" descr="/mnt/data/unz/ppt/media/image8.png"/>
          <p:cNvPicPr>
            <a:picLocks noChangeAspect="1"/>
          </p:cNvPicPr>
          <p:nvPr/>
        </p:nvPicPr>
        <p:blipFill>
          <a:blip r:embed="rId3"/>
          <a:stretch>
            <a:fillRect/>
          </a:stretch>
        </p:blipFill>
        <p:spPr>
          <a:xfrm>
            <a:off x="1292964" y="1691640"/>
            <a:ext cx="8386871" cy="4160520"/>
          </a:xfrm>
          <a:prstGeom prst="rect">
            <a:avLst/>
          </a:prstGeom>
        </p:spPr>
      </p:pic>
      <p:sp>
        <p:nvSpPr>
          <p:cNvPr id="10" name="Text 7"/>
          <p:cNvSpPr/>
          <p:nvPr/>
        </p:nvSpPr>
        <p:spPr>
          <a:xfrm>
            <a:off x="9875520" y="1828800"/>
            <a:ext cx="1325880" cy="274320"/>
          </a:xfrm>
          <a:prstGeom prst="rect">
            <a:avLst/>
          </a:prstGeom>
          <a:noFill/>
          <a:ln/>
        </p:spPr>
        <p:txBody>
          <a:bodyPr wrap="square" lIns="0" tIns="0" rIns="0" bIns="0" rtlCol="0" anchor="ctr"/>
          <a:lstStyle/>
          <a:p>
            <a:pPr marL="0" indent="0">
              <a:buNone/>
            </a:pPr>
            <a:r>
              <a:rPr lang="en-US" sz="1400" b="1" dirty="0">
                <a:solidFill>
                  <a:srgbClr val="2563EB"/>
                </a:solidFill>
              </a:rPr>
              <a:t>Chức năng nổi bật</a:t>
            </a:r>
            <a:endParaRPr lang="en-US" sz="1400" dirty="0"/>
          </a:p>
        </p:txBody>
      </p:sp>
      <p:sp>
        <p:nvSpPr>
          <p:cNvPr id="11" name="Text 8"/>
          <p:cNvSpPr/>
          <p:nvPr/>
        </p:nvSpPr>
        <p:spPr>
          <a:xfrm>
            <a:off x="9829800" y="2331720"/>
            <a:ext cx="1508760" cy="2057400"/>
          </a:xfrm>
          <a:prstGeom prst="rect">
            <a:avLst/>
          </a:prstGeom>
          <a:noFill/>
          <a:ln/>
        </p:spPr>
        <p:txBody>
          <a:bodyPr wrap="square" lIns="254" tIns="254" rIns="254" bIns="254" rtlCol="0" anchor="ctr">
            <a:normAutofit/>
          </a:bodyPr>
          <a:lstStyle/>
          <a:p>
            <a:r>
              <a:rPr lang="en-US" sz="1120" dirty="0">
                <a:solidFill>
                  <a:srgbClr val="111827"/>
                </a:solidFill>
              </a:rPr>
              <a:t>Quản lý sinh viên, lớp học, lịch học.</a:t>
            </a:r>
            <a:endParaRPr lang="en-US" sz="1120" dirty="0"/>
          </a:p>
          <a:p>
            <a:r>
              <a:rPr lang="en-US" sz="1120" dirty="0">
                <a:solidFill>
                  <a:srgbClr val="111827"/>
                </a:solidFill>
              </a:rPr>
              <a:t>Mở/dừng phiên điểm danh.</a:t>
            </a:r>
            <a:endParaRPr lang="en-US" sz="1120" dirty="0"/>
          </a:p>
          <a:p>
            <a:r>
              <a:rPr lang="en-US" sz="1120" dirty="0">
                <a:solidFill>
                  <a:srgbClr val="111827"/>
                </a:solidFill>
              </a:rPr>
              <a:t>Quản lý camera và cảnh báo.</a:t>
            </a:r>
            <a:endParaRPr lang="en-US" sz="1120" dirty="0"/>
          </a:p>
          <a:p>
            <a:r>
              <a:rPr lang="en-US" sz="1120" dirty="0">
                <a:solidFill>
                  <a:srgbClr val="111827"/>
                </a:solidFill>
              </a:rPr>
              <a:t>Thống kê, xuất báo cáo.</a:t>
            </a:r>
            <a:endParaRPr lang="en-US" sz="11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1814048" y="0"/>
            <a:ext cx="374904" cy="6858000"/>
          </a:xfrm>
          <a:prstGeom prst="rect">
            <a:avLst/>
          </a:prstGeom>
          <a:solidFill>
            <a:srgbClr val="2563EB"/>
          </a:solidFill>
          <a:ln w="12700">
            <a:solidFill>
              <a:srgbClr val="2563EB"/>
            </a:solidFill>
            <a:prstDash val="solid"/>
          </a:ln>
        </p:spPr>
      </p:sp>
      <p:sp>
        <p:nvSpPr>
          <p:cNvPr id="3" name="Text 1"/>
          <p:cNvSpPr/>
          <p:nvPr/>
        </p:nvSpPr>
        <p:spPr>
          <a:xfrm>
            <a:off x="603504" y="347472"/>
            <a:ext cx="1463040" cy="228600"/>
          </a:xfrm>
          <a:prstGeom prst="rect">
            <a:avLst/>
          </a:prstGeom>
          <a:noFill/>
          <a:ln/>
        </p:spPr>
        <p:txBody>
          <a:bodyPr wrap="square" lIns="0" tIns="0" rIns="0" bIns="0" rtlCol="0" anchor="ctr"/>
          <a:lstStyle/>
          <a:p>
            <a:pPr marL="0" indent="0">
              <a:buNone/>
            </a:pPr>
            <a:r>
              <a:rPr lang="en-US" sz="1000" b="1" dirty="0">
                <a:solidFill>
                  <a:srgbClr val="2563EB"/>
                </a:solidFill>
              </a:rPr>
              <a:t>MTU FACE</a:t>
            </a:r>
            <a:endParaRPr lang="en-US" sz="1000" dirty="0"/>
          </a:p>
        </p:txBody>
      </p:sp>
      <p:sp>
        <p:nvSpPr>
          <p:cNvPr id="4" name="Text 2"/>
          <p:cNvSpPr/>
          <p:nvPr/>
        </p:nvSpPr>
        <p:spPr>
          <a:xfrm>
            <a:off x="603504" y="804672"/>
            <a:ext cx="10515600" cy="548640"/>
          </a:xfrm>
          <a:prstGeom prst="rect">
            <a:avLst/>
          </a:prstGeom>
          <a:noFill/>
          <a:ln/>
        </p:spPr>
        <p:txBody>
          <a:bodyPr wrap="square" lIns="0" tIns="0" rIns="0" bIns="0" rtlCol="0" anchor="ctr">
            <a:normAutofit/>
          </a:bodyPr>
          <a:lstStyle/>
          <a:p>
            <a:pPr marL="0" indent="0">
              <a:buNone/>
            </a:pPr>
            <a:r>
              <a:rPr lang="en-US" sz="2800" b="1" dirty="0">
                <a:solidFill>
                  <a:srgbClr val="0F172A"/>
                </a:solidFill>
              </a:rPr>
              <a:t>Kiosk hiển thị nhận diện và nhật ký thời gian thực</a:t>
            </a:r>
            <a:endParaRPr lang="en-US" sz="2800" dirty="0"/>
          </a:p>
        </p:txBody>
      </p:sp>
      <p:sp>
        <p:nvSpPr>
          <p:cNvPr id="5" name="Shape 3"/>
          <p:cNvSpPr/>
          <p:nvPr/>
        </p:nvSpPr>
        <p:spPr>
          <a:xfrm>
            <a:off x="530352" y="1417320"/>
            <a:ext cx="10881360" cy="0"/>
          </a:xfrm>
          <a:prstGeom prst="line">
            <a:avLst/>
          </a:prstGeom>
          <a:noFill/>
          <a:ln w="12700">
            <a:solidFill>
              <a:srgbClr val="CBD5E1"/>
            </a:solidFill>
            <a:prstDash val="solid"/>
          </a:ln>
        </p:spPr>
      </p:sp>
      <p:sp>
        <p:nvSpPr>
          <p:cNvPr id="6" name="Shape 4"/>
          <p:cNvSpPr/>
          <p:nvPr/>
        </p:nvSpPr>
        <p:spPr>
          <a:xfrm>
            <a:off x="530352" y="6492240"/>
            <a:ext cx="10881360" cy="0"/>
          </a:xfrm>
          <a:prstGeom prst="line">
            <a:avLst/>
          </a:prstGeom>
          <a:noFill/>
          <a:ln w="10160">
            <a:solidFill>
              <a:srgbClr val="CBD5E1"/>
            </a:solidFill>
            <a:prstDash val="solid"/>
          </a:ln>
        </p:spPr>
      </p:sp>
      <p:sp>
        <p:nvSpPr>
          <p:cNvPr id="7" name="Text 5"/>
          <p:cNvSpPr/>
          <p:nvPr/>
        </p:nvSpPr>
        <p:spPr>
          <a:xfrm>
            <a:off x="603504" y="6565392"/>
            <a:ext cx="4389120" cy="137160"/>
          </a:xfrm>
          <a:prstGeom prst="rect">
            <a:avLst/>
          </a:prstGeom>
          <a:noFill/>
          <a:ln/>
        </p:spPr>
        <p:txBody>
          <a:bodyPr wrap="square" lIns="0" tIns="0" rIns="0" bIns="0" rtlCol="0" anchor="ctr"/>
          <a:lstStyle/>
          <a:p>
            <a:pPr marL="0" indent="0">
              <a:buNone/>
            </a:pPr>
            <a:r>
              <a:rPr lang="en-US" sz="800" dirty="0">
                <a:solidFill>
                  <a:srgbClr val="6B7280"/>
                </a:solidFill>
              </a:rPr>
              <a:t>ĐỒ ÁN TỐT NGHIỆP • KỸ THUẬT PHẦN MỀM</a:t>
            </a:r>
            <a:endParaRPr lang="en-US" sz="800" dirty="0"/>
          </a:p>
        </p:txBody>
      </p:sp>
      <p:sp>
        <p:nvSpPr>
          <p:cNvPr id="8" name="Text 6"/>
          <p:cNvSpPr/>
          <p:nvPr/>
        </p:nvSpPr>
        <p:spPr>
          <a:xfrm>
            <a:off x="11109960" y="6547104"/>
            <a:ext cx="274320" cy="182880"/>
          </a:xfrm>
          <a:prstGeom prst="rect">
            <a:avLst/>
          </a:prstGeom>
          <a:noFill/>
          <a:ln/>
        </p:spPr>
        <p:txBody>
          <a:bodyPr wrap="square" lIns="0" tIns="0" rIns="0" bIns="0" rtlCol="0" anchor="ctr"/>
          <a:lstStyle/>
          <a:p>
            <a:pPr marL="0" indent="0" algn="r">
              <a:buNone/>
            </a:pPr>
            <a:r>
              <a:rPr lang="en-US" sz="900" dirty="0">
                <a:solidFill>
                  <a:srgbClr val="6B7280"/>
                </a:solidFill>
              </a:rPr>
              <a:t>14</a:t>
            </a:r>
            <a:endParaRPr lang="en-US" sz="900" dirty="0"/>
          </a:p>
        </p:txBody>
      </p:sp>
      <p:pic>
        <p:nvPicPr>
          <p:cNvPr id="9" name="Image 0" descr="/mnt/data/unz/ppt/media/image9.png"/>
          <p:cNvPicPr>
            <a:picLocks noChangeAspect="1"/>
          </p:cNvPicPr>
          <p:nvPr/>
        </p:nvPicPr>
        <p:blipFill>
          <a:blip r:embed="rId3"/>
          <a:stretch>
            <a:fillRect/>
          </a:stretch>
        </p:blipFill>
        <p:spPr>
          <a:xfrm>
            <a:off x="1542664" y="1645920"/>
            <a:ext cx="8984752" cy="44805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1814048" y="0"/>
            <a:ext cx="374904" cy="6858000"/>
          </a:xfrm>
          <a:prstGeom prst="rect">
            <a:avLst/>
          </a:prstGeom>
          <a:solidFill>
            <a:srgbClr val="2563EB"/>
          </a:solidFill>
          <a:ln w="12700">
            <a:solidFill>
              <a:srgbClr val="2563EB"/>
            </a:solidFill>
            <a:prstDash val="solid"/>
          </a:ln>
        </p:spPr>
      </p:sp>
      <p:sp>
        <p:nvSpPr>
          <p:cNvPr id="3" name="Text 1"/>
          <p:cNvSpPr/>
          <p:nvPr/>
        </p:nvSpPr>
        <p:spPr>
          <a:xfrm>
            <a:off x="603504" y="347472"/>
            <a:ext cx="1463040" cy="228600"/>
          </a:xfrm>
          <a:prstGeom prst="rect">
            <a:avLst/>
          </a:prstGeom>
          <a:noFill/>
          <a:ln/>
        </p:spPr>
        <p:txBody>
          <a:bodyPr wrap="square" lIns="0" tIns="0" rIns="0" bIns="0" rtlCol="0" anchor="ctr"/>
          <a:lstStyle/>
          <a:p>
            <a:pPr marL="0" indent="0">
              <a:buNone/>
            </a:pPr>
            <a:r>
              <a:rPr lang="en-US" sz="1000" b="1" dirty="0">
                <a:solidFill>
                  <a:srgbClr val="2563EB"/>
                </a:solidFill>
              </a:rPr>
              <a:t>MTU FACE</a:t>
            </a:r>
            <a:endParaRPr lang="en-US" sz="1000" dirty="0"/>
          </a:p>
        </p:txBody>
      </p:sp>
      <p:sp>
        <p:nvSpPr>
          <p:cNvPr id="4" name="Text 2"/>
          <p:cNvSpPr/>
          <p:nvPr/>
        </p:nvSpPr>
        <p:spPr>
          <a:xfrm>
            <a:off x="603504" y="804672"/>
            <a:ext cx="10515600" cy="548640"/>
          </a:xfrm>
          <a:prstGeom prst="rect">
            <a:avLst/>
          </a:prstGeom>
          <a:noFill/>
          <a:ln/>
        </p:spPr>
        <p:txBody>
          <a:bodyPr wrap="square" lIns="0" tIns="0" rIns="0" bIns="0" rtlCol="0" anchor="ctr">
            <a:normAutofit/>
          </a:bodyPr>
          <a:lstStyle/>
          <a:p>
            <a:pPr marL="0" indent="0">
              <a:buNone/>
            </a:pPr>
            <a:r>
              <a:rPr lang="en-US" sz="2800" b="1" dirty="0">
                <a:solidFill>
                  <a:srgbClr val="0F172A"/>
                </a:solidFill>
              </a:rPr>
              <a:t>Kết quả thực nghiệm trên giao diện Kiosk</a:t>
            </a:r>
            <a:endParaRPr lang="en-US" sz="2800" dirty="0"/>
          </a:p>
        </p:txBody>
      </p:sp>
      <p:sp>
        <p:nvSpPr>
          <p:cNvPr id="5" name="Shape 3"/>
          <p:cNvSpPr/>
          <p:nvPr/>
        </p:nvSpPr>
        <p:spPr>
          <a:xfrm>
            <a:off x="530352" y="1417320"/>
            <a:ext cx="10881360" cy="0"/>
          </a:xfrm>
          <a:prstGeom prst="line">
            <a:avLst/>
          </a:prstGeom>
          <a:noFill/>
          <a:ln w="12700">
            <a:solidFill>
              <a:srgbClr val="CBD5E1"/>
            </a:solidFill>
            <a:prstDash val="solid"/>
          </a:ln>
        </p:spPr>
      </p:sp>
      <p:sp>
        <p:nvSpPr>
          <p:cNvPr id="6" name="Shape 4"/>
          <p:cNvSpPr/>
          <p:nvPr/>
        </p:nvSpPr>
        <p:spPr>
          <a:xfrm>
            <a:off x="530352" y="6492240"/>
            <a:ext cx="10881360" cy="0"/>
          </a:xfrm>
          <a:prstGeom prst="line">
            <a:avLst/>
          </a:prstGeom>
          <a:noFill/>
          <a:ln w="10160">
            <a:solidFill>
              <a:srgbClr val="CBD5E1"/>
            </a:solidFill>
            <a:prstDash val="solid"/>
          </a:ln>
        </p:spPr>
      </p:sp>
      <p:sp>
        <p:nvSpPr>
          <p:cNvPr id="7" name="Text 5"/>
          <p:cNvSpPr/>
          <p:nvPr/>
        </p:nvSpPr>
        <p:spPr>
          <a:xfrm>
            <a:off x="603504" y="6565392"/>
            <a:ext cx="4389120" cy="137160"/>
          </a:xfrm>
          <a:prstGeom prst="rect">
            <a:avLst/>
          </a:prstGeom>
          <a:noFill/>
          <a:ln/>
        </p:spPr>
        <p:txBody>
          <a:bodyPr wrap="square" lIns="0" tIns="0" rIns="0" bIns="0" rtlCol="0" anchor="ctr"/>
          <a:lstStyle/>
          <a:p>
            <a:pPr marL="0" indent="0">
              <a:buNone/>
            </a:pPr>
            <a:r>
              <a:rPr lang="en-US" sz="800" dirty="0">
                <a:solidFill>
                  <a:srgbClr val="6B7280"/>
                </a:solidFill>
              </a:rPr>
              <a:t>ĐỒ ÁN TỐT NGHIỆP • KỸ THUẬT PHẦN MỀM</a:t>
            </a:r>
            <a:endParaRPr lang="en-US" sz="800" dirty="0"/>
          </a:p>
        </p:txBody>
      </p:sp>
      <p:sp>
        <p:nvSpPr>
          <p:cNvPr id="8" name="Text 6"/>
          <p:cNvSpPr/>
          <p:nvPr/>
        </p:nvSpPr>
        <p:spPr>
          <a:xfrm>
            <a:off x="11109960" y="6547104"/>
            <a:ext cx="274320" cy="182880"/>
          </a:xfrm>
          <a:prstGeom prst="rect">
            <a:avLst/>
          </a:prstGeom>
          <a:noFill/>
          <a:ln/>
        </p:spPr>
        <p:txBody>
          <a:bodyPr wrap="square" lIns="0" tIns="0" rIns="0" bIns="0" rtlCol="0" anchor="ctr"/>
          <a:lstStyle/>
          <a:p>
            <a:pPr marL="0" indent="0" algn="r">
              <a:buNone/>
            </a:pPr>
            <a:r>
              <a:rPr lang="en-US" sz="900" dirty="0">
                <a:solidFill>
                  <a:srgbClr val="6B7280"/>
                </a:solidFill>
              </a:rPr>
              <a:t>15</a:t>
            </a:r>
            <a:endParaRPr lang="en-US" sz="900" dirty="0"/>
          </a:p>
        </p:txBody>
      </p:sp>
      <p:pic>
        <p:nvPicPr>
          <p:cNvPr id="9" name="Image 0" descr="/mnt/data/16.jpg"/>
          <p:cNvPicPr>
            <a:picLocks noChangeAspect="1"/>
          </p:cNvPicPr>
          <p:nvPr/>
        </p:nvPicPr>
        <p:blipFill>
          <a:blip r:embed="rId3"/>
          <a:srcRect l="3421" r="3421"/>
          <a:stretch/>
        </p:blipFill>
        <p:spPr>
          <a:xfrm>
            <a:off x="685800" y="1664208"/>
            <a:ext cx="5303520" cy="3291840"/>
          </a:xfrm>
          <a:prstGeom prst="rect">
            <a:avLst/>
          </a:prstGeom>
        </p:spPr>
      </p:pic>
      <p:pic>
        <p:nvPicPr>
          <p:cNvPr id="10" name="Image 1" descr="/mnt/data/17.jpg"/>
          <p:cNvPicPr>
            <a:picLocks noChangeAspect="1"/>
          </p:cNvPicPr>
          <p:nvPr/>
        </p:nvPicPr>
        <p:blipFill>
          <a:blip r:embed="rId4"/>
          <a:srcRect l="5180" r="5180"/>
          <a:stretch/>
        </p:blipFill>
        <p:spPr>
          <a:xfrm>
            <a:off x="6199632" y="1664208"/>
            <a:ext cx="5303520" cy="3291840"/>
          </a:xfrm>
          <a:prstGeom prst="rect">
            <a:avLst/>
          </a:prstGeom>
        </p:spPr>
      </p:pic>
      <p:sp>
        <p:nvSpPr>
          <p:cNvPr id="11" name="Shape 7"/>
          <p:cNvSpPr/>
          <p:nvPr/>
        </p:nvSpPr>
        <p:spPr>
          <a:xfrm>
            <a:off x="1005840" y="5257800"/>
            <a:ext cx="4480560" cy="365760"/>
          </a:xfrm>
          <a:prstGeom prst="roundRect">
            <a:avLst>
              <a:gd name="adj" fmla="val 15000"/>
            </a:avLst>
          </a:prstGeom>
          <a:solidFill>
            <a:srgbClr val="059669"/>
          </a:solidFill>
          <a:ln w="12700">
            <a:solidFill>
              <a:srgbClr val="059669"/>
            </a:solidFill>
            <a:prstDash val="solid"/>
          </a:ln>
        </p:spPr>
      </p:sp>
      <p:sp>
        <p:nvSpPr>
          <p:cNvPr id="12" name="Text 8"/>
          <p:cNvSpPr/>
          <p:nvPr/>
        </p:nvSpPr>
        <p:spPr>
          <a:xfrm>
            <a:off x="1060704" y="5312664"/>
            <a:ext cx="4370832" cy="274320"/>
          </a:xfrm>
          <a:prstGeom prst="rect">
            <a:avLst/>
          </a:prstGeom>
          <a:noFill/>
          <a:ln/>
        </p:spPr>
        <p:txBody>
          <a:bodyPr wrap="square" lIns="0" tIns="0" rIns="0" bIns="0" rtlCol="0" anchor="ctr"/>
          <a:lstStyle/>
          <a:p>
            <a:pPr marL="0" indent="0" algn="ctr">
              <a:buNone/>
            </a:pPr>
            <a:r>
              <a:rPr lang="en-US" sz="1100" b="1" dirty="0">
                <a:solidFill>
                  <a:srgbClr val="FFFFFF"/>
                </a:solidFill>
              </a:rPr>
              <a:t>Trường hợp hợp lệ: Access Granted</a:t>
            </a:r>
            <a:endParaRPr lang="en-US" sz="1100" dirty="0"/>
          </a:p>
        </p:txBody>
      </p:sp>
      <p:sp>
        <p:nvSpPr>
          <p:cNvPr id="13" name="Shape 9"/>
          <p:cNvSpPr/>
          <p:nvPr/>
        </p:nvSpPr>
        <p:spPr>
          <a:xfrm>
            <a:off x="6629400" y="5257800"/>
            <a:ext cx="4114800" cy="365760"/>
          </a:xfrm>
          <a:prstGeom prst="roundRect">
            <a:avLst>
              <a:gd name="adj" fmla="val 15000"/>
            </a:avLst>
          </a:prstGeom>
          <a:solidFill>
            <a:srgbClr val="DC2626"/>
          </a:solidFill>
          <a:ln w="12700">
            <a:solidFill>
              <a:srgbClr val="DC2626"/>
            </a:solidFill>
            <a:prstDash val="solid"/>
          </a:ln>
        </p:spPr>
      </p:sp>
      <p:sp>
        <p:nvSpPr>
          <p:cNvPr id="14" name="Text 10"/>
          <p:cNvSpPr/>
          <p:nvPr/>
        </p:nvSpPr>
        <p:spPr>
          <a:xfrm>
            <a:off x="6684264" y="5312664"/>
            <a:ext cx="4005072" cy="274320"/>
          </a:xfrm>
          <a:prstGeom prst="rect">
            <a:avLst/>
          </a:prstGeom>
          <a:noFill/>
          <a:ln/>
        </p:spPr>
        <p:txBody>
          <a:bodyPr wrap="square" lIns="0" tIns="0" rIns="0" bIns="0" rtlCol="0" anchor="ctr"/>
          <a:lstStyle/>
          <a:p>
            <a:pPr marL="0" indent="0" algn="ctr">
              <a:buNone/>
            </a:pPr>
            <a:r>
              <a:rPr lang="en-US" sz="1100" b="1" dirty="0">
                <a:solidFill>
                  <a:srgbClr val="FFFFFF"/>
                </a:solidFill>
              </a:rPr>
              <a:t>Không hợp lệ: Access Denied</a:t>
            </a:r>
            <a:endParaRPr lang="en-US" sz="1100" dirty="0"/>
          </a:p>
        </p:txBody>
      </p:sp>
      <p:sp>
        <p:nvSpPr>
          <p:cNvPr id="15" name="Text 11"/>
          <p:cNvSpPr/>
          <p:nvPr/>
        </p:nvSpPr>
        <p:spPr>
          <a:xfrm>
            <a:off x="960120" y="5870448"/>
            <a:ext cx="10058400" cy="256032"/>
          </a:xfrm>
          <a:prstGeom prst="rect">
            <a:avLst/>
          </a:prstGeom>
          <a:noFill/>
          <a:ln/>
        </p:spPr>
        <p:txBody>
          <a:bodyPr wrap="square" lIns="0" tIns="0" rIns="0" bIns="0" rtlCol="0" anchor="ctr"/>
          <a:lstStyle/>
          <a:p>
            <a:pPr marL="0" indent="0" algn="ctr">
              <a:buNone/>
            </a:pPr>
            <a:r>
              <a:rPr lang="en-US" sz="1320" b="1" dirty="0">
                <a:solidFill>
                  <a:srgbClr val="0F172A"/>
                </a:solidFill>
              </a:rPr>
              <a:t>Kết luận quan sát: hệ thống vừa có thể ghi nhận đúng khi đủ điều kiện, vừa từ chối khi không đủ cơ sở xác định danh tính/liveness.</a:t>
            </a:r>
            <a:endParaRPr lang="en-US" sz="13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1814048" y="0"/>
            <a:ext cx="374904" cy="6858000"/>
          </a:xfrm>
          <a:prstGeom prst="rect">
            <a:avLst/>
          </a:prstGeom>
          <a:solidFill>
            <a:srgbClr val="2563EB"/>
          </a:solidFill>
          <a:ln w="12700">
            <a:solidFill>
              <a:srgbClr val="2563EB"/>
            </a:solidFill>
            <a:prstDash val="solid"/>
          </a:ln>
        </p:spPr>
      </p:sp>
      <p:sp>
        <p:nvSpPr>
          <p:cNvPr id="3" name="Text 1"/>
          <p:cNvSpPr/>
          <p:nvPr/>
        </p:nvSpPr>
        <p:spPr>
          <a:xfrm>
            <a:off x="603504" y="347472"/>
            <a:ext cx="1463040" cy="228600"/>
          </a:xfrm>
          <a:prstGeom prst="rect">
            <a:avLst/>
          </a:prstGeom>
          <a:noFill/>
          <a:ln/>
        </p:spPr>
        <p:txBody>
          <a:bodyPr wrap="square" lIns="0" tIns="0" rIns="0" bIns="0" rtlCol="0" anchor="ctr"/>
          <a:lstStyle/>
          <a:p>
            <a:pPr marL="0" indent="0">
              <a:buNone/>
            </a:pPr>
            <a:r>
              <a:rPr lang="en-US" sz="1000" b="1" dirty="0">
                <a:solidFill>
                  <a:srgbClr val="2563EB"/>
                </a:solidFill>
              </a:rPr>
              <a:t>MTU FACE</a:t>
            </a:r>
            <a:endParaRPr lang="en-US" sz="1000" dirty="0"/>
          </a:p>
        </p:txBody>
      </p:sp>
      <p:sp>
        <p:nvSpPr>
          <p:cNvPr id="4" name="Text 2"/>
          <p:cNvSpPr/>
          <p:nvPr/>
        </p:nvSpPr>
        <p:spPr>
          <a:xfrm>
            <a:off x="603504" y="804672"/>
            <a:ext cx="10515600" cy="548640"/>
          </a:xfrm>
          <a:prstGeom prst="rect">
            <a:avLst/>
          </a:prstGeom>
          <a:noFill/>
          <a:ln/>
        </p:spPr>
        <p:txBody>
          <a:bodyPr wrap="square" lIns="0" tIns="0" rIns="0" bIns="0" rtlCol="0" anchor="ctr">
            <a:normAutofit/>
          </a:bodyPr>
          <a:lstStyle/>
          <a:p>
            <a:pPr marL="0" indent="0">
              <a:buNone/>
            </a:pPr>
            <a:r>
              <a:rPr lang="en-US" sz="2800" b="1" dirty="0">
                <a:solidFill>
                  <a:srgbClr val="0F172A"/>
                </a:solidFill>
              </a:rPr>
              <a:t>Ứng dụng Mobile hỗ trợ nghiệp vụ cho người dùng</a:t>
            </a:r>
            <a:endParaRPr lang="en-US" sz="2800" dirty="0"/>
          </a:p>
        </p:txBody>
      </p:sp>
      <p:sp>
        <p:nvSpPr>
          <p:cNvPr id="5" name="Shape 3"/>
          <p:cNvSpPr/>
          <p:nvPr/>
        </p:nvSpPr>
        <p:spPr>
          <a:xfrm>
            <a:off x="530352" y="1417320"/>
            <a:ext cx="10881360" cy="0"/>
          </a:xfrm>
          <a:prstGeom prst="line">
            <a:avLst/>
          </a:prstGeom>
          <a:noFill/>
          <a:ln w="12700">
            <a:solidFill>
              <a:srgbClr val="CBD5E1"/>
            </a:solidFill>
            <a:prstDash val="solid"/>
          </a:ln>
        </p:spPr>
      </p:sp>
      <p:sp>
        <p:nvSpPr>
          <p:cNvPr id="6" name="Shape 4"/>
          <p:cNvSpPr/>
          <p:nvPr/>
        </p:nvSpPr>
        <p:spPr>
          <a:xfrm>
            <a:off x="530352" y="6492240"/>
            <a:ext cx="10881360" cy="0"/>
          </a:xfrm>
          <a:prstGeom prst="line">
            <a:avLst/>
          </a:prstGeom>
          <a:noFill/>
          <a:ln w="10160">
            <a:solidFill>
              <a:srgbClr val="CBD5E1"/>
            </a:solidFill>
            <a:prstDash val="solid"/>
          </a:ln>
        </p:spPr>
      </p:sp>
      <p:sp>
        <p:nvSpPr>
          <p:cNvPr id="7" name="Text 5"/>
          <p:cNvSpPr/>
          <p:nvPr/>
        </p:nvSpPr>
        <p:spPr>
          <a:xfrm>
            <a:off x="603504" y="6565392"/>
            <a:ext cx="4389120" cy="137160"/>
          </a:xfrm>
          <a:prstGeom prst="rect">
            <a:avLst/>
          </a:prstGeom>
          <a:noFill/>
          <a:ln/>
        </p:spPr>
        <p:txBody>
          <a:bodyPr wrap="square" lIns="0" tIns="0" rIns="0" bIns="0" rtlCol="0" anchor="ctr"/>
          <a:lstStyle/>
          <a:p>
            <a:pPr marL="0" indent="0">
              <a:buNone/>
            </a:pPr>
            <a:r>
              <a:rPr lang="en-US" sz="800" dirty="0">
                <a:solidFill>
                  <a:srgbClr val="6B7280"/>
                </a:solidFill>
              </a:rPr>
              <a:t>ĐỒ ÁN TỐT NGHIỆP • KỸ THUẬT PHẦN MỀM</a:t>
            </a:r>
            <a:endParaRPr lang="en-US" sz="800" dirty="0"/>
          </a:p>
        </p:txBody>
      </p:sp>
      <p:sp>
        <p:nvSpPr>
          <p:cNvPr id="8" name="Text 6"/>
          <p:cNvSpPr/>
          <p:nvPr/>
        </p:nvSpPr>
        <p:spPr>
          <a:xfrm>
            <a:off x="11109960" y="6547104"/>
            <a:ext cx="274320" cy="182880"/>
          </a:xfrm>
          <a:prstGeom prst="rect">
            <a:avLst/>
          </a:prstGeom>
          <a:noFill/>
          <a:ln/>
        </p:spPr>
        <p:txBody>
          <a:bodyPr wrap="square" lIns="0" tIns="0" rIns="0" bIns="0" rtlCol="0" anchor="ctr"/>
          <a:lstStyle/>
          <a:p>
            <a:pPr marL="0" indent="0" algn="r">
              <a:buNone/>
            </a:pPr>
            <a:r>
              <a:rPr lang="en-US" sz="900" dirty="0">
                <a:solidFill>
                  <a:srgbClr val="6B7280"/>
                </a:solidFill>
              </a:rPr>
              <a:t>16</a:t>
            </a:r>
            <a:endParaRPr lang="en-US" sz="900" dirty="0"/>
          </a:p>
        </p:txBody>
      </p:sp>
      <p:pic>
        <p:nvPicPr>
          <p:cNvPr id="9" name="Image 0" descr="/mnt/data/unz/ppt/media/image10.png"/>
          <p:cNvPicPr>
            <a:picLocks noChangeAspect="1"/>
          </p:cNvPicPr>
          <p:nvPr/>
        </p:nvPicPr>
        <p:blipFill>
          <a:blip r:embed="rId3"/>
          <a:stretch>
            <a:fillRect/>
          </a:stretch>
        </p:blipFill>
        <p:spPr>
          <a:xfrm>
            <a:off x="1293400" y="1664208"/>
            <a:ext cx="2488120" cy="4480560"/>
          </a:xfrm>
          <a:prstGeom prst="rect">
            <a:avLst/>
          </a:prstGeom>
        </p:spPr>
      </p:pic>
      <p:sp>
        <p:nvSpPr>
          <p:cNvPr id="10" name="Text 7"/>
          <p:cNvSpPr/>
          <p:nvPr/>
        </p:nvSpPr>
        <p:spPr>
          <a:xfrm>
            <a:off x="4572000" y="1783080"/>
            <a:ext cx="2743200" cy="274320"/>
          </a:xfrm>
          <a:prstGeom prst="rect">
            <a:avLst/>
          </a:prstGeom>
          <a:noFill/>
          <a:ln/>
        </p:spPr>
        <p:txBody>
          <a:bodyPr wrap="square" lIns="0" tIns="0" rIns="0" bIns="0" rtlCol="0" anchor="ctr"/>
          <a:lstStyle/>
          <a:p>
            <a:pPr marL="0" indent="0">
              <a:buNone/>
            </a:pPr>
            <a:r>
              <a:rPr lang="en-US" sz="1900" b="1" dirty="0">
                <a:solidFill>
                  <a:srgbClr val="2563EB"/>
                </a:solidFill>
              </a:rPr>
              <a:t>Chức năng chính</a:t>
            </a:r>
            <a:endParaRPr lang="en-US" sz="1900" dirty="0"/>
          </a:p>
        </p:txBody>
      </p:sp>
      <p:sp>
        <p:nvSpPr>
          <p:cNvPr id="11" name="Text 8"/>
          <p:cNvSpPr/>
          <p:nvPr/>
        </p:nvSpPr>
        <p:spPr>
          <a:xfrm>
            <a:off x="4709160" y="2304288"/>
            <a:ext cx="5852160" cy="2651760"/>
          </a:xfrm>
          <a:prstGeom prst="rect">
            <a:avLst/>
          </a:prstGeom>
          <a:noFill/>
          <a:ln/>
        </p:spPr>
        <p:txBody>
          <a:bodyPr wrap="square" lIns="254" tIns="254" rIns="254" bIns="254" rtlCol="0" anchor="ctr">
            <a:normAutofit/>
          </a:bodyPr>
          <a:lstStyle/>
          <a:p>
            <a:r>
              <a:rPr lang="en-US" sz="1550" dirty="0">
                <a:solidFill>
                  <a:srgbClr val="111827"/>
                </a:solidFill>
              </a:rPr>
              <a:t>Đăng ký và quản lý khuôn mặt.</a:t>
            </a:r>
            <a:endParaRPr lang="en-US" sz="1550" dirty="0"/>
          </a:p>
          <a:p>
            <a:r>
              <a:rPr lang="en-US" sz="1550" dirty="0">
                <a:solidFill>
                  <a:srgbClr val="111827"/>
                </a:solidFill>
              </a:rPr>
              <a:t>Quét QR, xác minh GPS và check-in theo phiên.</a:t>
            </a:r>
            <a:endParaRPr lang="en-US" sz="1550" dirty="0"/>
          </a:p>
          <a:p>
            <a:r>
              <a:rPr lang="en-US" sz="1550" dirty="0">
                <a:solidFill>
                  <a:srgbClr val="111827"/>
                </a:solidFill>
              </a:rPr>
              <a:t>Tạo/theo dõi phiên dành cho giảng viên.</a:t>
            </a:r>
            <a:endParaRPr lang="en-US" sz="1550" dirty="0"/>
          </a:p>
          <a:p>
            <a:r>
              <a:rPr lang="en-US" sz="1550" dirty="0">
                <a:solidFill>
                  <a:srgbClr val="111827"/>
                </a:solidFill>
              </a:rPr>
              <a:t>Xem lịch sử, thống kê chuyên cần.</a:t>
            </a:r>
            <a:endParaRPr lang="en-US" sz="1550" dirty="0"/>
          </a:p>
          <a:p>
            <a:r>
              <a:rPr lang="en-US" sz="1550" dirty="0">
                <a:solidFill>
                  <a:srgbClr val="111827"/>
                </a:solidFill>
              </a:rPr>
              <a:t>Nhận thông báo và gửi đơn xin phép.</a:t>
            </a:r>
            <a:endParaRPr lang="en-US" sz="1550" dirty="0"/>
          </a:p>
          <a:p>
            <a:r>
              <a:rPr lang="en-US" sz="1550" dirty="0">
                <a:solidFill>
                  <a:srgbClr val="111827"/>
                </a:solidFill>
              </a:rPr>
              <a:t>Hàng đợi đồng bộ khi mạng không ổn định.</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1814048" y="0"/>
            <a:ext cx="374904" cy="6858000"/>
          </a:xfrm>
          <a:prstGeom prst="rect">
            <a:avLst/>
          </a:prstGeom>
          <a:solidFill>
            <a:srgbClr val="2563EB"/>
          </a:solidFill>
          <a:ln w="12700">
            <a:solidFill>
              <a:srgbClr val="2563EB"/>
            </a:solidFill>
            <a:prstDash val="solid"/>
          </a:ln>
        </p:spPr>
      </p:sp>
      <p:sp>
        <p:nvSpPr>
          <p:cNvPr id="3" name="Text 1"/>
          <p:cNvSpPr/>
          <p:nvPr/>
        </p:nvSpPr>
        <p:spPr>
          <a:xfrm>
            <a:off x="603504" y="347472"/>
            <a:ext cx="1463040" cy="228600"/>
          </a:xfrm>
          <a:prstGeom prst="rect">
            <a:avLst/>
          </a:prstGeom>
          <a:noFill/>
          <a:ln/>
        </p:spPr>
        <p:txBody>
          <a:bodyPr wrap="square" lIns="0" tIns="0" rIns="0" bIns="0" rtlCol="0" anchor="ctr"/>
          <a:lstStyle/>
          <a:p>
            <a:pPr marL="0" indent="0">
              <a:buNone/>
            </a:pPr>
            <a:r>
              <a:rPr lang="en-US" sz="1000" b="1" dirty="0">
                <a:solidFill>
                  <a:srgbClr val="2563EB"/>
                </a:solidFill>
              </a:rPr>
              <a:t>MTU FACE</a:t>
            </a:r>
            <a:endParaRPr lang="en-US" sz="1000" dirty="0"/>
          </a:p>
        </p:txBody>
      </p:sp>
      <p:sp>
        <p:nvSpPr>
          <p:cNvPr id="4" name="Text 2"/>
          <p:cNvSpPr/>
          <p:nvPr/>
        </p:nvSpPr>
        <p:spPr>
          <a:xfrm>
            <a:off x="603504" y="804672"/>
            <a:ext cx="10515600" cy="548640"/>
          </a:xfrm>
          <a:prstGeom prst="rect">
            <a:avLst/>
          </a:prstGeom>
          <a:noFill/>
          <a:ln/>
        </p:spPr>
        <p:txBody>
          <a:bodyPr wrap="square" lIns="0" tIns="0" rIns="0" bIns="0" rtlCol="0" anchor="ctr">
            <a:normAutofit/>
          </a:bodyPr>
          <a:lstStyle/>
          <a:p>
            <a:pPr marL="0" indent="0">
              <a:buNone/>
            </a:pPr>
            <a:r>
              <a:rPr lang="en-US" sz="2800" b="1" dirty="0">
                <a:solidFill>
                  <a:srgbClr val="0F172A"/>
                </a:solidFill>
              </a:rPr>
              <a:t>Kết quả huấn luyện ResNet50</a:t>
            </a:r>
            <a:endParaRPr lang="en-US" sz="2800" dirty="0"/>
          </a:p>
        </p:txBody>
      </p:sp>
      <p:sp>
        <p:nvSpPr>
          <p:cNvPr id="5" name="Shape 3"/>
          <p:cNvSpPr/>
          <p:nvPr/>
        </p:nvSpPr>
        <p:spPr>
          <a:xfrm>
            <a:off x="530352" y="1417320"/>
            <a:ext cx="10881360" cy="0"/>
          </a:xfrm>
          <a:prstGeom prst="line">
            <a:avLst/>
          </a:prstGeom>
          <a:noFill/>
          <a:ln w="12700">
            <a:solidFill>
              <a:srgbClr val="CBD5E1"/>
            </a:solidFill>
            <a:prstDash val="solid"/>
          </a:ln>
        </p:spPr>
      </p:sp>
      <p:sp>
        <p:nvSpPr>
          <p:cNvPr id="6" name="Shape 4"/>
          <p:cNvSpPr/>
          <p:nvPr/>
        </p:nvSpPr>
        <p:spPr>
          <a:xfrm>
            <a:off x="530352" y="6492240"/>
            <a:ext cx="10881360" cy="0"/>
          </a:xfrm>
          <a:prstGeom prst="line">
            <a:avLst/>
          </a:prstGeom>
          <a:noFill/>
          <a:ln w="10160">
            <a:solidFill>
              <a:srgbClr val="CBD5E1"/>
            </a:solidFill>
            <a:prstDash val="solid"/>
          </a:ln>
        </p:spPr>
      </p:sp>
      <p:sp>
        <p:nvSpPr>
          <p:cNvPr id="7" name="Text 5"/>
          <p:cNvSpPr/>
          <p:nvPr/>
        </p:nvSpPr>
        <p:spPr>
          <a:xfrm>
            <a:off x="603504" y="6565392"/>
            <a:ext cx="4389120" cy="137160"/>
          </a:xfrm>
          <a:prstGeom prst="rect">
            <a:avLst/>
          </a:prstGeom>
          <a:noFill/>
          <a:ln/>
        </p:spPr>
        <p:txBody>
          <a:bodyPr wrap="square" lIns="0" tIns="0" rIns="0" bIns="0" rtlCol="0" anchor="ctr"/>
          <a:lstStyle/>
          <a:p>
            <a:pPr marL="0" indent="0">
              <a:buNone/>
            </a:pPr>
            <a:r>
              <a:rPr lang="en-US" sz="800" dirty="0">
                <a:solidFill>
                  <a:srgbClr val="6B7280"/>
                </a:solidFill>
              </a:rPr>
              <a:t>ĐỒ ÁN TỐT NGHIỆP • KỸ THUẬT PHẦN MỀM</a:t>
            </a:r>
            <a:endParaRPr lang="en-US" sz="800" dirty="0"/>
          </a:p>
        </p:txBody>
      </p:sp>
      <p:sp>
        <p:nvSpPr>
          <p:cNvPr id="8" name="Text 6"/>
          <p:cNvSpPr/>
          <p:nvPr/>
        </p:nvSpPr>
        <p:spPr>
          <a:xfrm>
            <a:off x="11109960" y="6547104"/>
            <a:ext cx="274320" cy="182880"/>
          </a:xfrm>
          <a:prstGeom prst="rect">
            <a:avLst/>
          </a:prstGeom>
          <a:noFill/>
          <a:ln/>
        </p:spPr>
        <p:txBody>
          <a:bodyPr wrap="square" lIns="0" tIns="0" rIns="0" bIns="0" rtlCol="0" anchor="ctr"/>
          <a:lstStyle/>
          <a:p>
            <a:pPr marL="0" indent="0" algn="r">
              <a:buNone/>
            </a:pPr>
            <a:r>
              <a:rPr lang="en-US" sz="900" dirty="0">
                <a:solidFill>
                  <a:srgbClr val="6B7280"/>
                </a:solidFill>
              </a:rPr>
              <a:t>17</a:t>
            </a:r>
            <a:endParaRPr lang="en-US" sz="900" dirty="0"/>
          </a:p>
        </p:txBody>
      </p:sp>
      <p:pic>
        <p:nvPicPr>
          <p:cNvPr id="9" name="Image 0" descr="/mnt/data/unz/ppt/media/image11.png"/>
          <p:cNvPicPr>
            <a:picLocks noChangeAspect="1"/>
          </p:cNvPicPr>
          <p:nvPr/>
        </p:nvPicPr>
        <p:blipFill>
          <a:blip r:embed="rId3"/>
          <a:stretch>
            <a:fillRect/>
          </a:stretch>
        </p:blipFill>
        <p:spPr>
          <a:xfrm>
            <a:off x="1170432" y="1691640"/>
            <a:ext cx="9546336" cy="3977640"/>
          </a:xfrm>
          <a:prstGeom prst="rect">
            <a:avLst/>
          </a:prstGeom>
        </p:spPr>
      </p:pic>
      <p:sp>
        <p:nvSpPr>
          <p:cNvPr id="10" name="Text 7"/>
          <p:cNvSpPr/>
          <p:nvPr/>
        </p:nvSpPr>
        <p:spPr>
          <a:xfrm>
            <a:off x="1280160" y="5870448"/>
            <a:ext cx="9235440" cy="256032"/>
          </a:xfrm>
          <a:prstGeom prst="rect">
            <a:avLst/>
          </a:prstGeom>
          <a:noFill/>
          <a:ln/>
        </p:spPr>
        <p:txBody>
          <a:bodyPr wrap="square" lIns="0" tIns="0" rIns="0" bIns="0" rtlCol="0" anchor="ctr"/>
          <a:lstStyle/>
          <a:p>
            <a:pPr marL="0" indent="0" algn="ctr">
              <a:buNone/>
            </a:pPr>
            <a:r>
              <a:rPr lang="en-US" sz="1350" b="1" dirty="0">
                <a:solidFill>
                  <a:srgbClr val="0F172A"/>
                </a:solidFill>
              </a:rPr>
              <a:t>Nhận xét: độ chính xác tăng và loss giảm theo epoch, thể hiện xu hướng hội tụ của một lần huấn luyện được lưu lại.</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1814048" y="0"/>
            <a:ext cx="374904" cy="6858000"/>
          </a:xfrm>
          <a:prstGeom prst="rect">
            <a:avLst/>
          </a:prstGeom>
          <a:solidFill>
            <a:srgbClr val="2563EB"/>
          </a:solidFill>
          <a:ln w="12700">
            <a:solidFill>
              <a:srgbClr val="2563EB"/>
            </a:solidFill>
            <a:prstDash val="solid"/>
          </a:ln>
        </p:spPr>
      </p:sp>
      <p:sp>
        <p:nvSpPr>
          <p:cNvPr id="3" name="Text 1"/>
          <p:cNvSpPr/>
          <p:nvPr/>
        </p:nvSpPr>
        <p:spPr>
          <a:xfrm>
            <a:off x="603504" y="347472"/>
            <a:ext cx="1463040" cy="228600"/>
          </a:xfrm>
          <a:prstGeom prst="rect">
            <a:avLst/>
          </a:prstGeom>
          <a:noFill/>
          <a:ln/>
        </p:spPr>
        <p:txBody>
          <a:bodyPr wrap="square" lIns="0" tIns="0" rIns="0" bIns="0" rtlCol="0" anchor="ctr"/>
          <a:lstStyle/>
          <a:p>
            <a:pPr marL="0" indent="0">
              <a:buNone/>
            </a:pPr>
            <a:r>
              <a:rPr lang="en-US" sz="1000" b="1" dirty="0">
                <a:solidFill>
                  <a:srgbClr val="2563EB"/>
                </a:solidFill>
              </a:rPr>
              <a:t>MTU FACE</a:t>
            </a:r>
            <a:endParaRPr lang="en-US" sz="1000" dirty="0"/>
          </a:p>
        </p:txBody>
      </p:sp>
      <p:sp>
        <p:nvSpPr>
          <p:cNvPr id="4" name="Text 2"/>
          <p:cNvSpPr/>
          <p:nvPr/>
        </p:nvSpPr>
        <p:spPr>
          <a:xfrm>
            <a:off x="603504" y="804672"/>
            <a:ext cx="10515600" cy="548640"/>
          </a:xfrm>
          <a:prstGeom prst="rect">
            <a:avLst/>
          </a:prstGeom>
          <a:noFill/>
          <a:ln/>
        </p:spPr>
        <p:txBody>
          <a:bodyPr wrap="square" lIns="0" tIns="0" rIns="0" bIns="0" rtlCol="0" anchor="ctr">
            <a:normAutofit/>
          </a:bodyPr>
          <a:lstStyle/>
          <a:p>
            <a:pPr marL="0" indent="0">
              <a:buNone/>
            </a:pPr>
            <a:r>
              <a:rPr lang="en-US" sz="2800" b="1" dirty="0">
                <a:solidFill>
                  <a:srgbClr val="0F172A"/>
                </a:solidFill>
              </a:rPr>
              <a:t>Ma trận nhầm lẫn ResNet50: kết quả và giới hạn</a:t>
            </a:r>
            <a:endParaRPr lang="en-US" sz="2800" dirty="0"/>
          </a:p>
        </p:txBody>
      </p:sp>
      <p:sp>
        <p:nvSpPr>
          <p:cNvPr id="5" name="Shape 3"/>
          <p:cNvSpPr/>
          <p:nvPr/>
        </p:nvSpPr>
        <p:spPr>
          <a:xfrm>
            <a:off x="530352" y="1417320"/>
            <a:ext cx="10881360" cy="0"/>
          </a:xfrm>
          <a:prstGeom prst="line">
            <a:avLst/>
          </a:prstGeom>
          <a:noFill/>
          <a:ln w="12700">
            <a:solidFill>
              <a:srgbClr val="CBD5E1"/>
            </a:solidFill>
            <a:prstDash val="solid"/>
          </a:ln>
        </p:spPr>
      </p:sp>
      <p:sp>
        <p:nvSpPr>
          <p:cNvPr id="6" name="Shape 4"/>
          <p:cNvSpPr/>
          <p:nvPr/>
        </p:nvSpPr>
        <p:spPr>
          <a:xfrm>
            <a:off x="530352" y="6492240"/>
            <a:ext cx="10881360" cy="0"/>
          </a:xfrm>
          <a:prstGeom prst="line">
            <a:avLst/>
          </a:prstGeom>
          <a:noFill/>
          <a:ln w="10160">
            <a:solidFill>
              <a:srgbClr val="CBD5E1"/>
            </a:solidFill>
            <a:prstDash val="solid"/>
          </a:ln>
        </p:spPr>
      </p:sp>
      <p:sp>
        <p:nvSpPr>
          <p:cNvPr id="7" name="Text 5"/>
          <p:cNvSpPr/>
          <p:nvPr/>
        </p:nvSpPr>
        <p:spPr>
          <a:xfrm>
            <a:off x="603504" y="6565392"/>
            <a:ext cx="4389120" cy="137160"/>
          </a:xfrm>
          <a:prstGeom prst="rect">
            <a:avLst/>
          </a:prstGeom>
          <a:noFill/>
          <a:ln/>
        </p:spPr>
        <p:txBody>
          <a:bodyPr wrap="square" lIns="0" tIns="0" rIns="0" bIns="0" rtlCol="0" anchor="ctr"/>
          <a:lstStyle/>
          <a:p>
            <a:pPr marL="0" indent="0">
              <a:buNone/>
            </a:pPr>
            <a:r>
              <a:rPr lang="en-US" sz="800" dirty="0">
                <a:solidFill>
                  <a:srgbClr val="6B7280"/>
                </a:solidFill>
              </a:rPr>
              <a:t>ĐỒ ÁN TỐT NGHIỆP • KỸ THUẬT PHẦN MỀM</a:t>
            </a:r>
            <a:endParaRPr lang="en-US" sz="800" dirty="0"/>
          </a:p>
        </p:txBody>
      </p:sp>
      <p:sp>
        <p:nvSpPr>
          <p:cNvPr id="8" name="Text 6"/>
          <p:cNvSpPr/>
          <p:nvPr/>
        </p:nvSpPr>
        <p:spPr>
          <a:xfrm>
            <a:off x="11109960" y="6547104"/>
            <a:ext cx="274320" cy="182880"/>
          </a:xfrm>
          <a:prstGeom prst="rect">
            <a:avLst/>
          </a:prstGeom>
          <a:noFill/>
          <a:ln/>
        </p:spPr>
        <p:txBody>
          <a:bodyPr wrap="square" lIns="0" tIns="0" rIns="0" bIns="0" rtlCol="0" anchor="ctr"/>
          <a:lstStyle/>
          <a:p>
            <a:pPr marL="0" indent="0" algn="r">
              <a:buNone/>
            </a:pPr>
            <a:r>
              <a:rPr lang="en-US" sz="900" dirty="0">
                <a:solidFill>
                  <a:srgbClr val="6B7280"/>
                </a:solidFill>
              </a:rPr>
              <a:t>18</a:t>
            </a:r>
            <a:endParaRPr lang="en-US" sz="900" dirty="0"/>
          </a:p>
        </p:txBody>
      </p:sp>
      <p:pic>
        <p:nvPicPr>
          <p:cNvPr id="9" name="Image 0" descr="/mnt/data/unz/ppt/media/image12.png"/>
          <p:cNvPicPr>
            <a:picLocks noChangeAspect="1"/>
          </p:cNvPicPr>
          <p:nvPr/>
        </p:nvPicPr>
        <p:blipFill>
          <a:blip r:embed="rId3"/>
          <a:stretch>
            <a:fillRect/>
          </a:stretch>
        </p:blipFill>
        <p:spPr>
          <a:xfrm>
            <a:off x="1200150" y="1691640"/>
            <a:ext cx="5372100" cy="4297680"/>
          </a:xfrm>
          <a:prstGeom prst="rect">
            <a:avLst/>
          </a:prstGeom>
        </p:spPr>
      </p:pic>
      <p:sp>
        <p:nvSpPr>
          <p:cNvPr id="10" name="Shape 7"/>
          <p:cNvSpPr/>
          <p:nvPr/>
        </p:nvSpPr>
        <p:spPr>
          <a:xfrm>
            <a:off x="7360920" y="1874520"/>
            <a:ext cx="3474720" cy="1143000"/>
          </a:xfrm>
          <a:prstGeom prst="roundRect">
            <a:avLst>
              <a:gd name="adj" fmla="val 4000"/>
            </a:avLst>
          </a:prstGeom>
          <a:solidFill>
            <a:srgbClr val="EFF6FF"/>
          </a:solidFill>
          <a:ln w="12700">
            <a:solidFill>
              <a:srgbClr val="DBEAFE"/>
            </a:solidFill>
            <a:prstDash val="solid"/>
          </a:ln>
        </p:spPr>
      </p:sp>
      <p:sp>
        <p:nvSpPr>
          <p:cNvPr id="11" name="Text 8"/>
          <p:cNvSpPr/>
          <p:nvPr/>
        </p:nvSpPr>
        <p:spPr>
          <a:xfrm>
            <a:off x="7360920" y="2130552"/>
            <a:ext cx="3474720" cy="411480"/>
          </a:xfrm>
          <a:prstGeom prst="rect">
            <a:avLst/>
          </a:prstGeom>
          <a:noFill/>
          <a:ln/>
        </p:spPr>
        <p:txBody>
          <a:bodyPr wrap="square" lIns="0" tIns="0" rIns="0" bIns="0" rtlCol="0" anchor="ctr"/>
          <a:lstStyle/>
          <a:p>
            <a:pPr algn="ctr"/>
            <a:r>
              <a:rPr lang="en-US" sz="2900" b="1">
                <a:solidFill>
                  <a:srgbClr val="2563EB"/>
                </a:solidFill>
              </a:rPr>
              <a:t>123 / 123</a:t>
            </a:r>
            <a:endParaRPr lang="en-US" sz="2900" dirty="0"/>
          </a:p>
        </p:txBody>
      </p:sp>
      <p:sp>
        <p:nvSpPr>
          <p:cNvPr id="12" name="Text 9"/>
          <p:cNvSpPr/>
          <p:nvPr/>
        </p:nvSpPr>
        <p:spPr>
          <a:xfrm>
            <a:off x="7360920" y="2606040"/>
            <a:ext cx="3474720" cy="274320"/>
          </a:xfrm>
          <a:prstGeom prst="rect">
            <a:avLst/>
          </a:prstGeom>
          <a:noFill/>
          <a:ln/>
        </p:spPr>
        <p:txBody>
          <a:bodyPr wrap="square" lIns="0" tIns="0" rIns="0" bIns="0" rtlCol="0" anchor="ctr"/>
          <a:lstStyle/>
          <a:p>
            <a:pPr marL="0" indent="0" algn="ctr">
              <a:buNone/>
            </a:pPr>
            <a:r>
              <a:rPr lang="en-US" sz="1300" dirty="0">
                <a:solidFill>
                  <a:srgbClr val="6B7280"/>
                </a:solidFill>
              </a:rPr>
              <a:t>mẫu nằm trên đường chéo</a:t>
            </a:r>
            <a:endParaRPr lang="en-US" sz="1300" dirty="0"/>
          </a:p>
        </p:txBody>
      </p:sp>
      <p:sp>
        <p:nvSpPr>
          <p:cNvPr id="13" name="Text 10"/>
          <p:cNvSpPr/>
          <p:nvPr/>
        </p:nvSpPr>
        <p:spPr>
          <a:xfrm>
            <a:off x="7498080" y="3429000"/>
            <a:ext cx="3200400" cy="731520"/>
          </a:xfrm>
          <a:prstGeom prst="rect">
            <a:avLst/>
          </a:prstGeom>
          <a:noFill/>
          <a:ln/>
        </p:spPr>
        <p:txBody>
          <a:bodyPr wrap="square" lIns="0" tIns="0" rIns="0" bIns="0" rtlCol="0" anchor="ctr"/>
          <a:lstStyle/>
          <a:p>
            <a:pPr marL="0" indent="0" algn="ctr">
              <a:buNone/>
            </a:pPr>
            <a:r>
              <a:rPr lang="en-US" sz="1900" b="1">
                <a:solidFill>
                  <a:srgbClr val="0F172A"/>
                </a:solidFill>
              </a:rPr>
              <a:t>14 </a:t>
            </a:r>
            <a:r>
              <a:rPr lang="en-US" sz="1900" b="1" dirty="0">
                <a:solidFill>
                  <a:srgbClr val="0F172A"/>
                </a:solidFill>
              </a:rPr>
              <a:t>định danh</a:t>
            </a:r>
            <a:endParaRPr lang="en-US" sz="1900" dirty="0"/>
          </a:p>
          <a:p>
            <a:pPr marL="0" indent="0" algn="ctr">
              <a:buNone/>
            </a:pPr>
            <a:r>
              <a:rPr lang="en-US" sz="1900" b="1" dirty="0">
                <a:solidFill>
                  <a:srgbClr val="0F172A"/>
                </a:solidFill>
              </a:rPr>
              <a:t>1–4 ảnh mỗi định danh</a:t>
            </a:r>
            <a:endParaRPr lang="en-US" sz="1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1814048" y="0"/>
            <a:ext cx="374904" cy="6858000"/>
          </a:xfrm>
          <a:prstGeom prst="rect">
            <a:avLst/>
          </a:prstGeom>
          <a:solidFill>
            <a:srgbClr val="2563EB"/>
          </a:solidFill>
          <a:ln w="12700">
            <a:solidFill>
              <a:srgbClr val="2563EB"/>
            </a:solidFill>
            <a:prstDash val="solid"/>
          </a:ln>
        </p:spPr>
      </p:sp>
      <p:sp>
        <p:nvSpPr>
          <p:cNvPr id="3" name="Text 1"/>
          <p:cNvSpPr/>
          <p:nvPr/>
        </p:nvSpPr>
        <p:spPr>
          <a:xfrm>
            <a:off x="603504" y="347472"/>
            <a:ext cx="1463040" cy="228600"/>
          </a:xfrm>
          <a:prstGeom prst="rect">
            <a:avLst/>
          </a:prstGeom>
          <a:noFill/>
          <a:ln/>
        </p:spPr>
        <p:txBody>
          <a:bodyPr wrap="square" lIns="0" tIns="0" rIns="0" bIns="0" rtlCol="0" anchor="ctr"/>
          <a:lstStyle/>
          <a:p>
            <a:pPr marL="0" indent="0">
              <a:buNone/>
            </a:pPr>
            <a:r>
              <a:rPr lang="en-US" sz="1000" b="1" dirty="0">
                <a:solidFill>
                  <a:srgbClr val="2563EB"/>
                </a:solidFill>
              </a:rPr>
              <a:t>MTU FACE</a:t>
            </a:r>
            <a:endParaRPr lang="en-US" sz="1000" dirty="0"/>
          </a:p>
        </p:txBody>
      </p:sp>
      <p:sp>
        <p:nvSpPr>
          <p:cNvPr id="4" name="Text 2"/>
          <p:cNvSpPr/>
          <p:nvPr/>
        </p:nvSpPr>
        <p:spPr>
          <a:xfrm>
            <a:off x="603504" y="804672"/>
            <a:ext cx="10515600" cy="548640"/>
          </a:xfrm>
          <a:prstGeom prst="rect">
            <a:avLst/>
          </a:prstGeom>
          <a:noFill/>
          <a:ln/>
        </p:spPr>
        <p:txBody>
          <a:bodyPr wrap="square" lIns="0" tIns="0" rIns="0" bIns="0" rtlCol="0" anchor="ctr">
            <a:normAutofit/>
          </a:bodyPr>
          <a:lstStyle/>
          <a:p>
            <a:pPr marL="0" indent="0">
              <a:buNone/>
            </a:pPr>
            <a:r>
              <a:rPr lang="en-US" sz="2800" b="1" dirty="0">
                <a:solidFill>
                  <a:srgbClr val="0F172A"/>
                </a:solidFill>
              </a:rPr>
              <a:t>So sánh hiệu năng hai lõi AI</a:t>
            </a:r>
            <a:endParaRPr lang="en-US" sz="2800" dirty="0"/>
          </a:p>
        </p:txBody>
      </p:sp>
      <p:sp>
        <p:nvSpPr>
          <p:cNvPr id="5" name="Shape 3"/>
          <p:cNvSpPr/>
          <p:nvPr/>
        </p:nvSpPr>
        <p:spPr>
          <a:xfrm>
            <a:off x="530352" y="1417320"/>
            <a:ext cx="10881360" cy="0"/>
          </a:xfrm>
          <a:prstGeom prst="line">
            <a:avLst/>
          </a:prstGeom>
          <a:noFill/>
          <a:ln w="12700">
            <a:solidFill>
              <a:srgbClr val="CBD5E1"/>
            </a:solidFill>
            <a:prstDash val="solid"/>
          </a:ln>
        </p:spPr>
      </p:sp>
      <p:sp>
        <p:nvSpPr>
          <p:cNvPr id="6" name="Shape 4"/>
          <p:cNvSpPr/>
          <p:nvPr/>
        </p:nvSpPr>
        <p:spPr>
          <a:xfrm>
            <a:off x="530352" y="6492240"/>
            <a:ext cx="10881360" cy="0"/>
          </a:xfrm>
          <a:prstGeom prst="line">
            <a:avLst/>
          </a:prstGeom>
          <a:noFill/>
          <a:ln w="10160">
            <a:solidFill>
              <a:srgbClr val="CBD5E1"/>
            </a:solidFill>
            <a:prstDash val="solid"/>
          </a:ln>
        </p:spPr>
      </p:sp>
      <p:sp>
        <p:nvSpPr>
          <p:cNvPr id="7" name="Text 5"/>
          <p:cNvSpPr/>
          <p:nvPr/>
        </p:nvSpPr>
        <p:spPr>
          <a:xfrm>
            <a:off x="603504" y="6565392"/>
            <a:ext cx="4389120" cy="137160"/>
          </a:xfrm>
          <a:prstGeom prst="rect">
            <a:avLst/>
          </a:prstGeom>
          <a:noFill/>
          <a:ln/>
        </p:spPr>
        <p:txBody>
          <a:bodyPr wrap="square" lIns="0" tIns="0" rIns="0" bIns="0" rtlCol="0" anchor="ctr"/>
          <a:lstStyle/>
          <a:p>
            <a:pPr marL="0" indent="0">
              <a:buNone/>
            </a:pPr>
            <a:r>
              <a:rPr lang="en-US" sz="800" dirty="0">
                <a:solidFill>
                  <a:srgbClr val="6B7280"/>
                </a:solidFill>
              </a:rPr>
              <a:t>ĐỒ ÁN TỐT NGHIỆP • KỸ THUẬT PHẦN MỀM</a:t>
            </a:r>
            <a:endParaRPr lang="en-US" sz="800" dirty="0"/>
          </a:p>
        </p:txBody>
      </p:sp>
      <p:sp>
        <p:nvSpPr>
          <p:cNvPr id="8" name="Text 6"/>
          <p:cNvSpPr/>
          <p:nvPr/>
        </p:nvSpPr>
        <p:spPr>
          <a:xfrm>
            <a:off x="11109960" y="6547104"/>
            <a:ext cx="274320" cy="182880"/>
          </a:xfrm>
          <a:prstGeom prst="rect">
            <a:avLst/>
          </a:prstGeom>
          <a:noFill/>
          <a:ln/>
        </p:spPr>
        <p:txBody>
          <a:bodyPr wrap="square" lIns="0" tIns="0" rIns="0" bIns="0" rtlCol="0" anchor="ctr"/>
          <a:lstStyle/>
          <a:p>
            <a:pPr marL="0" indent="0" algn="r">
              <a:buNone/>
            </a:pPr>
            <a:r>
              <a:rPr lang="en-US" sz="900" dirty="0">
                <a:solidFill>
                  <a:srgbClr val="6B7280"/>
                </a:solidFill>
              </a:rPr>
              <a:t>19</a:t>
            </a:r>
            <a:endParaRPr lang="en-US" sz="900" dirty="0"/>
          </a:p>
        </p:txBody>
      </p:sp>
      <p:sp>
        <p:nvSpPr>
          <p:cNvPr id="9" name="Text 7"/>
          <p:cNvSpPr/>
          <p:nvPr/>
        </p:nvSpPr>
        <p:spPr>
          <a:xfrm>
            <a:off x="822960" y="1783080"/>
            <a:ext cx="4572000" cy="274320"/>
          </a:xfrm>
          <a:prstGeom prst="rect">
            <a:avLst/>
          </a:prstGeom>
          <a:noFill/>
          <a:ln/>
        </p:spPr>
        <p:txBody>
          <a:bodyPr wrap="square" lIns="0" tIns="0" rIns="0" bIns="0" rtlCol="0" anchor="ctr"/>
          <a:lstStyle/>
          <a:p>
            <a:pPr marL="0" indent="0">
              <a:buNone/>
            </a:pPr>
            <a:r>
              <a:rPr lang="en-US" sz="1700" b="1" dirty="0">
                <a:solidFill>
                  <a:srgbClr val="0F172A"/>
                </a:solidFill>
              </a:rPr>
              <a:t>FPS quan sát trên cùng cấu hình thử nghiệm</a:t>
            </a:r>
            <a:endParaRPr lang="en-US" sz="1700" dirty="0"/>
          </a:p>
        </p:txBody>
      </p:sp>
      <p:sp>
        <p:nvSpPr>
          <p:cNvPr id="10" name="Shape 8"/>
          <p:cNvSpPr/>
          <p:nvPr/>
        </p:nvSpPr>
        <p:spPr>
          <a:xfrm>
            <a:off x="1828800" y="2909098"/>
            <a:ext cx="1097280" cy="2348702"/>
          </a:xfrm>
          <a:prstGeom prst="rect">
            <a:avLst/>
          </a:prstGeom>
          <a:solidFill>
            <a:srgbClr val="2563EB"/>
          </a:solidFill>
          <a:ln w="12700">
            <a:solidFill>
              <a:srgbClr val="2563EB"/>
            </a:solidFill>
            <a:prstDash val="solid"/>
          </a:ln>
        </p:spPr>
      </p:sp>
      <p:sp>
        <p:nvSpPr>
          <p:cNvPr id="11" name="Text 9"/>
          <p:cNvSpPr/>
          <p:nvPr/>
        </p:nvSpPr>
        <p:spPr>
          <a:xfrm>
            <a:off x="1783080" y="2497618"/>
            <a:ext cx="1188720" cy="274320"/>
          </a:xfrm>
          <a:prstGeom prst="rect">
            <a:avLst/>
          </a:prstGeom>
          <a:noFill/>
          <a:ln/>
        </p:spPr>
        <p:txBody>
          <a:bodyPr wrap="square" lIns="0" tIns="0" rIns="0" bIns="0" rtlCol="0" anchor="ctr"/>
          <a:lstStyle/>
          <a:p>
            <a:pPr marL="0" indent="0" algn="ctr">
              <a:buNone/>
            </a:pPr>
            <a:r>
              <a:rPr lang="en-US" sz="2200" b="1" dirty="0">
                <a:solidFill>
                  <a:srgbClr val="2563EB"/>
                </a:solidFill>
              </a:rPr>
              <a:t>29</a:t>
            </a:r>
            <a:endParaRPr lang="en-US" sz="2200" dirty="0"/>
          </a:p>
        </p:txBody>
      </p:sp>
      <p:sp>
        <p:nvSpPr>
          <p:cNvPr id="12" name="Text 10"/>
          <p:cNvSpPr/>
          <p:nvPr/>
        </p:nvSpPr>
        <p:spPr>
          <a:xfrm>
            <a:off x="1188720" y="5422392"/>
            <a:ext cx="2286000" cy="228600"/>
          </a:xfrm>
          <a:prstGeom prst="rect">
            <a:avLst/>
          </a:prstGeom>
          <a:noFill/>
          <a:ln/>
        </p:spPr>
        <p:txBody>
          <a:bodyPr wrap="square" lIns="0" tIns="0" rIns="0" bIns="0" rtlCol="0" anchor="ctr">
            <a:normAutofit/>
          </a:bodyPr>
          <a:lstStyle/>
          <a:p>
            <a:pPr marL="0" indent="0" algn="ctr">
              <a:buNone/>
            </a:pPr>
            <a:r>
              <a:rPr lang="en-US" sz="1250" dirty="0">
                <a:solidFill>
                  <a:srgbClr val="111827"/>
                </a:solidFill>
              </a:rPr>
              <a:t>InsightFace</a:t>
            </a:r>
            <a:endParaRPr lang="en-US" sz="1250" dirty="0"/>
          </a:p>
        </p:txBody>
      </p:sp>
      <p:sp>
        <p:nvSpPr>
          <p:cNvPr id="13" name="Shape 11"/>
          <p:cNvSpPr/>
          <p:nvPr/>
        </p:nvSpPr>
        <p:spPr>
          <a:xfrm>
            <a:off x="4663440" y="3314047"/>
            <a:ext cx="1097280" cy="1943753"/>
          </a:xfrm>
          <a:prstGeom prst="rect">
            <a:avLst/>
          </a:prstGeom>
          <a:solidFill>
            <a:srgbClr val="059669"/>
          </a:solidFill>
          <a:ln w="12700">
            <a:solidFill>
              <a:srgbClr val="059669"/>
            </a:solidFill>
            <a:prstDash val="solid"/>
          </a:ln>
        </p:spPr>
      </p:sp>
      <p:sp>
        <p:nvSpPr>
          <p:cNvPr id="14" name="Text 12"/>
          <p:cNvSpPr/>
          <p:nvPr/>
        </p:nvSpPr>
        <p:spPr>
          <a:xfrm>
            <a:off x="4617720" y="2902567"/>
            <a:ext cx="1188720" cy="274320"/>
          </a:xfrm>
          <a:prstGeom prst="rect">
            <a:avLst/>
          </a:prstGeom>
          <a:noFill/>
          <a:ln/>
        </p:spPr>
        <p:txBody>
          <a:bodyPr wrap="square" lIns="0" tIns="0" rIns="0" bIns="0" rtlCol="0" anchor="ctr"/>
          <a:lstStyle/>
          <a:p>
            <a:pPr marL="0" indent="0" algn="ctr">
              <a:buNone/>
            </a:pPr>
            <a:r>
              <a:rPr lang="en-US" sz="2200" b="1" dirty="0">
                <a:solidFill>
                  <a:srgbClr val="059669"/>
                </a:solidFill>
              </a:rPr>
              <a:t>24</a:t>
            </a:r>
            <a:endParaRPr lang="en-US" sz="2200" dirty="0"/>
          </a:p>
        </p:txBody>
      </p:sp>
      <p:sp>
        <p:nvSpPr>
          <p:cNvPr id="15" name="Text 13"/>
          <p:cNvSpPr/>
          <p:nvPr/>
        </p:nvSpPr>
        <p:spPr>
          <a:xfrm>
            <a:off x="4023360" y="5422392"/>
            <a:ext cx="2286000" cy="228600"/>
          </a:xfrm>
          <a:prstGeom prst="rect">
            <a:avLst/>
          </a:prstGeom>
          <a:noFill/>
          <a:ln/>
        </p:spPr>
        <p:txBody>
          <a:bodyPr wrap="square" lIns="0" tIns="0" rIns="0" bIns="0" rtlCol="0" anchor="ctr">
            <a:normAutofit/>
          </a:bodyPr>
          <a:lstStyle/>
          <a:p>
            <a:pPr marL="0" indent="0" algn="ctr">
              <a:buNone/>
            </a:pPr>
            <a:r>
              <a:rPr lang="en-US" sz="1250" dirty="0">
                <a:solidFill>
                  <a:srgbClr val="111827"/>
                </a:solidFill>
              </a:rPr>
              <a:t>YOLO11 + ResNet50</a:t>
            </a:r>
            <a:endParaRPr lang="en-US" sz="1250" dirty="0"/>
          </a:p>
        </p:txBody>
      </p:sp>
      <p:sp>
        <p:nvSpPr>
          <p:cNvPr id="16" name="Shape 14"/>
          <p:cNvSpPr/>
          <p:nvPr/>
        </p:nvSpPr>
        <p:spPr>
          <a:xfrm>
            <a:off x="1005840" y="5257800"/>
            <a:ext cx="6309360" cy="0"/>
          </a:xfrm>
          <a:prstGeom prst="line">
            <a:avLst/>
          </a:prstGeom>
          <a:noFill/>
          <a:ln w="12700">
            <a:solidFill>
              <a:srgbClr val="6B7280"/>
            </a:solidFill>
            <a:prstDash val="solid"/>
          </a:ln>
        </p:spPr>
      </p:sp>
      <p:sp>
        <p:nvSpPr>
          <p:cNvPr id="17" name="Text 15"/>
          <p:cNvSpPr/>
          <p:nvPr/>
        </p:nvSpPr>
        <p:spPr>
          <a:xfrm>
            <a:off x="7680960" y="1965960"/>
            <a:ext cx="2926080" cy="274320"/>
          </a:xfrm>
          <a:prstGeom prst="rect">
            <a:avLst/>
          </a:prstGeom>
          <a:noFill/>
          <a:ln/>
        </p:spPr>
        <p:txBody>
          <a:bodyPr wrap="square" lIns="0" tIns="0" rIns="0" bIns="0" rtlCol="0" anchor="ctr"/>
          <a:lstStyle/>
          <a:p>
            <a:pPr marL="0" indent="0">
              <a:buNone/>
            </a:pPr>
            <a:r>
              <a:rPr lang="en-US" sz="1800" b="1" dirty="0">
                <a:solidFill>
                  <a:srgbClr val="2563EB"/>
                </a:solidFill>
              </a:rPr>
              <a:t>Kết luận tạm thời</a:t>
            </a:r>
            <a:endParaRPr lang="en-US" sz="1800" dirty="0"/>
          </a:p>
        </p:txBody>
      </p:sp>
      <p:sp>
        <p:nvSpPr>
          <p:cNvPr id="18" name="Text 16"/>
          <p:cNvSpPr/>
          <p:nvPr/>
        </p:nvSpPr>
        <p:spPr>
          <a:xfrm>
            <a:off x="7818120" y="2423160"/>
            <a:ext cx="3291840" cy="2286000"/>
          </a:xfrm>
          <a:prstGeom prst="rect">
            <a:avLst/>
          </a:prstGeom>
          <a:noFill/>
          <a:ln/>
        </p:spPr>
        <p:txBody>
          <a:bodyPr wrap="square" lIns="254" tIns="254" rIns="254" bIns="254" rtlCol="0" anchor="ctr">
            <a:normAutofit/>
          </a:bodyPr>
          <a:lstStyle/>
          <a:p>
            <a:r>
              <a:rPr lang="en-US" sz="1370" dirty="0">
                <a:solidFill>
                  <a:srgbClr val="111827"/>
                </a:solidFill>
              </a:rPr>
              <a:t>InsightFace nhanh hơn trong phép đo quan sát cùng cấu hình.</a:t>
            </a:r>
            <a:endParaRPr lang="en-US" sz="1370" dirty="0"/>
          </a:p>
          <a:p>
            <a:r>
              <a:rPr lang="en-US" sz="1370" dirty="0">
                <a:solidFill>
                  <a:srgbClr val="111827"/>
                </a:solidFill>
              </a:rPr>
              <a:t>Đường ống phát hiện–trích xuất ổn định nên phù hợp làm lõi mặc định.</a:t>
            </a:r>
            <a:endParaRPr lang="en-US" sz="1370" dirty="0"/>
          </a:p>
          <a:p>
            <a:r>
              <a:rPr lang="en-US" sz="1370" dirty="0">
                <a:solidFill>
                  <a:srgbClr val="111827"/>
                </a:solidFill>
              </a:rPr>
              <a:t>Số liệu hiện dùng để so sánh tương đối; cần log nhiều lần chạy và độ lệch chuẩn khi đánh giá chính thức.</a:t>
            </a:r>
            <a:endParaRPr lang="en-US" sz="137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1814048" y="0"/>
            <a:ext cx="374904" cy="6858000"/>
          </a:xfrm>
          <a:prstGeom prst="rect">
            <a:avLst/>
          </a:prstGeom>
          <a:solidFill>
            <a:srgbClr val="2563EB"/>
          </a:solidFill>
          <a:ln w="12700">
            <a:solidFill>
              <a:srgbClr val="2563EB"/>
            </a:solidFill>
            <a:prstDash val="solid"/>
          </a:ln>
        </p:spPr>
      </p:sp>
      <p:sp>
        <p:nvSpPr>
          <p:cNvPr id="3" name="Text 1"/>
          <p:cNvSpPr/>
          <p:nvPr/>
        </p:nvSpPr>
        <p:spPr>
          <a:xfrm>
            <a:off x="603504" y="347472"/>
            <a:ext cx="1463040" cy="228600"/>
          </a:xfrm>
          <a:prstGeom prst="rect">
            <a:avLst/>
          </a:prstGeom>
          <a:noFill/>
          <a:ln/>
        </p:spPr>
        <p:txBody>
          <a:bodyPr wrap="square" lIns="0" tIns="0" rIns="0" bIns="0" rtlCol="0" anchor="ctr"/>
          <a:lstStyle/>
          <a:p>
            <a:pPr marL="0" indent="0">
              <a:buNone/>
            </a:pPr>
            <a:r>
              <a:rPr lang="en-US" sz="1000" b="1" dirty="0">
                <a:solidFill>
                  <a:srgbClr val="2563EB"/>
                </a:solidFill>
              </a:rPr>
              <a:t>MTU FACE</a:t>
            </a:r>
            <a:endParaRPr lang="en-US" sz="1000" dirty="0"/>
          </a:p>
        </p:txBody>
      </p:sp>
      <p:sp>
        <p:nvSpPr>
          <p:cNvPr id="4" name="Text 2"/>
          <p:cNvSpPr/>
          <p:nvPr/>
        </p:nvSpPr>
        <p:spPr>
          <a:xfrm>
            <a:off x="603504" y="804672"/>
            <a:ext cx="10515600" cy="548640"/>
          </a:xfrm>
          <a:prstGeom prst="rect">
            <a:avLst/>
          </a:prstGeom>
          <a:noFill/>
          <a:ln/>
        </p:spPr>
        <p:txBody>
          <a:bodyPr wrap="square" lIns="0" tIns="0" rIns="0" bIns="0" rtlCol="0" anchor="ctr">
            <a:normAutofit/>
          </a:bodyPr>
          <a:lstStyle/>
          <a:p>
            <a:pPr marL="0" indent="0">
              <a:buNone/>
            </a:pPr>
            <a:r>
              <a:rPr lang="en-US" sz="2800" b="1" dirty="0">
                <a:solidFill>
                  <a:srgbClr val="0F172A"/>
                </a:solidFill>
              </a:rPr>
              <a:t>Kết quả đạt được</a:t>
            </a:r>
            <a:endParaRPr lang="en-US" sz="2800" dirty="0"/>
          </a:p>
        </p:txBody>
      </p:sp>
      <p:sp>
        <p:nvSpPr>
          <p:cNvPr id="5" name="Shape 3"/>
          <p:cNvSpPr/>
          <p:nvPr/>
        </p:nvSpPr>
        <p:spPr>
          <a:xfrm>
            <a:off x="530352" y="1417320"/>
            <a:ext cx="10881360" cy="0"/>
          </a:xfrm>
          <a:prstGeom prst="line">
            <a:avLst/>
          </a:prstGeom>
          <a:noFill/>
          <a:ln w="12700">
            <a:solidFill>
              <a:srgbClr val="CBD5E1"/>
            </a:solidFill>
            <a:prstDash val="solid"/>
          </a:ln>
        </p:spPr>
      </p:sp>
      <p:sp>
        <p:nvSpPr>
          <p:cNvPr id="6" name="Shape 4"/>
          <p:cNvSpPr/>
          <p:nvPr/>
        </p:nvSpPr>
        <p:spPr>
          <a:xfrm>
            <a:off x="530352" y="6492240"/>
            <a:ext cx="10881360" cy="0"/>
          </a:xfrm>
          <a:prstGeom prst="line">
            <a:avLst/>
          </a:prstGeom>
          <a:noFill/>
          <a:ln w="10160">
            <a:solidFill>
              <a:srgbClr val="CBD5E1"/>
            </a:solidFill>
            <a:prstDash val="solid"/>
          </a:ln>
        </p:spPr>
      </p:sp>
      <p:sp>
        <p:nvSpPr>
          <p:cNvPr id="7" name="Text 5"/>
          <p:cNvSpPr/>
          <p:nvPr/>
        </p:nvSpPr>
        <p:spPr>
          <a:xfrm>
            <a:off x="603504" y="6565392"/>
            <a:ext cx="4389120" cy="137160"/>
          </a:xfrm>
          <a:prstGeom prst="rect">
            <a:avLst/>
          </a:prstGeom>
          <a:noFill/>
          <a:ln/>
        </p:spPr>
        <p:txBody>
          <a:bodyPr wrap="square" lIns="0" tIns="0" rIns="0" bIns="0" rtlCol="0" anchor="ctr"/>
          <a:lstStyle/>
          <a:p>
            <a:pPr marL="0" indent="0">
              <a:buNone/>
            </a:pPr>
            <a:r>
              <a:rPr lang="en-US" sz="800" dirty="0">
                <a:solidFill>
                  <a:srgbClr val="6B7280"/>
                </a:solidFill>
              </a:rPr>
              <a:t>ĐỒ ÁN TỐT NGHIỆP • KỸ THUẬT PHẦN MỀM</a:t>
            </a:r>
            <a:endParaRPr lang="en-US" sz="800" dirty="0"/>
          </a:p>
        </p:txBody>
      </p:sp>
      <p:sp>
        <p:nvSpPr>
          <p:cNvPr id="8" name="Text 6"/>
          <p:cNvSpPr/>
          <p:nvPr/>
        </p:nvSpPr>
        <p:spPr>
          <a:xfrm>
            <a:off x="11109960" y="6547104"/>
            <a:ext cx="274320" cy="182880"/>
          </a:xfrm>
          <a:prstGeom prst="rect">
            <a:avLst/>
          </a:prstGeom>
          <a:noFill/>
          <a:ln/>
        </p:spPr>
        <p:txBody>
          <a:bodyPr wrap="square" lIns="0" tIns="0" rIns="0" bIns="0" rtlCol="0" anchor="ctr"/>
          <a:lstStyle/>
          <a:p>
            <a:pPr marL="0" indent="0" algn="r">
              <a:buNone/>
            </a:pPr>
            <a:r>
              <a:rPr lang="en-US" sz="900" dirty="0">
                <a:solidFill>
                  <a:srgbClr val="6B7280"/>
                </a:solidFill>
              </a:rPr>
              <a:t>20</a:t>
            </a:r>
            <a:endParaRPr lang="en-US" sz="900" dirty="0"/>
          </a:p>
        </p:txBody>
      </p:sp>
      <p:sp>
        <p:nvSpPr>
          <p:cNvPr id="9" name="Shape 7"/>
          <p:cNvSpPr/>
          <p:nvPr/>
        </p:nvSpPr>
        <p:spPr>
          <a:xfrm>
            <a:off x="731520" y="1828800"/>
            <a:ext cx="3383280" cy="1417320"/>
          </a:xfrm>
          <a:prstGeom prst="roundRect">
            <a:avLst>
              <a:gd name="adj" fmla="val 3871"/>
            </a:avLst>
          </a:prstGeom>
          <a:solidFill>
            <a:srgbClr val="FFFFFF"/>
          </a:solidFill>
          <a:ln w="12700">
            <a:solidFill>
              <a:srgbClr val="E2E8F0"/>
            </a:solidFill>
            <a:prstDash val="solid"/>
          </a:ln>
          <a:effectLst>
            <a:outerShdw blurRad="12700" dist="50800" dir="2700000" algn="bl" rotWithShape="0">
              <a:srgbClr val="94A3B8">
                <a:alpha val="15000"/>
              </a:srgbClr>
            </a:outerShdw>
          </a:effectLst>
        </p:spPr>
      </p:sp>
      <p:sp>
        <p:nvSpPr>
          <p:cNvPr id="10" name="Shape 8"/>
          <p:cNvSpPr/>
          <p:nvPr/>
        </p:nvSpPr>
        <p:spPr>
          <a:xfrm>
            <a:off x="731520" y="1828800"/>
            <a:ext cx="73152" cy="1417320"/>
          </a:xfrm>
          <a:prstGeom prst="rect">
            <a:avLst/>
          </a:prstGeom>
          <a:solidFill>
            <a:srgbClr val="2563EB"/>
          </a:solidFill>
          <a:ln w="12700">
            <a:solidFill>
              <a:srgbClr val="2563EB"/>
            </a:solidFill>
            <a:prstDash val="solid"/>
          </a:ln>
        </p:spPr>
      </p:sp>
      <p:sp>
        <p:nvSpPr>
          <p:cNvPr id="11" name="Text 9"/>
          <p:cNvSpPr/>
          <p:nvPr/>
        </p:nvSpPr>
        <p:spPr>
          <a:xfrm>
            <a:off x="941832" y="1993392"/>
            <a:ext cx="3063240" cy="256032"/>
          </a:xfrm>
          <a:prstGeom prst="rect">
            <a:avLst/>
          </a:prstGeom>
          <a:noFill/>
          <a:ln/>
        </p:spPr>
        <p:txBody>
          <a:bodyPr wrap="square" lIns="0" tIns="0" rIns="0" bIns="0" rtlCol="0" anchor="ctr"/>
          <a:lstStyle/>
          <a:p>
            <a:pPr marL="0" indent="0">
              <a:buNone/>
            </a:pPr>
            <a:r>
              <a:rPr lang="en-US" sz="1500" b="1" dirty="0">
                <a:solidFill>
                  <a:srgbClr val="2563EB"/>
                </a:solidFill>
              </a:rPr>
              <a:t>Nền tảng hệ thống</a:t>
            </a:r>
            <a:endParaRPr lang="en-US" sz="1500" dirty="0"/>
          </a:p>
        </p:txBody>
      </p:sp>
      <p:sp>
        <p:nvSpPr>
          <p:cNvPr id="12" name="Text 10"/>
          <p:cNvSpPr/>
          <p:nvPr/>
        </p:nvSpPr>
        <p:spPr>
          <a:xfrm>
            <a:off x="941832" y="2359152"/>
            <a:ext cx="3035808" cy="758952"/>
          </a:xfrm>
          <a:prstGeom prst="rect">
            <a:avLst/>
          </a:prstGeom>
          <a:noFill/>
          <a:ln/>
        </p:spPr>
        <p:txBody>
          <a:bodyPr wrap="square" lIns="127" tIns="127" rIns="127" bIns="127" rtlCol="0" anchor="t">
            <a:normAutofit/>
          </a:bodyPr>
          <a:lstStyle/>
          <a:p>
            <a:pPr marL="0" indent="0">
              <a:buNone/>
            </a:pPr>
            <a:r>
              <a:rPr lang="en-US" sz="1220" dirty="0">
                <a:solidFill>
                  <a:srgbClr val="111827"/>
                </a:solidFill>
              </a:rPr>
              <a:t>Hoàn thành Web Admin, Camera/Kiosk và các nghiệp vụ quản lý điểm danh tập trung.</a:t>
            </a:r>
            <a:endParaRPr lang="en-US" sz="1220" dirty="0"/>
          </a:p>
        </p:txBody>
      </p:sp>
      <p:sp>
        <p:nvSpPr>
          <p:cNvPr id="13" name="Shape 11"/>
          <p:cNvSpPr/>
          <p:nvPr/>
        </p:nvSpPr>
        <p:spPr>
          <a:xfrm>
            <a:off x="4389120" y="1828800"/>
            <a:ext cx="3383280" cy="1417320"/>
          </a:xfrm>
          <a:prstGeom prst="roundRect">
            <a:avLst>
              <a:gd name="adj" fmla="val 3871"/>
            </a:avLst>
          </a:prstGeom>
          <a:solidFill>
            <a:srgbClr val="FFFFFF"/>
          </a:solidFill>
          <a:ln w="12700">
            <a:solidFill>
              <a:srgbClr val="E2E8F0"/>
            </a:solidFill>
            <a:prstDash val="solid"/>
          </a:ln>
          <a:effectLst>
            <a:outerShdw blurRad="12700" dist="50800" dir="2700000" algn="bl" rotWithShape="0">
              <a:srgbClr val="94A3B8">
                <a:alpha val="15000"/>
              </a:srgbClr>
            </a:outerShdw>
          </a:effectLst>
        </p:spPr>
      </p:sp>
      <p:sp>
        <p:nvSpPr>
          <p:cNvPr id="14" name="Shape 12"/>
          <p:cNvSpPr/>
          <p:nvPr/>
        </p:nvSpPr>
        <p:spPr>
          <a:xfrm>
            <a:off x="4389120" y="1828800"/>
            <a:ext cx="73152" cy="1417320"/>
          </a:xfrm>
          <a:prstGeom prst="rect">
            <a:avLst/>
          </a:prstGeom>
          <a:solidFill>
            <a:srgbClr val="059669"/>
          </a:solidFill>
          <a:ln w="12700">
            <a:solidFill>
              <a:srgbClr val="059669"/>
            </a:solidFill>
            <a:prstDash val="solid"/>
          </a:ln>
        </p:spPr>
      </p:sp>
      <p:sp>
        <p:nvSpPr>
          <p:cNvPr id="15" name="Text 13"/>
          <p:cNvSpPr/>
          <p:nvPr/>
        </p:nvSpPr>
        <p:spPr>
          <a:xfrm>
            <a:off x="4599432" y="1993392"/>
            <a:ext cx="3063240" cy="256032"/>
          </a:xfrm>
          <a:prstGeom prst="rect">
            <a:avLst/>
          </a:prstGeom>
          <a:noFill/>
          <a:ln/>
        </p:spPr>
        <p:txBody>
          <a:bodyPr wrap="square" lIns="0" tIns="0" rIns="0" bIns="0" rtlCol="0" anchor="ctr"/>
          <a:lstStyle/>
          <a:p>
            <a:pPr marL="0" indent="0">
              <a:buNone/>
            </a:pPr>
            <a:r>
              <a:rPr lang="en-US" sz="1500" b="1" dirty="0">
                <a:solidFill>
                  <a:srgbClr val="059669"/>
                </a:solidFill>
              </a:rPr>
              <a:t>AI nhận diện</a:t>
            </a:r>
            <a:endParaRPr lang="en-US" sz="1500" dirty="0"/>
          </a:p>
        </p:txBody>
      </p:sp>
      <p:sp>
        <p:nvSpPr>
          <p:cNvPr id="16" name="Text 14"/>
          <p:cNvSpPr/>
          <p:nvPr/>
        </p:nvSpPr>
        <p:spPr>
          <a:xfrm>
            <a:off x="4599432" y="2359152"/>
            <a:ext cx="3035808" cy="758952"/>
          </a:xfrm>
          <a:prstGeom prst="rect">
            <a:avLst/>
          </a:prstGeom>
          <a:noFill/>
          <a:ln/>
        </p:spPr>
        <p:txBody>
          <a:bodyPr wrap="square" lIns="127" tIns="127" rIns="127" bIns="127" rtlCol="0" anchor="t">
            <a:normAutofit/>
          </a:bodyPr>
          <a:lstStyle/>
          <a:p>
            <a:pPr marL="0" indent="0">
              <a:buNone/>
            </a:pPr>
            <a:r>
              <a:rPr lang="en-US" sz="1220" dirty="0">
                <a:solidFill>
                  <a:srgbClr val="111827"/>
                </a:solidFill>
              </a:rPr>
              <a:t>Triển khai InsightFace làm lõi mặc định và YOLO11 + ResNet50 làm lõi thử nghiệm.</a:t>
            </a:r>
            <a:endParaRPr lang="en-US" sz="1220" dirty="0"/>
          </a:p>
        </p:txBody>
      </p:sp>
      <p:sp>
        <p:nvSpPr>
          <p:cNvPr id="17" name="Shape 15"/>
          <p:cNvSpPr/>
          <p:nvPr/>
        </p:nvSpPr>
        <p:spPr>
          <a:xfrm>
            <a:off x="8046720" y="1828800"/>
            <a:ext cx="3383280" cy="1417320"/>
          </a:xfrm>
          <a:prstGeom prst="roundRect">
            <a:avLst>
              <a:gd name="adj" fmla="val 3871"/>
            </a:avLst>
          </a:prstGeom>
          <a:solidFill>
            <a:srgbClr val="FFFFFF"/>
          </a:solidFill>
          <a:ln w="12700">
            <a:solidFill>
              <a:srgbClr val="E2E8F0"/>
            </a:solidFill>
            <a:prstDash val="solid"/>
          </a:ln>
          <a:effectLst>
            <a:outerShdw blurRad="12700" dist="50800" dir="2700000" algn="bl" rotWithShape="0">
              <a:srgbClr val="94A3B8">
                <a:alpha val="15000"/>
              </a:srgbClr>
            </a:outerShdw>
          </a:effectLst>
        </p:spPr>
      </p:sp>
      <p:sp>
        <p:nvSpPr>
          <p:cNvPr id="18" name="Shape 16"/>
          <p:cNvSpPr/>
          <p:nvPr/>
        </p:nvSpPr>
        <p:spPr>
          <a:xfrm>
            <a:off x="8046720" y="1828800"/>
            <a:ext cx="73152" cy="1417320"/>
          </a:xfrm>
          <a:prstGeom prst="rect">
            <a:avLst/>
          </a:prstGeom>
          <a:solidFill>
            <a:srgbClr val="D97706"/>
          </a:solidFill>
          <a:ln w="12700">
            <a:solidFill>
              <a:srgbClr val="D97706"/>
            </a:solidFill>
            <a:prstDash val="solid"/>
          </a:ln>
        </p:spPr>
      </p:sp>
      <p:sp>
        <p:nvSpPr>
          <p:cNvPr id="19" name="Text 17"/>
          <p:cNvSpPr/>
          <p:nvPr/>
        </p:nvSpPr>
        <p:spPr>
          <a:xfrm>
            <a:off x="8257032" y="1993392"/>
            <a:ext cx="3063240" cy="256032"/>
          </a:xfrm>
          <a:prstGeom prst="rect">
            <a:avLst/>
          </a:prstGeom>
          <a:noFill/>
          <a:ln/>
        </p:spPr>
        <p:txBody>
          <a:bodyPr wrap="square" lIns="0" tIns="0" rIns="0" bIns="0" rtlCol="0" anchor="ctr"/>
          <a:lstStyle/>
          <a:p>
            <a:pPr marL="0" indent="0">
              <a:buNone/>
            </a:pPr>
            <a:r>
              <a:rPr lang="en-US" sz="1500" b="1" dirty="0">
                <a:solidFill>
                  <a:srgbClr val="D97706"/>
                </a:solidFill>
              </a:rPr>
              <a:t>Chống gian lận</a:t>
            </a:r>
            <a:endParaRPr lang="en-US" sz="1500" dirty="0"/>
          </a:p>
        </p:txBody>
      </p:sp>
      <p:sp>
        <p:nvSpPr>
          <p:cNvPr id="20" name="Text 18"/>
          <p:cNvSpPr/>
          <p:nvPr/>
        </p:nvSpPr>
        <p:spPr>
          <a:xfrm>
            <a:off x="8257032" y="2359152"/>
            <a:ext cx="3035808" cy="758952"/>
          </a:xfrm>
          <a:prstGeom prst="rect">
            <a:avLst/>
          </a:prstGeom>
          <a:noFill/>
          <a:ln/>
        </p:spPr>
        <p:txBody>
          <a:bodyPr wrap="square" lIns="127" tIns="127" rIns="127" bIns="127" rtlCol="0" anchor="t">
            <a:normAutofit/>
          </a:bodyPr>
          <a:lstStyle/>
          <a:p>
            <a:pPr marL="0" indent="0">
              <a:buNone/>
            </a:pPr>
            <a:r>
              <a:rPr lang="en-US" sz="1220" dirty="0">
                <a:solidFill>
                  <a:srgbClr val="111827"/>
                </a:solidFill>
              </a:rPr>
              <a:t>Kết hợp kiểm tra chất lượng ảnh, MiniFASNetV2, điều kiện phiên và chống điểm danh trùng.</a:t>
            </a:r>
            <a:endParaRPr lang="en-US" sz="1220" dirty="0"/>
          </a:p>
        </p:txBody>
      </p:sp>
      <p:sp>
        <p:nvSpPr>
          <p:cNvPr id="21" name="Shape 19"/>
          <p:cNvSpPr/>
          <p:nvPr/>
        </p:nvSpPr>
        <p:spPr>
          <a:xfrm>
            <a:off x="731520" y="3703320"/>
            <a:ext cx="3383280" cy="1417320"/>
          </a:xfrm>
          <a:prstGeom prst="roundRect">
            <a:avLst>
              <a:gd name="adj" fmla="val 3871"/>
            </a:avLst>
          </a:prstGeom>
          <a:solidFill>
            <a:srgbClr val="FFFFFF"/>
          </a:solidFill>
          <a:ln w="12700">
            <a:solidFill>
              <a:srgbClr val="E2E8F0"/>
            </a:solidFill>
            <a:prstDash val="solid"/>
          </a:ln>
          <a:effectLst>
            <a:outerShdw blurRad="12700" dist="50800" dir="2700000" algn="bl" rotWithShape="0">
              <a:srgbClr val="94A3B8">
                <a:alpha val="15000"/>
              </a:srgbClr>
            </a:outerShdw>
          </a:effectLst>
        </p:spPr>
      </p:sp>
      <p:sp>
        <p:nvSpPr>
          <p:cNvPr id="22" name="Shape 20"/>
          <p:cNvSpPr/>
          <p:nvPr/>
        </p:nvSpPr>
        <p:spPr>
          <a:xfrm>
            <a:off x="731520" y="3703320"/>
            <a:ext cx="73152" cy="1417320"/>
          </a:xfrm>
          <a:prstGeom prst="rect">
            <a:avLst/>
          </a:prstGeom>
          <a:solidFill>
            <a:srgbClr val="2563EB"/>
          </a:solidFill>
          <a:ln w="12700">
            <a:solidFill>
              <a:srgbClr val="2563EB"/>
            </a:solidFill>
            <a:prstDash val="solid"/>
          </a:ln>
        </p:spPr>
      </p:sp>
      <p:sp>
        <p:nvSpPr>
          <p:cNvPr id="23" name="Text 21"/>
          <p:cNvSpPr/>
          <p:nvPr/>
        </p:nvSpPr>
        <p:spPr>
          <a:xfrm>
            <a:off x="941832" y="3867912"/>
            <a:ext cx="3063240" cy="256032"/>
          </a:xfrm>
          <a:prstGeom prst="rect">
            <a:avLst/>
          </a:prstGeom>
          <a:noFill/>
          <a:ln/>
        </p:spPr>
        <p:txBody>
          <a:bodyPr wrap="square" lIns="0" tIns="0" rIns="0" bIns="0" rtlCol="0" anchor="ctr"/>
          <a:lstStyle/>
          <a:p>
            <a:pPr marL="0" indent="0">
              <a:buNone/>
            </a:pPr>
            <a:r>
              <a:rPr lang="en-US" sz="1500" b="1" dirty="0">
                <a:solidFill>
                  <a:srgbClr val="2563EB"/>
                </a:solidFill>
              </a:rPr>
              <a:t>Quản lý &amp; báo cáo</a:t>
            </a:r>
            <a:endParaRPr lang="en-US" sz="1500" dirty="0"/>
          </a:p>
        </p:txBody>
      </p:sp>
      <p:sp>
        <p:nvSpPr>
          <p:cNvPr id="24" name="Text 22"/>
          <p:cNvSpPr/>
          <p:nvPr/>
        </p:nvSpPr>
        <p:spPr>
          <a:xfrm>
            <a:off x="941832" y="4233672"/>
            <a:ext cx="3035808" cy="758952"/>
          </a:xfrm>
          <a:prstGeom prst="rect">
            <a:avLst/>
          </a:prstGeom>
          <a:noFill/>
          <a:ln/>
        </p:spPr>
        <p:txBody>
          <a:bodyPr wrap="square" lIns="127" tIns="127" rIns="127" bIns="127" rtlCol="0" anchor="t">
            <a:normAutofit/>
          </a:bodyPr>
          <a:lstStyle/>
          <a:p>
            <a:pPr marL="0" indent="0">
              <a:buNone/>
            </a:pPr>
            <a:r>
              <a:rPr lang="en-US" sz="1220" dirty="0">
                <a:solidFill>
                  <a:srgbClr val="111827"/>
                </a:solidFill>
              </a:rPr>
              <a:t>Quản lý sinh viên, lớp học, phiên, lịch sử, cảnh báo, thống kê và xuất báo cáo.</a:t>
            </a:r>
            <a:endParaRPr lang="en-US" sz="1220" dirty="0"/>
          </a:p>
        </p:txBody>
      </p:sp>
      <p:sp>
        <p:nvSpPr>
          <p:cNvPr id="25" name="Shape 23"/>
          <p:cNvSpPr/>
          <p:nvPr/>
        </p:nvSpPr>
        <p:spPr>
          <a:xfrm>
            <a:off x="4389120" y="3703320"/>
            <a:ext cx="3383280" cy="1417320"/>
          </a:xfrm>
          <a:prstGeom prst="roundRect">
            <a:avLst>
              <a:gd name="adj" fmla="val 3871"/>
            </a:avLst>
          </a:prstGeom>
          <a:solidFill>
            <a:srgbClr val="FFFFFF"/>
          </a:solidFill>
          <a:ln w="12700">
            <a:solidFill>
              <a:srgbClr val="E2E8F0"/>
            </a:solidFill>
            <a:prstDash val="solid"/>
          </a:ln>
          <a:effectLst>
            <a:outerShdw blurRad="12700" dist="50800" dir="2700000" algn="bl" rotWithShape="0">
              <a:srgbClr val="94A3B8">
                <a:alpha val="15000"/>
              </a:srgbClr>
            </a:outerShdw>
          </a:effectLst>
        </p:spPr>
      </p:sp>
      <p:sp>
        <p:nvSpPr>
          <p:cNvPr id="26" name="Shape 24"/>
          <p:cNvSpPr/>
          <p:nvPr/>
        </p:nvSpPr>
        <p:spPr>
          <a:xfrm>
            <a:off x="4389120" y="3703320"/>
            <a:ext cx="73152" cy="1417320"/>
          </a:xfrm>
          <a:prstGeom prst="rect">
            <a:avLst/>
          </a:prstGeom>
          <a:solidFill>
            <a:srgbClr val="059669"/>
          </a:solidFill>
          <a:ln w="12700">
            <a:solidFill>
              <a:srgbClr val="059669"/>
            </a:solidFill>
            <a:prstDash val="solid"/>
          </a:ln>
        </p:spPr>
      </p:sp>
      <p:sp>
        <p:nvSpPr>
          <p:cNvPr id="27" name="Text 25"/>
          <p:cNvSpPr/>
          <p:nvPr/>
        </p:nvSpPr>
        <p:spPr>
          <a:xfrm>
            <a:off x="4599432" y="3867912"/>
            <a:ext cx="3063240" cy="256032"/>
          </a:xfrm>
          <a:prstGeom prst="rect">
            <a:avLst/>
          </a:prstGeom>
          <a:noFill/>
          <a:ln/>
        </p:spPr>
        <p:txBody>
          <a:bodyPr wrap="square" lIns="0" tIns="0" rIns="0" bIns="0" rtlCol="0" anchor="ctr"/>
          <a:lstStyle/>
          <a:p>
            <a:pPr marL="0" indent="0">
              <a:buNone/>
            </a:pPr>
            <a:r>
              <a:rPr lang="en-US" sz="1500" b="1" dirty="0">
                <a:solidFill>
                  <a:srgbClr val="059669"/>
                </a:solidFill>
              </a:rPr>
              <a:t>Realtime</a:t>
            </a:r>
            <a:endParaRPr lang="en-US" sz="1500" dirty="0"/>
          </a:p>
        </p:txBody>
      </p:sp>
      <p:sp>
        <p:nvSpPr>
          <p:cNvPr id="28" name="Text 26"/>
          <p:cNvSpPr/>
          <p:nvPr/>
        </p:nvSpPr>
        <p:spPr>
          <a:xfrm>
            <a:off x="4599432" y="4233672"/>
            <a:ext cx="3035808" cy="758952"/>
          </a:xfrm>
          <a:prstGeom prst="rect">
            <a:avLst/>
          </a:prstGeom>
          <a:noFill/>
          <a:ln/>
        </p:spPr>
        <p:txBody>
          <a:bodyPr wrap="square" lIns="127" tIns="127" rIns="127" bIns="127" rtlCol="0" anchor="t">
            <a:normAutofit/>
          </a:bodyPr>
          <a:lstStyle/>
          <a:p>
            <a:pPr marL="0" indent="0">
              <a:buNone/>
            </a:pPr>
            <a:r>
              <a:rPr lang="en-US" sz="1220" dirty="0">
                <a:solidFill>
                  <a:srgbClr val="111827"/>
                </a:solidFill>
              </a:rPr>
              <a:t>Socket.IO cập nhật frame, kết quả nhận diện, nhật ký điểm danh và cảnh báo theo thời gian thực.</a:t>
            </a:r>
            <a:endParaRPr lang="en-US" sz="1220" dirty="0"/>
          </a:p>
        </p:txBody>
      </p:sp>
      <p:sp>
        <p:nvSpPr>
          <p:cNvPr id="29" name="Shape 27"/>
          <p:cNvSpPr/>
          <p:nvPr/>
        </p:nvSpPr>
        <p:spPr>
          <a:xfrm>
            <a:off x="8046720" y="3703320"/>
            <a:ext cx="3383280" cy="1417320"/>
          </a:xfrm>
          <a:prstGeom prst="roundRect">
            <a:avLst>
              <a:gd name="adj" fmla="val 3871"/>
            </a:avLst>
          </a:prstGeom>
          <a:solidFill>
            <a:srgbClr val="FFFFFF"/>
          </a:solidFill>
          <a:ln w="12700">
            <a:solidFill>
              <a:srgbClr val="E2E8F0"/>
            </a:solidFill>
            <a:prstDash val="solid"/>
          </a:ln>
          <a:effectLst>
            <a:outerShdw blurRad="12700" dist="50800" dir="2700000" algn="bl" rotWithShape="0">
              <a:srgbClr val="94A3B8">
                <a:alpha val="15000"/>
              </a:srgbClr>
            </a:outerShdw>
          </a:effectLst>
        </p:spPr>
      </p:sp>
      <p:sp>
        <p:nvSpPr>
          <p:cNvPr id="30" name="Shape 28"/>
          <p:cNvSpPr/>
          <p:nvPr/>
        </p:nvSpPr>
        <p:spPr>
          <a:xfrm>
            <a:off x="8046720" y="3703320"/>
            <a:ext cx="73152" cy="1417320"/>
          </a:xfrm>
          <a:prstGeom prst="rect">
            <a:avLst/>
          </a:prstGeom>
          <a:solidFill>
            <a:srgbClr val="DC2626"/>
          </a:solidFill>
          <a:ln w="12700">
            <a:solidFill>
              <a:srgbClr val="DC2626"/>
            </a:solidFill>
            <a:prstDash val="solid"/>
          </a:ln>
        </p:spPr>
      </p:sp>
      <p:sp>
        <p:nvSpPr>
          <p:cNvPr id="31" name="Text 29"/>
          <p:cNvSpPr/>
          <p:nvPr/>
        </p:nvSpPr>
        <p:spPr>
          <a:xfrm>
            <a:off x="8257032" y="3867912"/>
            <a:ext cx="3063240" cy="256032"/>
          </a:xfrm>
          <a:prstGeom prst="rect">
            <a:avLst/>
          </a:prstGeom>
          <a:noFill/>
          <a:ln/>
        </p:spPr>
        <p:txBody>
          <a:bodyPr wrap="square" lIns="0" tIns="0" rIns="0" bIns="0" rtlCol="0" anchor="ctr"/>
          <a:lstStyle/>
          <a:p>
            <a:pPr marL="0" indent="0">
              <a:buNone/>
            </a:pPr>
            <a:r>
              <a:rPr lang="en-US" sz="1500" b="1" dirty="0">
                <a:solidFill>
                  <a:srgbClr val="DC2626"/>
                </a:solidFill>
              </a:rPr>
              <a:t>Bằng chứng thử nghiệm</a:t>
            </a:r>
            <a:endParaRPr lang="en-US" sz="1500" dirty="0"/>
          </a:p>
        </p:txBody>
      </p:sp>
      <p:sp>
        <p:nvSpPr>
          <p:cNvPr id="32" name="Text 30"/>
          <p:cNvSpPr/>
          <p:nvPr/>
        </p:nvSpPr>
        <p:spPr>
          <a:xfrm>
            <a:off x="8257032" y="4233672"/>
            <a:ext cx="3035808" cy="758952"/>
          </a:xfrm>
          <a:prstGeom prst="rect">
            <a:avLst/>
          </a:prstGeom>
          <a:noFill/>
          <a:ln/>
        </p:spPr>
        <p:txBody>
          <a:bodyPr wrap="square" lIns="127" tIns="127" rIns="127" bIns="127" rtlCol="0" anchor="t">
            <a:normAutofit/>
          </a:bodyPr>
          <a:lstStyle/>
          <a:p>
            <a:pPr marL="0" indent="0">
              <a:buNone/>
            </a:pPr>
            <a:r>
              <a:rPr lang="en-US" sz="1220" dirty="0">
                <a:solidFill>
                  <a:srgbClr val="111827"/>
                </a:solidFill>
              </a:rPr>
              <a:t>Có ảnh thực nghiệm Kiosk, biểu đồ huấn luyện, ma trận nhầm lẫn và số liệu FPS quan sát.</a:t>
            </a:r>
            <a:endParaRPr lang="en-US" sz="12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11814048" y="0"/>
            <a:ext cx="374904" cy="6858000"/>
          </a:xfrm>
          <a:prstGeom prst="rect">
            <a:avLst/>
          </a:prstGeom>
          <a:solidFill>
            <a:srgbClr val="2563EB"/>
          </a:solidFill>
          <a:ln w="12700">
            <a:solidFill>
              <a:srgbClr val="2563EB"/>
            </a:solidFill>
            <a:prstDash val="solid"/>
          </a:ln>
        </p:spPr>
      </p:sp>
      <p:sp>
        <p:nvSpPr>
          <p:cNvPr id="3" name="Text 1"/>
          <p:cNvSpPr/>
          <p:nvPr/>
        </p:nvSpPr>
        <p:spPr>
          <a:xfrm>
            <a:off x="603504" y="347472"/>
            <a:ext cx="1463040" cy="228600"/>
          </a:xfrm>
          <a:prstGeom prst="rect">
            <a:avLst/>
          </a:prstGeom>
          <a:noFill/>
          <a:ln/>
        </p:spPr>
        <p:txBody>
          <a:bodyPr wrap="square" lIns="0" tIns="0" rIns="0" bIns="0" rtlCol="0" anchor="ctr"/>
          <a:lstStyle/>
          <a:p>
            <a:pPr marL="0" indent="0">
              <a:buNone/>
            </a:pPr>
            <a:r>
              <a:rPr lang="en-US" sz="1000" b="1" dirty="0">
                <a:solidFill>
                  <a:srgbClr val="2563EB"/>
                </a:solidFill>
              </a:rPr>
              <a:t>MTU FACE</a:t>
            </a:r>
            <a:endParaRPr lang="en-US" sz="1000" dirty="0"/>
          </a:p>
        </p:txBody>
      </p:sp>
      <p:sp>
        <p:nvSpPr>
          <p:cNvPr id="4" name="Text 2"/>
          <p:cNvSpPr/>
          <p:nvPr/>
        </p:nvSpPr>
        <p:spPr>
          <a:xfrm>
            <a:off x="603504" y="804672"/>
            <a:ext cx="10515600" cy="548640"/>
          </a:xfrm>
          <a:prstGeom prst="rect">
            <a:avLst/>
          </a:prstGeom>
          <a:noFill/>
          <a:ln/>
        </p:spPr>
        <p:txBody>
          <a:bodyPr wrap="square" lIns="0" tIns="0" rIns="0" bIns="0" rtlCol="0" anchor="ctr">
            <a:normAutofit/>
          </a:bodyPr>
          <a:lstStyle/>
          <a:p>
            <a:pPr marL="0" indent="0">
              <a:buNone/>
            </a:pPr>
            <a:r>
              <a:rPr lang="en-US" sz="2800" b="1" dirty="0">
                <a:solidFill>
                  <a:srgbClr val="0F172A"/>
                </a:solidFill>
              </a:rPr>
              <a:t>Kết luận và hướng phát triển</a:t>
            </a:r>
            <a:endParaRPr lang="en-US" sz="2800" dirty="0"/>
          </a:p>
        </p:txBody>
      </p:sp>
      <p:sp>
        <p:nvSpPr>
          <p:cNvPr id="5" name="Shape 3"/>
          <p:cNvSpPr/>
          <p:nvPr/>
        </p:nvSpPr>
        <p:spPr>
          <a:xfrm>
            <a:off x="530352" y="1417320"/>
            <a:ext cx="10881360" cy="0"/>
          </a:xfrm>
          <a:prstGeom prst="line">
            <a:avLst/>
          </a:prstGeom>
          <a:noFill/>
          <a:ln w="12700">
            <a:solidFill>
              <a:srgbClr val="CBD5E1"/>
            </a:solidFill>
            <a:prstDash val="solid"/>
          </a:ln>
        </p:spPr>
      </p:sp>
      <p:sp>
        <p:nvSpPr>
          <p:cNvPr id="6" name="Shape 4"/>
          <p:cNvSpPr/>
          <p:nvPr/>
        </p:nvSpPr>
        <p:spPr>
          <a:xfrm>
            <a:off x="530352" y="6492240"/>
            <a:ext cx="10881360" cy="0"/>
          </a:xfrm>
          <a:prstGeom prst="line">
            <a:avLst/>
          </a:prstGeom>
          <a:noFill/>
          <a:ln w="10160">
            <a:solidFill>
              <a:srgbClr val="CBD5E1"/>
            </a:solidFill>
            <a:prstDash val="solid"/>
          </a:ln>
        </p:spPr>
      </p:sp>
      <p:sp>
        <p:nvSpPr>
          <p:cNvPr id="7" name="Text 5"/>
          <p:cNvSpPr/>
          <p:nvPr/>
        </p:nvSpPr>
        <p:spPr>
          <a:xfrm>
            <a:off x="603504" y="6565392"/>
            <a:ext cx="4389120" cy="137160"/>
          </a:xfrm>
          <a:prstGeom prst="rect">
            <a:avLst/>
          </a:prstGeom>
          <a:noFill/>
          <a:ln/>
        </p:spPr>
        <p:txBody>
          <a:bodyPr wrap="square" lIns="0" tIns="0" rIns="0" bIns="0" rtlCol="0" anchor="ctr"/>
          <a:lstStyle/>
          <a:p>
            <a:pPr marL="0" indent="0">
              <a:buNone/>
            </a:pPr>
            <a:r>
              <a:rPr lang="en-US" sz="800" dirty="0">
                <a:solidFill>
                  <a:srgbClr val="6B7280"/>
                </a:solidFill>
              </a:rPr>
              <a:t>ĐỒ ÁN TỐT NGHIỆP • KỸ THUẬT PHẦN MỀM</a:t>
            </a:r>
            <a:endParaRPr lang="en-US" sz="800" dirty="0"/>
          </a:p>
        </p:txBody>
      </p:sp>
      <p:sp>
        <p:nvSpPr>
          <p:cNvPr id="8" name="Text 6"/>
          <p:cNvSpPr/>
          <p:nvPr/>
        </p:nvSpPr>
        <p:spPr>
          <a:xfrm>
            <a:off x="11109960" y="6547104"/>
            <a:ext cx="274320" cy="182880"/>
          </a:xfrm>
          <a:prstGeom prst="rect">
            <a:avLst/>
          </a:prstGeom>
          <a:noFill/>
          <a:ln/>
        </p:spPr>
        <p:txBody>
          <a:bodyPr wrap="square" lIns="0" tIns="0" rIns="0" bIns="0" rtlCol="0" anchor="ctr"/>
          <a:lstStyle/>
          <a:p>
            <a:pPr marL="0" indent="0" algn="r">
              <a:buNone/>
            </a:pPr>
            <a:r>
              <a:rPr lang="en-US" sz="900" dirty="0">
                <a:solidFill>
                  <a:srgbClr val="6B7280"/>
                </a:solidFill>
              </a:rPr>
              <a:t>21</a:t>
            </a:r>
            <a:endParaRPr lang="en-US" sz="900" dirty="0"/>
          </a:p>
        </p:txBody>
      </p:sp>
      <p:sp>
        <p:nvSpPr>
          <p:cNvPr id="9" name="Text 7"/>
          <p:cNvSpPr/>
          <p:nvPr/>
        </p:nvSpPr>
        <p:spPr>
          <a:xfrm>
            <a:off x="822960" y="1783080"/>
            <a:ext cx="2194560" cy="274320"/>
          </a:xfrm>
          <a:prstGeom prst="rect">
            <a:avLst/>
          </a:prstGeom>
          <a:noFill/>
          <a:ln/>
        </p:spPr>
        <p:txBody>
          <a:bodyPr wrap="square" lIns="0" tIns="0" rIns="0" bIns="0" rtlCol="0" anchor="ctr"/>
          <a:lstStyle/>
          <a:p>
            <a:pPr marL="0" indent="0">
              <a:buNone/>
            </a:pPr>
            <a:r>
              <a:rPr lang="en-US" sz="1900" b="1" dirty="0">
                <a:solidFill>
                  <a:srgbClr val="2563EB"/>
                </a:solidFill>
              </a:rPr>
              <a:t>Kết luận</a:t>
            </a:r>
            <a:endParaRPr lang="en-US" sz="1900" dirty="0"/>
          </a:p>
        </p:txBody>
      </p:sp>
      <p:sp>
        <p:nvSpPr>
          <p:cNvPr id="10" name="Text 8"/>
          <p:cNvSpPr/>
          <p:nvPr/>
        </p:nvSpPr>
        <p:spPr>
          <a:xfrm>
            <a:off x="960120" y="2194560"/>
            <a:ext cx="4892040" cy="2148840"/>
          </a:xfrm>
          <a:prstGeom prst="rect">
            <a:avLst/>
          </a:prstGeom>
          <a:noFill/>
          <a:ln/>
        </p:spPr>
        <p:txBody>
          <a:bodyPr wrap="square" lIns="254" tIns="254" rIns="254" bIns="254" rtlCol="0" anchor="ctr">
            <a:normAutofit/>
          </a:bodyPr>
          <a:lstStyle/>
          <a:p>
            <a:r>
              <a:rPr lang="en-US" sz="1500" dirty="0">
                <a:solidFill>
                  <a:srgbClr val="111827"/>
                </a:solidFill>
              </a:rPr>
              <a:t>Hệ thống đã chứng minh tính khả thi của điểm danh tự động bằng thị giác máy tính trong môi trường đại học.</a:t>
            </a:r>
            <a:endParaRPr lang="en-US" sz="1500" dirty="0"/>
          </a:p>
          <a:p>
            <a:r>
              <a:rPr lang="en-US" sz="1500" dirty="0">
                <a:solidFill>
                  <a:srgbClr val="111827"/>
                </a:solidFill>
              </a:rPr>
              <a:t>Quy trình xử lý kết hợp nhận diện khuôn mặt, chống giả mạo và kiểm tra nghiệp vụ trước khi ghi nhận.</a:t>
            </a:r>
            <a:endParaRPr lang="en-US" sz="1500" dirty="0"/>
          </a:p>
          <a:p>
            <a:r>
              <a:rPr lang="en-US" sz="1500" dirty="0">
                <a:solidFill>
                  <a:srgbClr val="111827"/>
                </a:solidFill>
              </a:rPr>
              <a:t>Kiến trúc có thể tiếp tục mở rộng cho nhiều camera, nhiều lớp học và dữ liệu lớn hơn.</a:t>
            </a:r>
            <a:endParaRPr lang="en-US" sz="1500" dirty="0"/>
          </a:p>
        </p:txBody>
      </p:sp>
      <p:sp>
        <p:nvSpPr>
          <p:cNvPr id="11" name="Text 9"/>
          <p:cNvSpPr/>
          <p:nvPr/>
        </p:nvSpPr>
        <p:spPr>
          <a:xfrm>
            <a:off x="6400800" y="1783080"/>
            <a:ext cx="2743200" cy="274320"/>
          </a:xfrm>
          <a:prstGeom prst="rect">
            <a:avLst/>
          </a:prstGeom>
          <a:noFill/>
          <a:ln/>
        </p:spPr>
        <p:txBody>
          <a:bodyPr wrap="square" lIns="0" tIns="0" rIns="0" bIns="0" rtlCol="0" anchor="ctr"/>
          <a:lstStyle/>
          <a:p>
            <a:pPr marL="0" indent="0">
              <a:buNone/>
            </a:pPr>
            <a:r>
              <a:rPr lang="en-US" sz="1900" b="1" dirty="0">
                <a:solidFill>
                  <a:srgbClr val="2563EB"/>
                </a:solidFill>
              </a:rPr>
              <a:t>Hướng phát triển</a:t>
            </a:r>
            <a:endParaRPr lang="en-US" sz="1900" dirty="0"/>
          </a:p>
        </p:txBody>
      </p:sp>
      <p:sp>
        <p:nvSpPr>
          <p:cNvPr id="12" name="Text 10"/>
          <p:cNvSpPr/>
          <p:nvPr/>
        </p:nvSpPr>
        <p:spPr>
          <a:xfrm>
            <a:off x="6537960" y="2194560"/>
            <a:ext cx="4800600" cy="2514600"/>
          </a:xfrm>
          <a:prstGeom prst="rect">
            <a:avLst/>
          </a:prstGeom>
          <a:noFill/>
          <a:ln/>
        </p:spPr>
        <p:txBody>
          <a:bodyPr wrap="square" lIns="254" tIns="254" rIns="254" bIns="254" rtlCol="0" anchor="ctr">
            <a:normAutofit/>
          </a:bodyPr>
          <a:lstStyle/>
          <a:p>
            <a:r>
              <a:rPr lang="en-US" sz="1500" dirty="0">
                <a:solidFill>
                  <a:srgbClr val="111827"/>
                </a:solidFill>
              </a:rPr>
              <a:t>Mở rộng tập dữ liệu và thiết bị camera kiểm thử.</a:t>
            </a:r>
            <a:endParaRPr lang="en-US" sz="1500" dirty="0"/>
          </a:p>
          <a:p>
            <a:r>
              <a:rPr lang="en-US" sz="1500" dirty="0">
                <a:solidFill>
                  <a:srgbClr val="111827"/>
                </a:solidFill>
              </a:rPr>
              <a:t>Đo TP/TN/FP/FN để tính FAR, FRR, EER cho liveness.</a:t>
            </a:r>
            <a:endParaRPr lang="en-US" sz="1500" dirty="0"/>
          </a:p>
          <a:p>
            <a:r>
              <a:rPr lang="en-US" sz="1500" dirty="0">
                <a:solidFill>
                  <a:srgbClr val="111827"/>
                </a:solidFill>
              </a:rPr>
              <a:t>Lưu log nhiều lần chạy và độ lệch chuẩn cho hiệu năng.</a:t>
            </a:r>
            <a:endParaRPr lang="en-US" sz="1500" dirty="0"/>
          </a:p>
          <a:p>
            <a:r>
              <a:rPr lang="en-US" sz="1500" dirty="0">
                <a:solidFill>
                  <a:srgbClr val="111827"/>
                </a:solidFill>
              </a:rPr>
              <a:t>Hoàn thiện chính sách dữ liệu sinh trắc học và quyền riêng tư.</a:t>
            </a:r>
            <a:endParaRPr lang="en-US" sz="1500" dirty="0"/>
          </a:p>
          <a:p>
            <a:r>
              <a:rPr lang="en-US" sz="1500" dirty="0">
                <a:solidFill>
                  <a:srgbClr val="111827"/>
                </a:solidFill>
              </a:rPr>
              <a:t>Tối ưu lưu trữ vector và triển khai Edge Computing.</a:t>
            </a:r>
            <a:endParaRPr lang="en-US" sz="1500" dirty="0"/>
          </a:p>
        </p:txBody>
      </p:sp>
      <p:sp>
        <p:nvSpPr>
          <p:cNvPr id="13" name="Shape 11"/>
          <p:cNvSpPr/>
          <p:nvPr/>
        </p:nvSpPr>
        <p:spPr>
          <a:xfrm>
            <a:off x="822960" y="5532120"/>
            <a:ext cx="10424160" cy="594360"/>
          </a:xfrm>
          <a:prstGeom prst="roundRect">
            <a:avLst>
              <a:gd name="adj" fmla="val 7692"/>
            </a:avLst>
          </a:prstGeom>
          <a:solidFill>
            <a:srgbClr val="EFF6FF"/>
          </a:solidFill>
          <a:ln w="12700">
            <a:solidFill>
              <a:srgbClr val="DBEAFE"/>
            </a:solidFill>
            <a:prstDash val="solid"/>
          </a:ln>
        </p:spPr>
      </p:sp>
      <p:sp>
        <p:nvSpPr>
          <p:cNvPr id="14" name="Text 12"/>
          <p:cNvSpPr/>
          <p:nvPr/>
        </p:nvSpPr>
        <p:spPr>
          <a:xfrm>
            <a:off x="1005840" y="5733288"/>
            <a:ext cx="10058400" cy="201168"/>
          </a:xfrm>
          <a:prstGeom prst="rect">
            <a:avLst/>
          </a:prstGeom>
          <a:noFill/>
          <a:ln/>
        </p:spPr>
        <p:txBody>
          <a:bodyPr wrap="square" lIns="0" tIns="0" rIns="0" bIns="0" rtlCol="0" anchor="ctr"/>
          <a:lstStyle/>
          <a:p>
            <a:pPr marL="0" indent="0" algn="ctr">
              <a:buNone/>
            </a:pPr>
            <a:r>
              <a:rPr lang="en-US" sz="1450" b="1" dirty="0">
                <a:solidFill>
                  <a:srgbClr val="2563EB"/>
                </a:solidFill>
              </a:rPr>
              <a:t>Giá trị cốt lõi: nền tảng có thể phát triển thành hệ thống điểm danh thông minh ở quy mô thực tế.</a:t>
            </a:r>
            <a:endParaRPr lang="en-US" sz="14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2335F"/>
        </a:solidFill>
        <a:effectLst/>
      </p:bgPr>
    </p:bg>
    <p:spTree>
      <p:nvGrpSpPr>
        <p:cNvPr id="1" name=""/>
        <p:cNvGrpSpPr/>
        <p:nvPr/>
      </p:nvGrpSpPr>
      <p:grpSpPr>
        <a:xfrm>
          <a:off x="0" y="0"/>
          <a:ext cx="0" cy="0"/>
          <a:chOff x="0" y="0"/>
          <a:chExt cx="0" cy="0"/>
        </a:xfrm>
      </p:grpSpPr>
      <p:pic>
        <p:nvPicPr>
          <p:cNvPr id="2" name="Image 0" descr="/mnt/data/unz/ppt/media/image.png"/>
          <p:cNvPicPr>
            <a:picLocks noChangeAspect="1"/>
          </p:cNvPicPr>
          <p:nvPr/>
        </p:nvPicPr>
        <p:blipFill>
          <a:blip r:embed="rId3"/>
          <a:stretch>
            <a:fillRect/>
          </a:stretch>
        </p:blipFill>
        <p:spPr>
          <a:xfrm>
            <a:off x="685800" y="693751"/>
            <a:ext cx="960120" cy="761337"/>
          </a:xfrm>
          <a:prstGeom prst="rect">
            <a:avLst/>
          </a:prstGeom>
        </p:spPr>
      </p:pic>
      <p:sp>
        <p:nvSpPr>
          <p:cNvPr id="3" name="Text 0"/>
          <p:cNvSpPr/>
          <p:nvPr/>
        </p:nvSpPr>
        <p:spPr>
          <a:xfrm>
            <a:off x="777240" y="1965960"/>
            <a:ext cx="7863840" cy="219456"/>
          </a:xfrm>
          <a:prstGeom prst="rect">
            <a:avLst/>
          </a:prstGeom>
          <a:noFill/>
          <a:ln/>
        </p:spPr>
        <p:txBody>
          <a:bodyPr wrap="square" lIns="0" tIns="0" rIns="0" bIns="0" rtlCol="0" anchor="ctr"/>
          <a:lstStyle/>
          <a:p>
            <a:pPr marL="0" indent="0">
              <a:buNone/>
            </a:pPr>
            <a:r>
              <a:rPr lang="en-US" sz="1100" b="1" dirty="0">
                <a:solidFill>
                  <a:srgbClr val="A7C7E7"/>
                </a:solidFill>
              </a:rPr>
              <a:t>NGHIÊN CỨU GIẢI PHÁP ĐIỂM DANH TỰ ĐỘNG BẰNG THỊ GIÁC MÁY TÍNH</a:t>
            </a:r>
            <a:endParaRPr lang="en-US" sz="1100" dirty="0"/>
          </a:p>
        </p:txBody>
      </p:sp>
      <p:sp>
        <p:nvSpPr>
          <p:cNvPr id="4" name="Text 1"/>
          <p:cNvSpPr/>
          <p:nvPr/>
        </p:nvSpPr>
        <p:spPr>
          <a:xfrm>
            <a:off x="777240" y="2834640"/>
            <a:ext cx="5120640" cy="1188720"/>
          </a:xfrm>
          <a:prstGeom prst="rect">
            <a:avLst/>
          </a:prstGeom>
          <a:noFill/>
          <a:ln/>
        </p:spPr>
        <p:txBody>
          <a:bodyPr wrap="square" lIns="0" tIns="0" rIns="0" bIns="0" rtlCol="0" anchor="ctr">
            <a:normAutofit/>
          </a:bodyPr>
          <a:lstStyle/>
          <a:p>
            <a:pPr marL="0" indent="0">
              <a:buNone/>
            </a:pPr>
            <a:r>
              <a:rPr lang="en-US" sz="3700" b="1" dirty="0">
                <a:solidFill>
                  <a:srgbClr val="FFFFFF"/>
                </a:solidFill>
              </a:rPr>
              <a:t>XIN CẢM ƠN</a:t>
            </a:r>
            <a:endParaRPr lang="en-US" sz="3700" dirty="0"/>
          </a:p>
          <a:p>
            <a:pPr marL="0" indent="0">
              <a:buNone/>
            </a:pPr>
            <a:r>
              <a:rPr lang="en-US" sz="3700" b="1" dirty="0">
                <a:solidFill>
                  <a:srgbClr val="FFFFFF"/>
                </a:solidFill>
              </a:rPr>
              <a:t>HỘI ĐỒNG</a:t>
            </a:r>
            <a:endParaRPr lang="en-US" sz="3700" dirty="0"/>
          </a:p>
        </p:txBody>
      </p:sp>
      <p:sp>
        <p:nvSpPr>
          <p:cNvPr id="5" name="Text 2"/>
          <p:cNvSpPr/>
          <p:nvPr/>
        </p:nvSpPr>
        <p:spPr>
          <a:xfrm>
            <a:off x="777240" y="4663440"/>
            <a:ext cx="5486400" cy="320040"/>
          </a:xfrm>
          <a:prstGeom prst="rect">
            <a:avLst/>
          </a:prstGeom>
          <a:noFill/>
          <a:ln/>
        </p:spPr>
        <p:txBody>
          <a:bodyPr wrap="square" lIns="0" tIns="0" rIns="0" bIns="0" rtlCol="0" anchor="ctr"/>
          <a:lstStyle/>
          <a:p>
            <a:pPr marL="0" indent="0">
              <a:buNone/>
            </a:pPr>
            <a:r>
              <a:rPr lang="en-US" sz="1800" dirty="0">
                <a:solidFill>
                  <a:srgbClr val="D1D5DB"/>
                </a:solidFill>
              </a:rPr>
              <a:t>Kính mong nhận được câu hỏi và góp ý.</a:t>
            </a:r>
            <a:endParaRPr lang="en-US" sz="1800" dirty="0"/>
          </a:p>
        </p:txBody>
      </p:sp>
      <p:sp>
        <p:nvSpPr>
          <p:cNvPr id="6" name="Text 3"/>
          <p:cNvSpPr/>
          <p:nvPr/>
        </p:nvSpPr>
        <p:spPr>
          <a:xfrm>
            <a:off x="777240" y="6035040"/>
            <a:ext cx="3474720" cy="228600"/>
          </a:xfrm>
          <a:prstGeom prst="rect">
            <a:avLst/>
          </a:prstGeom>
          <a:noFill/>
          <a:ln/>
        </p:spPr>
        <p:txBody>
          <a:bodyPr wrap="square" lIns="0" tIns="0" rIns="0" bIns="0" rtlCol="0" anchor="ctr"/>
          <a:lstStyle/>
          <a:p>
            <a:pPr marL="0" indent="0">
              <a:buNone/>
            </a:pPr>
            <a:r>
              <a:rPr lang="en-US" sz="1300" b="1" dirty="0">
                <a:solidFill>
                  <a:srgbClr val="FFFFFF"/>
                </a:solidFill>
              </a:rPr>
              <a:t>Nguyễn Đông Từ • MTU Face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216</TotalTime>
  <Words>3117</Words>
  <Application>Microsoft Office PowerPoint</Application>
  <PresentationFormat>Màn hình rộng</PresentationFormat>
  <Paragraphs>284</Paragraphs>
  <Slides>22</Slides>
  <Notes>22</Notes>
  <HiddenSlides>0</HiddenSlides>
  <MMClips>0</MMClips>
  <ScaleCrop>false</ScaleCrop>
  <HeadingPairs>
    <vt:vector size="6" baseType="variant">
      <vt:variant>
        <vt:lpstr>Phông được Dùng</vt:lpstr>
      </vt:variant>
      <vt:variant>
        <vt:i4>2</vt:i4>
      </vt:variant>
      <vt:variant>
        <vt:lpstr>Chủ đề</vt:lpstr>
      </vt:variant>
      <vt:variant>
        <vt:i4>1</vt:i4>
      </vt:variant>
      <vt:variant>
        <vt:lpstr>Tiêu đề Bản chiếu</vt:lpstr>
      </vt:variant>
      <vt:variant>
        <vt:i4>22</vt:i4>
      </vt:variant>
    </vt:vector>
  </HeadingPairs>
  <TitlesOfParts>
    <vt:vector size="25" baseType="lpstr">
      <vt:lpstr>Arial</vt:lpstr>
      <vt:lpstr>Calibri</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Trường Đại học Xây dựng Miền Tây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Nghiên cứu giải pháp điểm danh tự động bằng thị giác máy tính</dc:title>
  <dc:subject>Báo cáo bảo vệ đồ án tốt nghiệp</dc:subject>
  <dc:creator>Nguyễn Đông Từ</dc:creator>
  <cp:lastModifiedBy>Từ Nguyễn</cp:lastModifiedBy>
  <cp:revision>6</cp:revision>
  <dcterms:created xsi:type="dcterms:W3CDTF">2026-08-13T07:42:56Z</dcterms:created>
  <dcterms:modified xsi:type="dcterms:W3CDTF">2026-08-13T11:51:12Z</dcterms:modified>
</cp:coreProperties>
</file>