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8382238ff40c7" /><Relationship Type="http://schemas.openxmlformats.org/officeDocument/2006/relationships/extended-properties" Target="/docProps/app.xml" Id="Rcf474a2f7d264632" /><Relationship Type="http://schemas.openxmlformats.org/officeDocument/2006/relationships/officeDocument" Target="/ppt/presentation.xml" Id="R2ee3b4d3e1a24a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b2ad6e4f2c4173"/>
  </p:sldMasterIdLst>
  <p:notesMasterIdLst>
    <p:notesMasterId xmlns:r="http://schemas.openxmlformats.org/officeDocument/2006/relationships" r:id="R067f0a84d9e44e22"/>
  </p:notesMasterIdLst>
  <p:sldIdLst>
    <p:sldId xmlns:r="http://schemas.openxmlformats.org/officeDocument/2006/relationships" id="256" r:id="Rc39e4d2be94a4490"/>
    <p:sldId xmlns:r="http://schemas.openxmlformats.org/officeDocument/2006/relationships" id="257" r:id="R036acb43717e413b"/>
    <p:sldId xmlns:r="http://schemas.openxmlformats.org/officeDocument/2006/relationships" id="258" r:id="R39226632ebad4e9b"/>
    <p:sldId xmlns:r="http://schemas.openxmlformats.org/officeDocument/2006/relationships" id="259" r:id="Rffac50d85d7e4a04"/>
    <p:sldId xmlns:r="http://schemas.openxmlformats.org/officeDocument/2006/relationships" id="260" r:id="Rc22597e98b064c64"/>
    <p:sldId xmlns:r="http://schemas.openxmlformats.org/officeDocument/2006/relationships" id="261" r:id="Raacec419ed044b49"/>
    <p:sldId xmlns:r="http://schemas.openxmlformats.org/officeDocument/2006/relationships" id="262" r:id="R871d2ff1219143f8"/>
    <p:sldId xmlns:r="http://schemas.openxmlformats.org/officeDocument/2006/relationships" id="263" r:id="R105f54b7f1314e56"/>
    <p:sldId xmlns:r="http://schemas.openxmlformats.org/officeDocument/2006/relationships" id="264" r:id="R56525408b63c441b"/>
    <p:sldId xmlns:r="http://schemas.openxmlformats.org/officeDocument/2006/relationships" id="265" r:id="R675867dd8e1a4401"/>
    <p:sldId xmlns:r="http://schemas.openxmlformats.org/officeDocument/2006/relationships" id="266" r:id="R862273532cc44ad4"/>
    <p:sldId xmlns:r="http://schemas.openxmlformats.org/officeDocument/2006/relationships" id="267" r:id="R6c3198477b3c408b"/>
    <p:sldId xmlns:r="http://schemas.openxmlformats.org/officeDocument/2006/relationships" id="268" r:id="R71d7d9942a394ab4"/>
    <p:sldId xmlns:r="http://schemas.openxmlformats.org/officeDocument/2006/relationships" id="269" r:id="R0086f9a6e8a04d03"/>
    <p:sldId xmlns:r="http://schemas.openxmlformats.org/officeDocument/2006/relationships" id="270" r:id="R03840c66a2ad44dd"/>
    <p:sldId xmlns:r="http://schemas.openxmlformats.org/officeDocument/2006/relationships" id="271" r:id="Ra45a98a0a87942d8"/>
    <p:sldId xmlns:r="http://schemas.openxmlformats.org/officeDocument/2006/relationships" id="272" r:id="R5bd0a7e38b954839"/>
    <p:sldId xmlns:r="http://schemas.openxmlformats.org/officeDocument/2006/relationships" id="273" r:id="Rad0308b252984e06"/>
    <p:sldId xmlns:r="http://schemas.openxmlformats.org/officeDocument/2006/relationships" id="274" r:id="Rae74e296901e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c90135d11f421d" /><Relationship Type="http://schemas.openxmlformats.org/officeDocument/2006/relationships/slideMaster" Target="/ppt/slideMasters/slideMaster1.xml" Id="Re6b2ad6e4f2c4173" /><Relationship Type="http://schemas.openxmlformats.org/officeDocument/2006/relationships/notesMaster" Target="/ppt/notesMasters/notesMaster1.xml" Id="R067f0a84d9e44e22" /><Relationship Type="http://schemas.openxmlformats.org/officeDocument/2006/relationships/presProps" Target="/ppt/presProps.xml" Id="R9e86032ab6bf45f5" /><Relationship Type="http://schemas.openxmlformats.org/officeDocument/2006/relationships/tableStyles" Target="/ppt/tableStyles.xml" Id="R58c8a88da8374dfc" /><Relationship Type="http://schemas.openxmlformats.org/officeDocument/2006/relationships/slide" Target="/ppt/slides/slide1.xml" Id="Rc39e4d2be94a4490" /><Relationship Type="http://schemas.openxmlformats.org/officeDocument/2006/relationships/slide" Target="/ppt/slides/slide2.xml" Id="R036acb43717e413b" /><Relationship Type="http://schemas.openxmlformats.org/officeDocument/2006/relationships/slide" Target="/ppt/slides/slide3.xml" Id="R39226632ebad4e9b" /><Relationship Type="http://schemas.openxmlformats.org/officeDocument/2006/relationships/slide" Target="/ppt/slides/slide4.xml" Id="Rffac50d85d7e4a04" /><Relationship Type="http://schemas.openxmlformats.org/officeDocument/2006/relationships/slide" Target="/ppt/slides/slide5.xml" Id="Rc22597e98b064c64" /><Relationship Type="http://schemas.openxmlformats.org/officeDocument/2006/relationships/slide" Target="/ppt/slides/slide6.xml" Id="Raacec419ed044b49" /><Relationship Type="http://schemas.openxmlformats.org/officeDocument/2006/relationships/slide" Target="/ppt/slides/slide7.xml" Id="R871d2ff1219143f8" /><Relationship Type="http://schemas.openxmlformats.org/officeDocument/2006/relationships/slide" Target="/ppt/slides/slide8.xml" Id="R105f54b7f1314e56" /><Relationship Type="http://schemas.openxmlformats.org/officeDocument/2006/relationships/slide" Target="/ppt/slides/slide9.xml" Id="R56525408b63c441b" /><Relationship Type="http://schemas.openxmlformats.org/officeDocument/2006/relationships/slide" Target="/ppt/slides/slide10.xml" Id="R675867dd8e1a4401" /><Relationship Type="http://schemas.openxmlformats.org/officeDocument/2006/relationships/slide" Target="/ppt/slides/slide11.xml" Id="R862273532cc44ad4" /><Relationship Type="http://schemas.openxmlformats.org/officeDocument/2006/relationships/slide" Target="/ppt/slides/slide12.xml" Id="R6c3198477b3c408b" /><Relationship Type="http://schemas.openxmlformats.org/officeDocument/2006/relationships/slide" Target="/ppt/slides/slide13.xml" Id="R71d7d9942a394ab4" /><Relationship Type="http://schemas.openxmlformats.org/officeDocument/2006/relationships/slide" Target="/ppt/slides/slide14.xml" Id="R0086f9a6e8a04d03" /><Relationship Type="http://schemas.openxmlformats.org/officeDocument/2006/relationships/slide" Target="/ppt/slides/slide15.xml" Id="R03840c66a2ad44dd" /><Relationship Type="http://schemas.openxmlformats.org/officeDocument/2006/relationships/slide" Target="/ppt/slides/slide16.xml" Id="Ra45a98a0a87942d8" /><Relationship Type="http://schemas.openxmlformats.org/officeDocument/2006/relationships/slide" Target="/ppt/slides/slide17.xml" Id="R5bd0a7e38b954839" /><Relationship Type="http://schemas.openxmlformats.org/officeDocument/2006/relationships/slide" Target="/ppt/slides/slide18.xml" Id="Rad0308b252984e06" /><Relationship Type="http://schemas.openxmlformats.org/officeDocument/2006/relationships/slide" Target="/ppt/slides/slide19.xml" Id="Rae74e296901e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9ced6ad2274b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d02ba2b5254a3f" /><Relationship Type="http://schemas.openxmlformats.org/officeDocument/2006/relationships/notesMaster" Target="/ppt/notesMasters/notesMaster1.xml" Id="R965ec4eabdb14b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ff6fb23af44af4" /><Relationship Type="http://schemas.openxmlformats.org/officeDocument/2006/relationships/notesMaster" Target="/ppt/notesMasters/notesMaster1.xml" Id="Rdbbb3227ae2042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14bf7230ae486e" /><Relationship Type="http://schemas.openxmlformats.org/officeDocument/2006/relationships/notesMaster" Target="/ppt/notesMasters/notesMaster1.xml" Id="R476117a4129641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8b78de5d30418b" /><Relationship Type="http://schemas.openxmlformats.org/officeDocument/2006/relationships/notesMaster" Target="/ppt/notesMasters/notesMaster1.xml" Id="Ra5ea5ca15eaf49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d3fcfe90e4f0d" /><Relationship Type="http://schemas.openxmlformats.org/officeDocument/2006/relationships/notesMaster" Target="/ppt/notesMasters/notesMaster1.xml" Id="Red8e44751cbf47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1d9ed04ec54e15" /><Relationship Type="http://schemas.openxmlformats.org/officeDocument/2006/relationships/notesMaster" Target="/ppt/notesMasters/notesMaster1.xml" Id="Raae841df279649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37b03f78794db8" /><Relationship Type="http://schemas.openxmlformats.org/officeDocument/2006/relationships/notesMaster" Target="/ppt/notesMasters/notesMaster1.xml" Id="Rcd7f721b1a2048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c1261e665b49f8" /><Relationship Type="http://schemas.openxmlformats.org/officeDocument/2006/relationships/notesMaster" Target="/ppt/notesMasters/notesMaster1.xml" Id="Rcbd6e287c11541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bbe34631244e5c" /><Relationship Type="http://schemas.openxmlformats.org/officeDocument/2006/relationships/notesMaster" Target="/ppt/notesMasters/notesMaster1.xml" Id="Rbcecbd83c59540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84d90bf6844be5" /><Relationship Type="http://schemas.openxmlformats.org/officeDocument/2006/relationships/notesMaster" Target="/ppt/notesMasters/notesMaster1.xml" Id="R87f6d8b0e9fc4b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61f574923e4d4d" /><Relationship Type="http://schemas.openxmlformats.org/officeDocument/2006/relationships/notesMaster" Target="/ppt/notesMasters/notesMaster1.xml" Id="R0e11d96b684343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4403afba5441a1" /><Relationship Type="http://schemas.openxmlformats.org/officeDocument/2006/relationships/notesMaster" Target="/ppt/notesMasters/notesMaster1.xml" Id="R6ac34e40f65b4d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e66e02b3dc41de" /><Relationship Type="http://schemas.openxmlformats.org/officeDocument/2006/relationships/notesMaster" Target="/ppt/notesMasters/notesMaster1.xml" Id="R5d53e3d1e17449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32898d75694f02" /><Relationship Type="http://schemas.openxmlformats.org/officeDocument/2006/relationships/notesMaster" Target="/ppt/notesMasters/notesMaster1.xml" Id="R7a9a07bfb57c42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65027edf0744ea" /><Relationship Type="http://schemas.openxmlformats.org/officeDocument/2006/relationships/notesMaster" Target="/ppt/notesMasters/notesMaster1.xml" Id="R334652709d7248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7c8e36e094427f" /><Relationship Type="http://schemas.openxmlformats.org/officeDocument/2006/relationships/notesMaster" Target="/ppt/notesMasters/notesMaster1.xml" Id="R6170a1cdeb8642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c452890dd8480c" /><Relationship Type="http://schemas.openxmlformats.org/officeDocument/2006/relationships/notesMaster" Target="/ppt/notesMasters/notesMaster1.xml" Id="Re1e2e46d2d9d41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e2a7317c0f455a" /><Relationship Type="http://schemas.openxmlformats.org/officeDocument/2006/relationships/notesMaster" Target="/ppt/notesMasters/notesMaster1.xml" Id="Rd3d79fda4f954f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2b7353b5924227" /><Relationship Type="http://schemas.openxmlformats.org/officeDocument/2006/relationships/notesMaster" Target="/ppt/notesMasters/notesMaster1.xml" Id="Reb1d30e6c49f4e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thực tế và mục tiêu xây dựng một hệ thống đa nền tảng, không chỉ một mô hình nhận diện.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trang bìa</a:t>
            </a:r>
          </a:p>
          <a:p xmlns:a="http://schemas.openxmlformats.org/drawingml/2006/main">
            <a:r>
              <a:t>- Logo MTU: tài sản dự án trong báo cáo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đây là bài toán quản lý đào tạo kết hợp nhận diện, không chỉ là bài toán AI đơn lẻ.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Phần I – Lý do chọn đề tài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Mục tiêu nghiên cứu và Phạm vi nghiên cứu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3.1 – Tổng quan hệ thống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3.2 – Quy trình xử lý ảnh và ra quyết định điểm danh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Mục 2.2 và Bảng 4.7</a:t>
            </a:r>
          </a:p>
          <a:p xmlns:a="http://schemas.openxmlformats.org/drawingml/2006/main">
            <a:r>
              <a:t>- ArcFace: https://openaccess.thecvf.com/content_CVPR_2019/html/Deng_ArcFace_Additive_Angular_Margin_Loss_for_Deep_Face_Recognition_CVPR_2019_paper.html</a:t>
            </a:r>
          </a:p>
          <a:p xmlns:a="http://schemas.openxmlformats.org/drawingml/2006/main">
            <a:r>
              <a:t>- ResNet: https://openaccess.thecvf.com/content_cvpr_2016/html/He_Deep_Residual_Learning_CVPR_2016_paper.html</a:t>
            </a:r>
          </a:p>
          <a:p xmlns:a="http://schemas.openxmlformats.org/drawingml/2006/main">
            <a:r>
              <a:t>- YOLO11: https://docs.ultralytics.com/models/yolo11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Mục 2.4 và Mục 4 – Đánh giá chống giả mạo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3.3 – Use Case tổng quát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3.7 – Activity Diagram điểm danh qua Camera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3.8 – Activity Diagram check-in từ ứng dụng Mobile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3.14 và Mục 3.20–3.23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4.1 – Trang chủ 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4.2 – Khung điểm danh Kiosk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4.3 và Mục 4.2.2 – Trải nghiệm ứng dụng di động Flutter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4.4 – Độ chính xác và hàm mất mát trong quá trình huấn luyện ResNet50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Hình 4.5 và phần Cơ sở đánh giá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Bảng 4.7 và phần Cơ sở đánh giá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MTUFace_BaoCao.docx, Phần III – Kết luận, hạn chế và hướng phát triển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lời cảm ơn và mời Hội đồng đặt câu hỏi.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MTUFace_BaoCao.docx</a:t>
            </a:r>
          </a:p>
          <a:p xmlns:a="http://schemas.openxmlformats.org/drawingml/2006/main">
            <a:r>
              <a:t>- Logo MTU trong tài sản dự án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440ef1867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e4115edd504509" /><Relationship Type="http://schemas.openxmlformats.org/officeDocument/2006/relationships/slideLayout" Target="/ppt/slideLayouts/slideLayout1.xml" Id="Ra0613d9806c04e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13d9806c04e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38e2d28574e76" /><Relationship Type="http://schemas.openxmlformats.org/officeDocument/2006/relationships/image" Target="/ppt/media/image.png" Id="Rf011b324c1da46f7" /><Relationship Type="http://schemas.openxmlformats.org/officeDocument/2006/relationships/notesSlide" Target="/ppt/notesSlides/notesSlide1.xml" Id="Rc2b7097e0e9f46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f8f37d26747e2" /><Relationship Type="http://schemas.openxmlformats.org/officeDocument/2006/relationships/notesSlide" Target="/ppt/notesSlides/notesSlide2.xml" Id="R3fb1de22ea54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a27f2e3ff4659" /><Relationship Type="http://schemas.openxmlformats.org/officeDocument/2006/relationships/notesSlide" Target="/ppt/notesSlides/notesSlide3.xml" Id="Rf706e126932f44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3aa3c462c47da" /><Relationship Type="http://schemas.openxmlformats.org/officeDocument/2006/relationships/image" Target="/ppt/media/image2.png" Id="R9687375dc79f4c53" /><Relationship Type="http://schemas.openxmlformats.org/officeDocument/2006/relationships/notesSlide" Target="/ppt/notesSlides/notesSlide4.xml" Id="R1e6514da3f8e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3360ee3ea4e6c" /><Relationship Type="http://schemas.openxmlformats.org/officeDocument/2006/relationships/image" Target="/ppt/media/image3.png" Id="Rdcdcb6b60dfa452e" /><Relationship Type="http://schemas.openxmlformats.org/officeDocument/2006/relationships/notesSlide" Target="/ppt/notesSlides/notesSlide5.xml" Id="R1b72f6a90ab741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caabc1fac4faa" /><Relationship Type="http://schemas.openxmlformats.org/officeDocument/2006/relationships/notesSlide" Target="/ppt/notesSlides/notesSlide6.xml" Id="R6f8d81a344384b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e0e7b6d2c40d7" /><Relationship Type="http://schemas.openxmlformats.org/officeDocument/2006/relationships/notesSlide" Target="/ppt/notesSlides/notesSlide7.xml" Id="R24b2b45e774541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89445309b4dd4" /><Relationship Type="http://schemas.openxmlformats.org/officeDocument/2006/relationships/image" Target="/ppt/media/image4.png" Id="R01cfa94bcb794ef4" /><Relationship Type="http://schemas.openxmlformats.org/officeDocument/2006/relationships/notesSlide" Target="/ppt/notesSlides/notesSlide8.xml" Id="R0420f342305d4e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eb991424b4c9d" /><Relationship Type="http://schemas.openxmlformats.org/officeDocument/2006/relationships/image" Target="/ppt/media/image5.png" Id="R95eec708792b46d3" /><Relationship Type="http://schemas.openxmlformats.org/officeDocument/2006/relationships/notesSlide" Target="/ppt/notesSlides/notesSlide9.xml" Id="R5a42215a25e74b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f3b8006084659" /><Relationship Type="http://schemas.openxmlformats.org/officeDocument/2006/relationships/image" Target="/ppt/media/image6.png" Id="R11d06b84f480469d" /><Relationship Type="http://schemas.openxmlformats.org/officeDocument/2006/relationships/notesSlide" Target="/ppt/notesSlides/notesSlide10.xml" Id="Rc0ca2a5380524b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d716fead146b2" /><Relationship Type="http://schemas.openxmlformats.org/officeDocument/2006/relationships/image" Target="/ppt/media/image7.png" Id="R0b3b2ba10e5a4871" /><Relationship Type="http://schemas.openxmlformats.org/officeDocument/2006/relationships/notesSlide" Target="/ppt/notesSlides/notesSlide11.xml" Id="R2e5e9fbbff5242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f5020696b4a26" /><Relationship Type="http://schemas.openxmlformats.org/officeDocument/2006/relationships/image" Target="/ppt/media/image8.png" Id="Rfb22c3461e6648d8" /><Relationship Type="http://schemas.openxmlformats.org/officeDocument/2006/relationships/notesSlide" Target="/ppt/notesSlides/notesSlide12.xml" Id="R76aac7d482024b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76a21c7474feb" /><Relationship Type="http://schemas.openxmlformats.org/officeDocument/2006/relationships/image" Target="/ppt/media/image9.png" Id="R9a5cb7a2858b45f3" /><Relationship Type="http://schemas.openxmlformats.org/officeDocument/2006/relationships/notesSlide" Target="/ppt/notesSlides/notesSlide13.xml" Id="Ra123dadc857444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c8ba627f4751" /><Relationship Type="http://schemas.openxmlformats.org/officeDocument/2006/relationships/image" Target="/ppt/media/image10.png" Id="R1c043cda2e77483a" /><Relationship Type="http://schemas.openxmlformats.org/officeDocument/2006/relationships/notesSlide" Target="/ppt/notesSlides/notesSlide14.xml" Id="Rda071d66ecd544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4791ca0be40bd" /><Relationship Type="http://schemas.openxmlformats.org/officeDocument/2006/relationships/image" Target="/ppt/media/image11.png" Id="R13606603e9374c68" /><Relationship Type="http://schemas.openxmlformats.org/officeDocument/2006/relationships/notesSlide" Target="/ppt/notesSlides/notesSlide15.xml" Id="Rbb548e0acca143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8a2d91eef4c5c" /><Relationship Type="http://schemas.openxmlformats.org/officeDocument/2006/relationships/image" Target="/ppt/media/image12.png" Id="Rf83506ba9d614d62" /><Relationship Type="http://schemas.openxmlformats.org/officeDocument/2006/relationships/notesSlide" Target="/ppt/notesSlides/notesSlide16.xml" Id="R55ee4cc48fa648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11134d34c43cc" /><Relationship Type="http://schemas.openxmlformats.org/officeDocument/2006/relationships/chart" Target="/ppt/slides/charts/chart1.xml" Id="Rf4b736abe954491f" /><Relationship Type="http://schemas.openxmlformats.org/officeDocument/2006/relationships/notesSlide" Target="/ppt/notesSlides/notesSlide17.xml" Id="R002fcf078ef24f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bcf87ddba48b6" /><Relationship Type="http://schemas.openxmlformats.org/officeDocument/2006/relationships/notesSlide" Target="/ppt/notesSlides/notesSlide18.xml" Id="R890053bbf35c44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e9f8e2e0a45c3" /><Relationship Type="http://schemas.openxmlformats.org/officeDocument/2006/relationships/image" Target="/ppt/media/image13.png" Id="R0a5a1e2254d64c74" /><Relationship Type="http://schemas.openxmlformats.org/officeDocument/2006/relationships/notesSlide" Target="/ppt/notesSlides/notesSlide19.xml" Id="R4d430b05190d447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FPS quan sát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InsightFace</c:v>
              </c:pt>
              <c:pt idx="1">
                <c:v>YOLO11 + ResNet50</c:v>
              </c:pt>
            </c:strLit>
          </c:cat>
          <c:val>
            <c:numLit>
              <c:formatCode>General</c:formatCode>
              <c:ptCount val="2"/>
              <c:pt idx="0">
                <c:v>29</c:v>
              </c:pt>
              <c:pt idx="1">
                <c:v>24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DA8BD370-0E11-4BC9-A58D-837C42D0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1b324c1da46f7"/>
          <a:stretch xmlns:a="http://schemas.openxmlformats.org/drawingml/2006/main"/>
        </p:blipFill>
        <p:spPr>
          <a:xfrm xmlns:a="http://schemas.openxmlformats.org/drawingml/2006/main">
            <a:off x="685800" y="647779"/>
            <a:ext cx="1104900" cy="876142"/>
          </a:xfrm>
          <a:prstGeom xmlns:a="http://schemas.openxmlformats.org/drawingml/2006/main" prst="rect">
            <a:avLst/>
          </a:prstGeom>
        </p:spPr>
      </p:pic>
      <p:sp>
        <p:nvSpPr>
          <p:cNvPr id="3" name="school">
            <a:extLst xmlns:a="http://schemas.openxmlformats.org/drawingml/2006/main">
              <a:ext uri="{FF2B5EF4-FFF2-40B4-BE49-F238E27FC236}">
                <a16:creationId xmlns:a16="http://schemas.microsoft.com/office/drawing/2014/main" id="{DCA293EC-46BD-49AC-846B-7CBE0E55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4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56"/>
                </a:solidFill>
              </a:defRPr>
            </a:pPr>
            <a:r>
              <a:rPr sz="1200" b="1">
                <a:solidFill>
                  <a:srgbClr val="102A56"/>
                </a:solidFill>
              </a:rPr>
              <a:t>TRƯỜNG ĐẠI HỌC XÂY DỰNG MIỀN TÂY • KHOA CÔNG NGHỆ</a:t>
            </a:r>
          </a:p>
        </p:txBody>
      </p:sp>
      <p:sp>
        <p:nvSpPr>
          <p:cNvPr id="4" name="type">
            <a:extLst xmlns:a="http://schemas.openxmlformats.org/drawingml/2006/main">
              <a:ext uri="{FF2B5EF4-FFF2-40B4-BE49-F238E27FC236}">
                <a16:creationId xmlns:a16="http://schemas.microsoft.com/office/drawing/2014/main" id="{7CBB9B20-914F-49C6-AE5E-A677D50B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066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BÁO CÁO BẢO VỆ ĐỒ ÁN TỐT NGHIỆP</a:t>
            </a:r>
          </a:p>
        </p:txBody>
      </p:sp>
      <p:sp>
        <p:nvSpPr>
          <p:cNvPr id="5" name="main-title">
            <a:extLst xmlns:a="http://schemas.openxmlformats.org/drawingml/2006/main">
              <a:ext uri="{FF2B5EF4-FFF2-40B4-BE49-F238E27FC236}">
                <a16:creationId xmlns:a16="http://schemas.microsoft.com/office/drawing/2014/main" id="{6D3B477A-56B3-48B4-9F02-3EF53EAC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NGHIÊN CỨU GIẢI PHÁP</a:t>
            </a:r>
          </a:p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ĐIỂM DANH TỰ ĐỘNG BẰNG</a:t>
            </a:r>
          </a:p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THỊ GIÁC MÁY TÍNH</a:t>
            </a:r>
          </a:p>
        </p:txBody>
      </p:sp>
      <p:sp>
        <p:nvSpPr>
          <p:cNvPr id="6" name="meta-band">
            <a:extLst xmlns:a="http://schemas.openxmlformats.org/drawingml/2006/main">
              <a:ext uri="{FF2B5EF4-FFF2-40B4-BE49-F238E27FC236}">
                <a16:creationId xmlns:a16="http://schemas.microsoft.com/office/drawing/2014/main" id="{E72138DC-F32F-419B-98EC-8A1B9202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udent">
            <a:extLst xmlns:a="http://schemas.openxmlformats.org/drawingml/2006/main">
              <a:ext uri="{FF2B5EF4-FFF2-40B4-BE49-F238E27FC236}">
                <a16:creationId xmlns:a16="http://schemas.microsoft.com/office/drawing/2014/main" id="{99B25F12-FE5A-433C-9964-213DBA7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Sinh viên: Nguyễn Đông Từ  •  MSSV: 21D14801030074  •  Lớp: KP22D01</a:t>
            </a:r>
          </a:p>
        </p:txBody>
      </p:sp>
      <p:sp>
        <p:nvSpPr>
          <p:cNvPr id="8" name="supervisors">
            <a:extLst xmlns:a="http://schemas.openxmlformats.org/drawingml/2006/main">
              <a:ext uri="{FF2B5EF4-FFF2-40B4-BE49-F238E27FC236}">
                <a16:creationId xmlns:a16="http://schemas.microsoft.com/office/drawing/2014/main" id="{004D2E51-E05A-4B93-9141-9C0404A8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GVHD: ThS. Đặng Thị Xuân Tiên • ThS. Hà Hoài Nam</a:t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636C2A26-85A0-4D97-A4C3-CC4688F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5315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Vĩnh Long, 2026</a:t>
            </a:r>
          </a:p>
        </p:txBody>
      </p:sp>
    </p:spTree>
    <p:extLst>
      <p:ext uri="{BB962C8B-B14F-4D97-AF65-F5344CB8AC3E}">
        <p14:creationId xmlns:p14="http://schemas.microsoft.com/office/powerpoint/2010/main" val="1766689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DBAAF120-6018-4BE6-9069-C0C27661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580CCB-F2B0-414B-AE0C-2F2F1165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Điểm danh thủ công tạo ra ba vấn đề cần giải quyết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05F4D62E-063F-45A5-9B5E-2F9E050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0">
            <a:extLst xmlns:a="http://schemas.openxmlformats.org/drawingml/2006/main">
              <a:ext uri="{FF2B5EF4-FFF2-40B4-BE49-F238E27FC236}">
                <a16:creationId xmlns:a16="http://schemas.microsoft.com/office/drawing/2014/main" id="{153767CC-F182-4F08-90D8-C86FDE7B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52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090CAAF7-9120-4AAF-8ABD-8C18DF5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11FA6E43-40DC-4AF5-A152-5E4C7A38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Mất thời gian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D45A5A90-861D-4D45-97BF-11CC139E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5–10 phút đầu buổi học có thể dành cho gọi tên hoặc ký xác nhận.</a:t>
            </a:r>
          </a:p>
        </p:txBody>
      </p:sp>
      <p:sp>
        <p:nvSpPr>
          <p:cNvPr id="8" name="problem-1">
            <a:extLst xmlns:a="http://schemas.openxmlformats.org/drawingml/2006/main">
              <a:ext uri="{FF2B5EF4-FFF2-40B4-BE49-F238E27FC236}">
                <a16:creationId xmlns:a16="http://schemas.microsoft.com/office/drawing/2014/main" id="{FDAC9BAC-0319-40F4-B27E-7887C9C6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352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num-1">
            <a:extLst xmlns:a="http://schemas.openxmlformats.org/drawingml/2006/main">
              <a:ext uri="{FF2B5EF4-FFF2-40B4-BE49-F238E27FC236}">
                <a16:creationId xmlns:a16="http://schemas.microsoft.com/office/drawing/2014/main" id="{762F5F5E-8EAC-4C5F-A3DA-5F88CCD8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574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58A14BE9-9C9B-4635-BDDB-C427E79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Khó chống gian lận</a:t>
            </a:r>
          </a:p>
        </p:txBody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834F3FB3-CD08-45D5-8F46-D26706CB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Điểm danh hộ, mượn thẻ và sử dụng ảnh/video làm giảm độ tin cậy.</a:t>
            </a:r>
          </a:p>
        </p:txBody>
      </p:sp>
      <p:sp>
        <p:nvSpPr>
          <p:cNvPr id="12" name="problem-2">
            <a:extLst xmlns:a="http://schemas.openxmlformats.org/drawingml/2006/main">
              <a:ext uri="{FF2B5EF4-FFF2-40B4-BE49-F238E27FC236}">
                <a16:creationId xmlns:a16="http://schemas.microsoft.com/office/drawing/2014/main" id="{419AD8CC-24D9-436F-945D-6F96A477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352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num-2">
            <a:extLst xmlns:a="http://schemas.openxmlformats.org/drawingml/2006/main">
              <a:ext uri="{FF2B5EF4-FFF2-40B4-BE49-F238E27FC236}">
                <a16:creationId xmlns:a16="http://schemas.microsoft.com/office/drawing/2014/main" id="{DA335040-131D-4AD3-BB22-12142654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4" name="head-2">
            <a:extLst xmlns:a="http://schemas.openxmlformats.org/drawingml/2006/main">
              <a:ext uri="{FF2B5EF4-FFF2-40B4-BE49-F238E27FC236}">
                <a16:creationId xmlns:a16="http://schemas.microsoft.com/office/drawing/2014/main" id="{B57086D7-037C-43DC-822A-25410A9E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Dữ liệu phân tán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E655668C-71CE-46C2-801F-CC5F521D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Khó tổng hợp chuyên cần, xử lý tranh chấp và theo dõi theo thời gian thực.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EDC076CF-9323-4185-8EC0-F7290E0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56"/>
                </a:solidFill>
              </a:defRPr>
            </a:pPr>
            <a:r>
              <a:rPr sz="1875" b="1">
                <a:solidFill>
                  <a:srgbClr val="102A56"/>
                </a:solidFill>
              </a:rPr>
              <a:t>Yêu cầu đặt ra: tự động, minh bạch, đa nền tảng và có bằng chứng kiểm tra.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A59BB2F-5E90-4C64-8187-EE3B6801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B288730-1D73-4E9C-9278-85FF0CE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67CDDF7-E416-47E8-B0CB-46385482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4003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84EBD758-B562-4F10-ABD4-C0AC6A25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B7C5CE-3F1C-4CC0-9B22-8AF228FC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Mục tiêu là một hệ thống điểm danh hoàn chỉnh, không chỉ nhận diện khuôn mặt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131B68B5-2545-49A1-A8E4-06697472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302FAD10-CB07-46D4-B261-3E141418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MỤC TIÊU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3968532B-9425-4DF8-A2C3-3E503D51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310C3528-0C8C-47D4-9223-7CC057F0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Nhận diện khuôn mặt theo thời gian thực.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DC0997C5-7983-4247-B53A-C12155EA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66B352F-74FA-4769-80A0-535194A3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Hỗ trợ Camera/Kiosk và ứng dụng Flutter.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167F14AD-FBF1-4D40-BCF2-E68317B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11EC06F-3DE4-45B7-8888-DA3996D5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Giảm gian lận bằng liveness, QR và GPS.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8681EE25-845A-40FA-A9BD-1EE18427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C07F753-C935-4F7C-B0F2-79E329E0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386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Quản lý tập trung, thống kê và xuất báo cáo.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666D776B-2BF4-4FFB-ACB4-D8914F0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ight-head">
            <a:extLst xmlns:a="http://schemas.openxmlformats.org/drawingml/2006/main">
              <a:ext uri="{FF2B5EF4-FFF2-40B4-BE49-F238E27FC236}">
                <a16:creationId xmlns:a16="http://schemas.microsoft.com/office/drawing/2014/main" id="{02725699-FF96-46B0-B34F-F70414BC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PHẠM VI</a:t>
            </a:r>
          </a:p>
        </p:txBody>
      </p:sp>
      <p:sp>
        <p:nvSpPr>
          <p:cNvPr id="15" name="bullet-0">
            <a:extLst xmlns:a="http://schemas.openxmlformats.org/drawingml/2006/main">
              <a:ext uri="{FF2B5EF4-FFF2-40B4-BE49-F238E27FC236}">
                <a16:creationId xmlns:a16="http://schemas.microsoft.com/office/drawing/2014/main" id="{8B019624-F142-4580-9C72-793298DA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2F1C9E9-E961-4328-A3A7-11732617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Ba vai trò: quản trị viên, giảng viên, sinh viên.</a:t>
            </a:r>
          </a:p>
        </p:txBody>
      </p:sp>
      <p:sp>
        <p:nvSpPr>
          <p:cNvPr id="17" name="bullet-1">
            <a:extLst xmlns:a="http://schemas.openxmlformats.org/drawingml/2006/main">
              <a:ext uri="{FF2B5EF4-FFF2-40B4-BE49-F238E27FC236}">
                <a16:creationId xmlns:a16="http://schemas.microsoft.com/office/drawing/2014/main" id="{786B2CA0-5C2B-4055-8A38-38D04509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A15DF7E-09BE-4E7D-AAD7-36212B71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Web Admin, Kiosk và Mobile dùng chung dữ liệu.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14DB4463-8A0B-48C1-B0D2-4500C323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0F0CE13-3B19-4AA8-8BB5-F61C232A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InsightFace mặc định; YOLO11 + ResNet50 để thử nghiệm.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375A1D35-4F36-4DBA-A11C-03ABAC82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2ECBC83-B11F-4D90-BF39-F7EB46CC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Triển khai thử nghiệm trong môi trường đại học.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74D51F8-B49D-4500-82B3-98BFAE2C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26BA556-D6E6-48CD-BFE3-9021EB8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2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7804494-8A71-4FB2-B838-AAA257B8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008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7442EC1C-7860-4C41-880A-17AAFD3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B7F30A-D37D-41C2-A7A9-F64EDD93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Ba nền tảng dùng chung một backend và cơ sở dữ liệu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F919A7B3-DB82-4DF8-B2BC-3E5A390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7375dc79f4c53"/>
          <a:stretch xmlns:a="http://schemas.openxmlformats.org/drawingml/2006/main"/>
        </p:blipFill>
        <p:spPr>
          <a:xfrm xmlns:a="http://schemas.openxmlformats.org/drawingml/2006/main">
            <a:off x="2357768" y="1666875"/>
            <a:ext cx="747646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356EBD0-C645-41E4-8610-60760AEC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3B4A57-CB3C-4E27-8780-5069C59C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2A18FF1-F4F1-4399-BFEA-3B249E4C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3622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AD78CDAB-2680-4CE8-BE98-FFCD7A25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C4DA35-4E8F-40E5-BA1E-80810544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Quyết định điểm danh được tạo qua chín bước kiểm tra liên tiếp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AEC28978-B05B-42E6-91E4-3C52C00E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cb6b60dfa452e"/>
          <a:stretch xmlns:a="http://schemas.openxmlformats.org/drawingml/2006/main"/>
        </p:blipFill>
        <p:spPr>
          <a:xfrm xmlns:a="http://schemas.openxmlformats.org/drawingml/2006/main">
            <a:off x="2324100" y="1619250"/>
            <a:ext cx="75438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33DAF88E-880D-47A8-8580-51756FB1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Camera → tiền xử lý → phát hiện → kiểm tra chất lượng/liveness → trích vector → so khớp → kiểm tra nghiệp vụ → ghi nhận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FC83277-2E1B-4C2B-95C5-F602A13F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5C365CB-F3C3-4C19-9A55-998DA718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5671C20-04DB-408D-8C2B-0D761958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5215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6FF392F9-BBF7-429E-A31C-7AE3400F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45A0DC-BEBE-4C3A-9F89-C7065864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Kiến trúc Factory cho phép chuyển đổi lõi AI mà không đổi nghiệp vụ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12B45DF9-DDCE-4901-AF69-A28A7942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ngine-a">
            <a:extLst xmlns:a="http://schemas.openxmlformats.org/drawingml/2006/main">
              <a:ext uri="{FF2B5EF4-FFF2-40B4-BE49-F238E27FC236}">
                <a16:creationId xmlns:a16="http://schemas.microsoft.com/office/drawing/2014/main" id="{78D5D8BF-FFE5-4710-B7E5-5885878B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5191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a-title">
            <a:extLst xmlns:a="http://schemas.openxmlformats.org/drawingml/2006/main">
              <a:ext uri="{FF2B5EF4-FFF2-40B4-BE49-F238E27FC236}">
                <a16:creationId xmlns:a16="http://schemas.microsoft.com/office/drawing/2014/main" id="{43313FB1-9FDF-4F7F-80EE-AA601FEC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INSIGHTFACE</a:t>
            </a:r>
          </a:p>
        </p:txBody>
      </p:sp>
      <p:sp>
        <p:nvSpPr>
          <p:cNvPr id="6" name="a-sub">
            <a:extLst xmlns:a="http://schemas.openxmlformats.org/drawingml/2006/main">
              <a:ext uri="{FF2B5EF4-FFF2-40B4-BE49-F238E27FC236}">
                <a16:creationId xmlns:a16="http://schemas.microsoft.com/office/drawing/2014/main" id="{DAFC40B8-7A79-483E-9947-324D2584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SCRFD + ArcFace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783C550D-0FC9-4CC9-8C59-26169A20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F337EDB-15AC-432C-9D4B-DBA11AA9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Phát hiện và căn chỉnh khuôn mặt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D8CB0423-3060-4014-888B-9B8F9985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23117420-79C9-4D05-A586-16121D79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Vector đặc trưng 512 chiều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6754C88C-4C7E-4348-AE77-3638C095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6E49D2A-1012-4806-BA68-9D322AC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Lõi mặc định của hệ thống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C8AFAA4F-C621-48C3-8B13-B6B8A1B2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AB9E96D7-C7AC-4EB4-8521-EEF09818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Số liệu quan sát: 29 FPS</a:t>
            </a:r>
          </a:p>
        </p:txBody>
      </p:sp>
      <p:sp>
        <p:nvSpPr>
          <p:cNvPr id="15" name="engine-b">
            <a:extLst xmlns:a="http://schemas.openxmlformats.org/drawingml/2006/main">
              <a:ext uri="{FF2B5EF4-FFF2-40B4-BE49-F238E27FC236}">
                <a16:creationId xmlns:a16="http://schemas.microsoft.com/office/drawing/2014/main" id="{1648F077-A8FE-4716-B069-8A063900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62125"/>
            <a:ext cx="5191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6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b-title">
            <a:extLst xmlns:a="http://schemas.openxmlformats.org/drawingml/2006/main">
              <a:ext uri="{FF2B5EF4-FFF2-40B4-BE49-F238E27FC236}">
                <a16:creationId xmlns:a16="http://schemas.microsoft.com/office/drawing/2014/main" id="{59596FF3-C263-4E58-A6B0-C5EB3349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47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B6D4"/>
                </a:solidFill>
              </a:defRPr>
            </a:pPr>
            <a:r>
              <a:rPr sz="2100" b="1">
                <a:solidFill>
                  <a:srgbClr val="06B6D4"/>
                </a:solidFill>
              </a:rPr>
              <a:t>YOLO11 + RESNET50</a:t>
            </a:r>
          </a:p>
        </p:txBody>
      </p:sp>
      <p:sp>
        <p:nvSpPr>
          <p:cNvPr id="17" name="b-sub">
            <a:extLst xmlns:a="http://schemas.openxmlformats.org/drawingml/2006/main">
              <a:ext uri="{FF2B5EF4-FFF2-40B4-BE49-F238E27FC236}">
                <a16:creationId xmlns:a16="http://schemas.microsoft.com/office/drawing/2014/main" id="{1869AF84-0E69-4029-BF0D-275AA6CC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76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Phát hiện + phân loại danh tính</a:t>
            </a:r>
          </a:p>
        </p:txBody>
      </p:sp>
      <p:sp>
        <p:nvSpPr>
          <p:cNvPr id="18" name="bullet-0">
            <a:extLst xmlns:a="http://schemas.openxmlformats.org/drawingml/2006/main">
              <a:ext uri="{FF2B5EF4-FFF2-40B4-BE49-F238E27FC236}">
                <a16:creationId xmlns:a16="http://schemas.microsoft.com/office/drawing/2014/main" id="{432B4D52-B83D-49E0-99C4-6D379DCA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48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9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22744DD-DCD1-4723-9F9F-8109A54B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480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YOLO11 khoanh vùng khuôn mặt</a:t>
            </a:r>
          </a:p>
        </p:txBody>
      </p:sp>
      <p:sp>
        <p:nvSpPr>
          <p:cNvPr id="20" name="bullet-1">
            <a:extLst xmlns:a="http://schemas.openxmlformats.org/drawingml/2006/main">
              <a:ext uri="{FF2B5EF4-FFF2-40B4-BE49-F238E27FC236}">
                <a16:creationId xmlns:a16="http://schemas.microsoft.com/office/drawing/2014/main" id="{F57D24C2-61E5-4B39-BE1F-CE2FAAF7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43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D29E572-47C1-457A-8B5A-61C2979C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433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ResNet50 trích xuất/phân loại</a:t>
            </a:r>
          </a:p>
        </p:txBody>
      </p:sp>
      <p:sp>
        <p:nvSpPr>
          <p:cNvPr id="22" name="bullet-2">
            <a:extLst xmlns:a="http://schemas.openxmlformats.org/drawingml/2006/main">
              <a:ext uri="{FF2B5EF4-FFF2-40B4-BE49-F238E27FC236}">
                <a16:creationId xmlns:a16="http://schemas.microsoft.com/office/drawing/2014/main" id="{D1BE6667-A90C-4772-918B-92F6D080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38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C19A063C-C0A1-495E-A383-DAD6CB71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386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Thuận lợi thử nghiệm dữ liệu riêng</a:t>
            </a:r>
          </a:p>
        </p:txBody>
      </p:sp>
      <p:sp>
        <p:nvSpPr>
          <p:cNvPr id="24" name="bullet-3">
            <a:extLst xmlns:a="http://schemas.openxmlformats.org/drawingml/2006/main">
              <a:ext uri="{FF2B5EF4-FFF2-40B4-BE49-F238E27FC236}">
                <a16:creationId xmlns:a16="http://schemas.microsoft.com/office/drawing/2014/main" id="{DBFCCC25-B26E-4E3D-8A4D-F1E7A009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533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6B9756F-F87D-47B0-A63B-82308E69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339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Số liệu quan sát: 24 FPS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4D1FF21-9C80-4A5D-8955-28289C56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B3AD051-DACE-49FF-AC3E-83D1357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D879641-142C-4DB3-B5A2-EA3DB2CF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883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7949549C-6B4B-401B-935A-A02C26C8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00C0CD-48D6-4F97-BD08-32E1A16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Chống gian lận được thiết kế theo nhiều lớp xác minh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9507462D-9B61-46EA-B20B-E1926156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nti-num-0">
            <a:extLst xmlns:a="http://schemas.openxmlformats.org/drawingml/2006/main">
              <a:ext uri="{FF2B5EF4-FFF2-40B4-BE49-F238E27FC236}">
                <a16:creationId xmlns:a16="http://schemas.microsoft.com/office/drawing/2014/main" id="{06960001-CD90-4EC0-BA46-23E40CA4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01</a:t>
            </a:r>
          </a:p>
        </p:txBody>
      </p:sp>
      <p:sp>
        <p:nvSpPr>
          <p:cNvPr id="5" name="anti-head-0">
            <a:extLst xmlns:a="http://schemas.openxmlformats.org/drawingml/2006/main">
              <a:ext uri="{FF2B5EF4-FFF2-40B4-BE49-F238E27FC236}">
                <a16:creationId xmlns:a16="http://schemas.microsoft.com/office/drawing/2014/main" id="{2649A16D-FC3A-4448-B49B-200B8DE7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62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Chất lượng ảnh</a:t>
            </a:r>
          </a:p>
        </p:txBody>
      </p:sp>
      <p:sp>
        <p:nvSpPr>
          <p:cNvPr id="6" name="anti-body-0">
            <a:extLst xmlns:a="http://schemas.openxmlformats.org/drawingml/2006/main">
              <a:ext uri="{FF2B5EF4-FFF2-40B4-BE49-F238E27FC236}">
                <a16:creationId xmlns:a16="http://schemas.microsoft.com/office/drawing/2014/main" id="{4A181460-11FE-435E-BA7E-FCACA302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Kích thước vùng mặt, độ mờ và vùng chói sáng.</a:t>
            </a:r>
          </a:p>
        </p:txBody>
      </p:sp>
      <p:sp>
        <p:nvSpPr>
          <p:cNvPr id="7" name="anti-rule-0">
            <a:extLst xmlns:a="http://schemas.openxmlformats.org/drawingml/2006/main">
              <a:ext uri="{FF2B5EF4-FFF2-40B4-BE49-F238E27FC236}">
                <a16:creationId xmlns:a16="http://schemas.microsoft.com/office/drawing/2014/main" id="{E68820E6-170F-415C-B7FD-48560D6A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nti-num-1">
            <a:extLst xmlns:a="http://schemas.openxmlformats.org/drawingml/2006/main">
              <a:ext uri="{FF2B5EF4-FFF2-40B4-BE49-F238E27FC236}">
                <a16:creationId xmlns:a16="http://schemas.microsoft.com/office/drawing/2014/main" id="{51A142B6-5858-43DA-B374-BD910E3B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621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02</a:t>
            </a:r>
          </a:p>
        </p:txBody>
      </p:sp>
      <p:sp>
        <p:nvSpPr>
          <p:cNvPr id="9" name="anti-head-1">
            <a:extLst xmlns:a="http://schemas.openxmlformats.org/drawingml/2006/main">
              <a:ext uri="{FF2B5EF4-FFF2-40B4-BE49-F238E27FC236}">
                <a16:creationId xmlns:a16="http://schemas.microsoft.com/office/drawing/2014/main" id="{FD3BC937-09D6-4FF5-8370-881F9955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62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MiniFASNetV2</a:t>
            </a:r>
          </a:p>
        </p:txBody>
      </p:sp>
      <p:sp>
        <p:nvSpPr>
          <p:cNvPr id="10" name="anti-body-1">
            <a:extLst xmlns:a="http://schemas.openxmlformats.org/drawingml/2006/main">
              <a:ext uri="{FF2B5EF4-FFF2-40B4-BE49-F238E27FC236}">
                <a16:creationId xmlns:a16="http://schemas.microsoft.com/office/drawing/2014/main" id="{C2E6412A-8BA9-4D10-AD09-753DAAF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574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Ước lượng khả năng khuôn mặt thật hoặc ảnh giả.</a:t>
            </a:r>
          </a:p>
        </p:txBody>
      </p:sp>
      <p:sp>
        <p:nvSpPr>
          <p:cNvPr id="11" name="anti-rule-1">
            <a:extLst xmlns:a="http://schemas.openxmlformats.org/drawingml/2006/main">
              <a:ext uri="{FF2B5EF4-FFF2-40B4-BE49-F238E27FC236}">
                <a16:creationId xmlns:a16="http://schemas.microsoft.com/office/drawing/2014/main" id="{EFCB2B9A-A4AD-447F-9FD9-2BBF9CCA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nti-num-2">
            <a:extLst xmlns:a="http://schemas.openxmlformats.org/drawingml/2006/main">
              <a:ext uri="{FF2B5EF4-FFF2-40B4-BE49-F238E27FC236}">
                <a16:creationId xmlns:a16="http://schemas.microsoft.com/office/drawing/2014/main" id="{F0A63DE5-8D83-409C-99D3-7104908A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03</a:t>
            </a:r>
          </a:p>
        </p:txBody>
      </p:sp>
      <p:sp>
        <p:nvSpPr>
          <p:cNvPr id="13" name="anti-head-2">
            <a:extLst xmlns:a="http://schemas.openxmlformats.org/drawingml/2006/main">
              <a:ext uri="{FF2B5EF4-FFF2-40B4-BE49-F238E27FC236}">
                <a16:creationId xmlns:a16="http://schemas.microsoft.com/office/drawing/2014/main" id="{F3FB21E9-2164-447F-9757-5CB4D382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Liveness chủ động</a:t>
            </a:r>
          </a:p>
        </p:txBody>
      </p:sp>
      <p:sp>
        <p:nvSpPr>
          <p:cNvPr id="14" name="anti-body-2">
            <a:extLst xmlns:a="http://schemas.openxmlformats.org/drawingml/2006/main">
              <a:ext uri="{FF2B5EF4-FFF2-40B4-BE49-F238E27FC236}">
                <a16:creationId xmlns:a16="http://schemas.microsoft.com/office/drawing/2014/main" id="{F5B955BF-BF74-4A77-8DE5-ECE1147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Chớp mắt, mỉm cười hoặc quay đầu trên Mobile.</a:t>
            </a:r>
          </a:p>
        </p:txBody>
      </p:sp>
      <p:sp>
        <p:nvSpPr>
          <p:cNvPr id="15" name="anti-rule-2">
            <a:extLst xmlns:a="http://schemas.openxmlformats.org/drawingml/2006/main">
              <a:ext uri="{FF2B5EF4-FFF2-40B4-BE49-F238E27FC236}">
                <a16:creationId xmlns:a16="http://schemas.microsoft.com/office/drawing/2014/main" id="{B2BF8E4B-3980-4607-B8D9-7E79B73D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nti-num-3">
            <a:extLst xmlns:a="http://schemas.openxmlformats.org/drawingml/2006/main">
              <a:ext uri="{FF2B5EF4-FFF2-40B4-BE49-F238E27FC236}">
                <a16:creationId xmlns:a16="http://schemas.microsoft.com/office/drawing/2014/main" id="{3E069E16-01A1-4E3F-ADB6-BFC284F5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04</a:t>
            </a:r>
          </a:p>
        </p:txBody>
      </p:sp>
      <p:sp>
        <p:nvSpPr>
          <p:cNvPr id="17" name="anti-head-3">
            <a:extLst xmlns:a="http://schemas.openxmlformats.org/drawingml/2006/main">
              <a:ext uri="{FF2B5EF4-FFF2-40B4-BE49-F238E27FC236}">
                <a16:creationId xmlns:a16="http://schemas.microsoft.com/office/drawing/2014/main" id="{AA800406-7996-4A78-9680-7F48181F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Ngữ cảnh nghiệp vụ</a:t>
            </a:r>
          </a:p>
        </p:txBody>
      </p:sp>
      <p:sp>
        <p:nvSpPr>
          <p:cNvPr id="18" name="anti-body-3">
            <a:extLst xmlns:a="http://schemas.openxmlformats.org/drawingml/2006/main">
              <a:ext uri="{FF2B5EF4-FFF2-40B4-BE49-F238E27FC236}">
                <a16:creationId xmlns:a16="http://schemas.microsoft.com/office/drawing/2014/main" id="{1AA8B272-BF9C-4011-8760-D9A57F9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QR phiên, GPS, thời gian, lớp học và chống điểm danh trùng.</a:t>
            </a:r>
          </a:p>
        </p:txBody>
      </p:sp>
      <p:sp>
        <p:nvSpPr>
          <p:cNvPr id="19" name="anti-rule-3">
            <a:extLst xmlns:a="http://schemas.openxmlformats.org/drawingml/2006/main">
              <a:ext uri="{FF2B5EF4-FFF2-40B4-BE49-F238E27FC236}">
                <a16:creationId xmlns:a16="http://schemas.microsoft.com/office/drawing/2014/main" id="{6C8D55B0-3030-41F9-B21B-7E8D60E6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958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veat">
            <a:extLst xmlns:a="http://schemas.openxmlformats.org/drawingml/2006/main">
              <a:ext uri="{FF2B5EF4-FFF2-40B4-BE49-F238E27FC236}">
                <a16:creationId xmlns:a16="http://schemas.microsoft.com/office/drawing/2014/main" id="{816C45DA-C1EF-4893-92F8-A07E6AE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Giới hạn hiện tại: chưa có đủ TP/TN/FP/FN để kết luận định lượng FAR, FRR và EER.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A7F2C05-01E3-4969-82BB-582A0051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0F2851-2772-4A87-AACB-F236FC05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C4057F4-1BD7-4CDE-917C-06B06B8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1567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81E46042-6DA5-4518-8C63-06F3F5AE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AF44CC-5341-45B7-BBC8-76C2E5E2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Ba nhóm người dùng tương tác trên cùng một quy trình nghiệp vụ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CF8BB67E-4099-43D8-ADE4-BC7EFC8B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fa94bcb794ef4"/>
          <a:stretch xmlns:a="http://schemas.openxmlformats.org/drawingml/2006/main"/>
        </p:blipFill>
        <p:spPr>
          <a:xfrm xmlns:a="http://schemas.openxmlformats.org/drawingml/2006/main">
            <a:off x="2448278" y="1619250"/>
            <a:ext cx="7295444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CDA2EB3-165A-4C92-BB54-DC1971A9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D434E3-06F4-4458-A731-8DB9C8FB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25C0B47-F9D7-40CC-878E-148F5920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7550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17145EC0-8CE0-40DA-9410-35A8164A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0FF380-FD47-436A-935F-671C73C9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Kiosk ghi nhận tự động sau khi nhận diện và kiểm tra nghiệp vụ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92C41734-7EDC-437F-87E9-055D3C2E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ec708792b46d3"/>
          <a:stretch xmlns:a="http://schemas.openxmlformats.org/drawingml/2006/main"/>
        </p:blipFill>
        <p:spPr>
          <a:xfrm xmlns:a="http://schemas.openxmlformats.org/drawingml/2006/main">
            <a:off x="2541411" y="1619250"/>
            <a:ext cx="7109178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7DA3A29-38D1-4B43-B63D-6015A352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3EF5BB-0196-4D76-B5C1-4522F3E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BE45F95-EE40-4E69-9EDF-B0016F6E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8814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F64E1B6B-FD19-433D-ADBC-CA6182F3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24A22D-4BB9-4E96-B6D2-80DF19A4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Mobile kết hợp QR, GPS và khuôn mặt trước khi ghi nhận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BB378C00-27F3-44DD-A7A4-2B8A700B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06b84f480469d"/>
          <a:stretch xmlns:a="http://schemas.openxmlformats.org/drawingml/2006/main"/>
        </p:blipFill>
        <p:spPr>
          <a:xfrm xmlns:a="http://schemas.openxmlformats.org/drawingml/2006/main">
            <a:off x="2541411" y="1619250"/>
            <a:ext cx="7109178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DDD20DF-8AFF-4BD8-B428-FD8A0DF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B2318E0-B893-435C-9D91-A8377B62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ADFCE15-11FF-4BD4-8495-AB87DAC4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8987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CB2AE193-2AAD-4689-A2DB-41CB7C1F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31E705-B1FC-4038-B0CD-70AB797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Cơ sở dữ liệu liên kết đầy đủ lớp học, phiên, điểm danh và cảnh báo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DCEC4346-080A-41BE-9DC4-02F2297B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b2ba10e5a4871"/>
          <a:stretch xmlns:a="http://schemas.openxmlformats.org/drawingml/2006/main"/>
        </p:blipFill>
        <p:spPr>
          <a:xfrm xmlns:a="http://schemas.openxmlformats.org/drawingml/2006/main">
            <a:off x="2186517" y="1619250"/>
            <a:ext cx="3894667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api-title">
            <a:extLst xmlns:a="http://schemas.openxmlformats.org/drawingml/2006/main">
              <a:ext uri="{FF2B5EF4-FFF2-40B4-BE49-F238E27FC236}">
                <a16:creationId xmlns:a16="http://schemas.microsoft.com/office/drawing/2014/main" id="{E92DDC0D-44D1-412F-BFB5-1BFAA012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GIAO TIẾP HỆ THỐNG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007B8557-BE85-4D5A-BA09-D57256A0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59868EC-FA21-4346-ADE2-7C06A4A9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REST API cho Web và Mobile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75165CFD-F239-4FA6-BAE9-7A09F82B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CB1CF45-8ECE-4A00-8FB6-852873D6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JWT và phân quyền theo vai trò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8A91396C-ACF0-4333-96DC-230CCAC6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01C72AE-40A0-4551-B7F1-C3F0BEF7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Socket.IO cập nhật Kiosk thời gian thực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4FEA3E-9325-4DF2-9DD5-0BD941A4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D2C9B27D-76C8-43EC-9339-3DF863B2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FCM gửi thông báo đến thiết bị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7BD9E80E-7CB9-4155-BC27-32181EE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341091AF-DE10-42BF-A5C3-BB604C49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43450"/>
            <a:ext cx="295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SQL Server lưu dữ liệu nghiệp vụ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D88608D-232A-4D37-8A72-B299901D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A577233-3DA4-4F05-8E50-FFDCB546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1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C1D905D-ACBB-4958-B95B-92BA842A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3122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CB6D4701-E166-4E44-874F-8DF3546E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76DA9E-3078-4BAC-A3FC-4A22DFED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Web Admin tập trung quản lý và giám sát toàn bộ hệ thống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35AE09C0-7641-4921-868B-EF5714F4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2c3461e6648d8"/>
          <a:stretch xmlns:a="http://schemas.openxmlformats.org/drawingml/2006/main"/>
        </p:blipFill>
        <p:spPr>
          <a:xfrm xmlns:a="http://schemas.openxmlformats.org/drawingml/2006/main">
            <a:off x="1862318" y="1619250"/>
            <a:ext cx="8448313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web-caption">
            <a:extLst xmlns:a="http://schemas.openxmlformats.org/drawingml/2006/main">
              <a:ext uri="{FF2B5EF4-FFF2-40B4-BE49-F238E27FC236}">
                <a16:creationId xmlns:a16="http://schemas.microsoft.com/office/drawing/2014/main" id="{112B25F6-5ED4-41E0-9C86-0732316E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Sinh viên • lớp học • phiên điểm danh • camera • cảnh báo • thống kê • xuất báo cáo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421E13-450C-42FB-8D77-F64E790C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D54864A-2917-49EB-98AE-C372DB37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2B069D4-CCE7-4FE8-A8AF-B65777C4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07348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01BA6D5D-261B-452E-9558-FC7D86BF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9329D6-70CA-4C44-A89F-24884AC9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Kiosk hiển thị kết quả nhận diện và nhật ký theo thời gian thực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F590B66F-FFFF-4042-83B9-0408D2EF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cb7a2858b45f3"/>
          <a:stretch xmlns:a="http://schemas.openxmlformats.org/drawingml/2006/main"/>
        </p:blipFill>
        <p:spPr>
          <a:xfrm xmlns:a="http://schemas.openxmlformats.org/drawingml/2006/main">
            <a:off x="1750696" y="1619250"/>
            <a:ext cx="8690608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E24CE48-4C28-4D57-9A4B-679866B4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D631DB8-AC1B-4675-9B99-C5B6F2D2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D02964-394D-415B-9B08-12682E35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59783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CB48D14D-E19E-4513-8E6E-120FCE08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6706F5-334B-4B81-BA1D-929E4E43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Ứng dụng Flutter đưa nghiệp vụ đến giảng viên và sinh viên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B8067FE0-2FDC-4E71-A70C-12A366B6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43cda2e77483a"/>
          <a:stretch xmlns:a="http://schemas.openxmlformats.org/drawingml/2006/main"/>
        </p:blipFill>
        <p:spPr>
          <a:xfrm xmlns:a="http://schemas.openxmlformats.org/drawingml/2006/main">
            <a:off x="1228756" y="1571625"/>
            <a:ext cx="2581213" cy="4648200"/>
          </a:xfrm>
          <a:prstGeom xmlns:a="http://schemas.openxmlformats.org/drawingml/2006/main" prst="rect">
            <a:avLst/>
          </a:prstGeom>
        </p:spPr>
      </p:pic>
      <p:sp>
        <p:nvSpPr>
          <p:cNvPr id="5" name="mobile-head">
            <a:extLst xmlns:a="http://schemas.openxmlformats.org/drawingml/2006/main">
              <a:ext uri="{FF2B5EF4-FFF2-40B4-BE49-F238E27FC236}">
                <a16:creationId xmlns:a16="http://schemas.microsoft.com/office/drawing/2014/main" id="{1BDCD784-861F-4557-BA54-54E7FF4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CÁC CHỨC NĂNG CHÍNH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6BAD6A21-60EB-4456-A2CD-0C84C91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57C200F-4A30-483D-933A-03A3F31D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Đăng ký và quản lý khuôn mặt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DD12A2-C6C1-49BA-A371-CE6C85E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2B05AD3-EFCF-47D6-A718-D85C6D7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Quét QR, xác minh GPS và check-in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0D3FFD1-1CCB-4616-9F88-1DF592C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ED6237F-D6D1-4BB9-9F78-A578BBBC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433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Tạo/theo dõi phiên dành cho giảng viên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AAAF9956-A327-40E9-817F-0881D0D1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9675B7D-4BFA-4B91-B868-14F651E9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767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Xem lịch sử và thống kê chuyên cần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AABDB466-4DBF-482D-8BA9-8CBF95F4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4C83974A-E7C2-42A4-980F-DF3CB2E5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Nhận thông báo, gửi đơn xin phép</a:t>
            </a:r>
          </a:p>
        </p:txBody>
      </p:sp>
      <p:sp>
        <p:nvSpPr>
          <p:cNvPr id="16" name="bullet-5">
            <a:extLst xmlns:a="http://schemas.openxmlformats.org/drawingml/2006/main">
              <a:ext uri="{FF2B5EF4-FFF2-40B4-BE49-F238E27FC236}">
                <a16:creationId xmlns:a16="http://schemas.microsoft.com/office/drawing/2014/main" id="{E1895287-8803-41AC-BCC5-C9D72F6F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4DC3DEB8-5FBF-4545-B615-46E3A5E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Hàng đợi đồng bộ khi mạng không ổn định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73E8428-9D60-4BCF-8900-3567CB1B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C9733A-858A-4E45-B6D6-1542F48C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2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96A770C-F90D-4CA4-B0DE-3F0AE53E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59419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C92C86F9-5A9E-4C08-9706-12E32639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6023E6-79D0-4B69-85A2-B91A188F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ResNet50 hội tụ nhanh trong lần huấn luyện được lưu lại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CC2BCB5E-7E77-4C19-BFC2-B552C5FD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06603e9374c68"/>
          <a:stretch xmlns:a="http://schemas.openxmlformats.org/drawingml/2006/main"/>
        </p:blipFill>
        <p:spPr>
          <a:xfrm xmlns:a="http://schemas.openxmlformats.org/drawingml/2006/main">
            <a:off x="1409700" y="1666875"/>
            <a:ext cx="9372600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train-note">
            <a:extLst xmlns:a="http://schemas.openxmlformats.org/drawingml/2006/main">
              <a:ext uri="{FF2B5EF4-FFF2-40B4-BE49-F238E27FC236}">
                <a16:creationId xmlns:a16="http://schemas.microsoft.com/office/drawing/2014/main" id="{716BC777-DFAB-4676-A5C3-1604BB04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56"/>
                </a:solidFill>
              </a:defRPr>
            </a:pPr>
            <a:r>
              <a:rPr sz="1500" b="1">
                <a:solidFill>
                  <a:srgbClr val="102A56"/>
                </a:solidFill>
              </a:rPr>
              <a:t>Độ chính xác tăng và loss giảm theo epoch; hình thể hiện xu hướng hội tụ của một lần chạy.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0C3297-FB94-4EAC-9D90-D32846B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20B483-5AB4-4719-AA39-F07F0AD9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EC395F1-8BF1-4F48-A6FB-189A3790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4636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4270D5A-62EB-46CD-B464-751DE604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35C565-7193-4D14-9119-1EB3047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26/26 mẫu được phân loại đúng — nhưng tập kiểm thử còn nhỏ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80454898-93B0-4CB5-AD35-5D3E85D8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506ba9d614d62"/>
          <a:stretch xmlns:a="http://schemas.openxmlformats.org/drawingml/2006/main"/>
        </p:blipFill>
        <p:spPr>
          <a:xfrm xmlns:a="http://schemas.openxmlformats.org/drawingml/2006/main">
            <a:off x="1431131" y="1619250"/>
            <a:ext cx="5595938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9E9F666B-F127-4070-BB20-86A5433B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2762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metric-num">
            <a:extLst xmlns:a="http://schemas.openxmlformats.org/drawingml/2006/main">
              <a:ext uri="{FF2B5EF4-FFF2-40B4-BE49-F238E27FC236}">
                <a16:creationId xmlns:a16="http://schemas.microsoft.com/office/drawing/2014/main" id="{555B7C61-D334-4922-8F9D-16679E21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26 / 26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2B62ACE-15D8-4114-9BF5-B43950CA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mẫu nằm trên đường chéo</a:t>
            </a:r>
          </a:p>
        </p:txBody>
      </p:sp>
      <p:sp>
        <p:nvSpPr>
          <p:cNvPr id="8" name="sample">
            <a:extLst xmlns:a="http://schemas.openxmlformats.org/drawingml/2006/main">
              <a:ext uri="{FF2B5EF4-FFF2-40B4-BE49-F238E27FC236}">
                <a16:creationId xmlns:a16="http://schemas.microsoft.com/office/drawing/2014/main" id="{40B32288-74D4-443F-8BBA-DE01CB26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12 định danh</a:t>
            </a:r>
          </a:p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1–4 ảnh mỗi định danh</a:t>
            </a:r>
          </a:p>
        </p:txBody>
      </p:sp>
      <p:sp>
        <p:nvSpPr>
          <p:cNvPr id="9" name="warning">
            <a:extLst xmlns:a="http://schemas.openxmlformats.org/drawingml/2006/main">
              <a:ext uri="{FF2B5EF4-FFF2-40B4-BE49-F238E27FC236}">
                <a16:creationId xmlns:a16="http://schemas.microsoft.com/office/drawing/2014/main" id="{03E6EEFE-93BE-429E-B95C-5DDF544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C2626"/>
                </a:solidFill>
              </a:defRPr>
            </a:pPr>
            <a:r>
              <a:rPr sz="1425" b="1">
                <a:solidFill>
                  <a:srgbClr val="DC2626"/>
                </a:solidFill>
              </a:rPr>
              <a:t>Không suy rộng thành độ chính xác tuyệt đối của hệ thống.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957332D-0B25-4A7E-8301-1F575973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2BE217-E666-4B8F-B973-29F342F1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97F5153-9C92-4D34-9214-8FE7D3C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988785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F9B93D95-2EC2-45E1-B656-A02720FD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D79169-1415-45F6-A450-BF20D1EA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InsightFace nhanh hơn trong phép đo quan sát cùng cấu hình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D472B948-D22E-4FCC-822E-FE909618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6762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b736abe954491f"/>
          </a:graphicData>
        </a:graphic>
      </p:graphicFrame>
      <p:sp>
        <p:nvSpPr>
          <p:cNvPr id="5" name="perf-title">
            <a:extLst xmlns:a="http://schemas.openxmlformats.org/drawingml/2006/main">
              <a:ext uri="{FF2B5EF4-FFF2-40B4-BE49-F238E27FC236}">
                <a16:creationId xmlns:a16="http://schemas.microsoft.com/office/drawing/2014/main" id="{F67FEADC-8436-4F27-84F8-1084EE9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KẾT LUẬN TẠM THỜI</a:t>
            </a:r>
          </a:p>
        </p:txBody>
      </p:sp>
      <p:sp>
        <p:nvSpPr>
          <p:cNvPr id="6" name="perf-copy">
            <a:extLst xmlns:a="http://schemas.openxmlformats.org/drawingml/2006/main">
              <a:ext uri="{FF2B5EF4-FFF2-40B4-BE49-F238E27FC236}">
                <a16:creationId xmlns:a16="http://schemas.microsoft.com/office/drawing/2014/main" id="{00B6A3A7-EB30-4A18-AD05-B556E61C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InsightFace được chọn làm lõi mặc định nhờ tốc độ quan sát cao hơn và đường ống phát hiện–trích xuất ổn định.</a:t>
            </a:r>
          </a:p>
        </p:txBody>
      </p:sp>
      <p:sp>
        <p:nvSpPr>
          <p:cNvPr id="7" name="perf-caveat">
            <a:extLst xmlns:a="http://schemas.openxmlformats.org/drawingml/2006/main">
              <a:ext uri="{FF2B5EF4-FFF2-40B4-BE49-F238E27FC236}">
                <a16:creationId xmlns:a16="http://schemas.microsoft.com/office/drawing/2014/main" id="{7720FBBD-BAA2-44B5-A554-C3EA3B21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767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Các số liệu chưa có log nhiều lần chạy và độ lệch chuẩn; chỉ dùng để so sánh tương đối.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E58817-21E6-4236-89D4-E8D9D1B1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4A6274-93DD-4442-8A1B-E139A6D8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0EB6097-6D07-4985-B7BE-24BAF273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236887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5E8BB990-3672-40CF-A8F7-EE5D0796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MTU FACE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6FD1D1-5D89-4E86-BEAD-40158AF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Hệ thống đã hoàn thành nền tảng; bước tiếp theo là mở rộng bằng chứng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72F3143F-AF81-491C-81A9-460CC0AA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one-head">
            <a:extLst xmlns:a="http://schemas.openxmlformats.org/drawingml/2006/main">
              <a:ext uri="{FF2B5EF4-FFF2-40B4-BE49-F238E27FC236}">
                <a16:creationId xmlns:a16="http://schemas.microsoft.com/office/drawing/2014/main" id="{05BC2322-4CCB-4373-88B8-B3E15F80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ĐÃ ĐẠT ĐƯỢC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E25D33F4-537A-481E-8B7A-A682924A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9F1664B-8006-466D-B009-CF236C16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Web, Kiosk và Mobile dùng chung nghiệp vụ.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017EDC24-3217-4337-829F-DF04A338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C4DDED7-DACA-42E9-A300-488FE12A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Hai lõi AI có thể chuyển đổi bằng cấu hình.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C8066CDE-4C32-4D37-84A4-1FBACF7E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DC369F7-664F-45DB-A2B2-D833B77E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Điểm danh kết hợp khuôn mặt, QR và GPS.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16F8BBF6-B8F7-416E-AC77-C8132D5F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CFC8CF4-E9D2-4F80-96C6-806CC448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Quản lý phiên, cảnh báo, thống kê và báo cáo.</a:t>
            </a:r>
          </a:p>
        </p:txBody>
      </p:sp>
      <p:sp>
        <p:nvSpPr>
          <p:cNvPr id="13" name="mid-rule">
            <a:extLst xmlns:a="http://schemas.openxmlformats.org/drawingml/2006/main">
              <a:ext uri="{FF2B5EF4-FFF2-40B4-BE49-F238E27FC236}">
                <a16:creationId xmlns:a16="http://schemas.microsoft.com/office/drawing/2014/main" id="{7C790DB7-BC00-4D3E-8859-F8D1127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ext-head">
            <a:extLst xmlns:a="http://schemas.openxmlformats.org/drawingml/2006/main">
              <a:ext uri="{FF2B5EF4-FFF2-40B4-BE49-F238E27FC236}">
                <a16:creationId xmlns:a16="http://schemas.microsoft.com/office/drawing/2014/main" id="{248FE32A-E83A-4B5A-93B5-255EEB49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CẦN HOÀN THIỆN</a:t>
            </a:r>
          </a:p>
        </p:txBody>
      </p:sp>
      <p:sp>
        <p:nvSpPr>
          <p:cNvPr id="15" name="bullet-0">
            <a:extLst xmlns:a="http://schemas.openxmlformats.org/drawingml/2006/main">
              <a:ext uri="{FF2B5EF4-FFF2-40B4-BE49-F238E27FC236}">
                <a16:creationId xmlns:a16="http://schemas.microsoft.com/office/drawing/2014/main" id="{5E75E15D-257A-49F6-813F-E2792A20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49E34A9-4F78-43E8-8672-A281FD7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Mở rộng tập dữ liệu và thiết bị camera.</a:t>
            </a:r>
          </a:p>
        </p:txBody>
      </p:sp>
      <p:sp>
        <p:nvSpPr>
          <p:cNvPr id="17" name="bullet-1">
            <a:extLst xmlns:a="http://schemas.openxmlformats.org/drawingml/2006/main">
              <a:ext uri="{FF2B5EF4-FFF2-40B4-BE49-F238E27FC236}">
                <a16:creationId xmlns:a16="http://schemas.microsoft.com/office/drawing/2014/main" id="{26D40467-F567-4ED7-B516-824A4C69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C079255-5F01-4D6D-8EE5-3423F6CC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Đo FAR, FRR, EER theo từng kiểu giả mạo.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779EAC91-C95B-4CE3-B017-B1307F92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DEC9C0C-30CA-4231-9C3C-4E307A5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Lưu log nhiều lần chạy và độ lệch chuẩn.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16A9D453-1DED-4F1A-9070-9155D93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3442186B-993F-4617-A5D4-7BAF5272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Hoàn thiện chính sách dữ liệu sinh trắc học.</a:t>
            </a:r>
          </a:p>
        </p:txBody>
      </p:sp>
      <p:sp>
        <p:nvSpPr>
          <p:cNvPr id="23" name="closing">
            <a:extLst xmlns:a="http://schemas.openxmlformats.org/drawingml/2006/main">
              <a:ext uri="{FF2B5EF4-FFF2-40B4-BE49-F238E27FC236}">
                <a16:creationId xmlns:a16="http://schemas.microsoft.com/office/drawing/2014/main" id="{CFF8B6FC-CBC8-45DF-9139-171E696B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56"/>
                </a:solidFill>
              </a:defRPr>
            </a:pPr>
            <a:r>
              <a:rPr sz="1650" b="1">
                <a:solidFill>
                  <a:srgbClr val="102A56"/>
                </a:solidFill>
              </a:rPr>
              <a:t>Giá trị cốt lõi: một kiến trúc có thể tiếp tục mở rộng thành hệ thống điểm danh thông minh ở quy mô thực tế.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9364FC7-82DE-41F7-B907-4112F6A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1B7A933-9DC8-4803-A6F5-868DC46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ĐỒ ÁN TỐT NGHIỆP • KỸ THUẬT PHẦN MỀM</a:t>
            </a:r>
          </a:p>
        </p:txBody>
      </p:sp>
      <p:sp>
        <p:nvSpPr>
          <p:cNvPr id="2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ABFC9C6-F460-47AA-A201-7449D3C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53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252667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2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a1e2254d64c74"/>
          <a:stretch xmlns:a="http://schemas.openxmlformats.org/drawingml/2006/main"/>
        </p:blipFill>
        <p:spPr>
          <a:xfrm xmlns:a="http://schemas.openxmlformats.org/drawingml/2006/main">
            <a:off x="685800" y="685208"/>
            <a:ext cx="914400" cy="725083"/>
          </a:xfrm>
          <a:prstGeom xmlns:a="http://schemas.openxmlformats.org/drawingml/2006/main" prst="rect">
            <a:avLst/>
          </a:prstGeom>
        </p:spPr>
      </p:pic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843A42B-998B-4941-8748-518640D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NGHIÊN CỨU GIẢI PHÁP ĐIỂM DANH TỰ ĐỘNG BẰNG THỊ GIÁC MÁY TÍNH</a:t>
            </a:r>
          </a:p>
        </p:txBody>
      </p:sp>
      <p:sp>
        <p:nvSpPr>
          <p:cNvPr id="3" name="qa">
            <a:extLst xmlns:a="http://schemas.openxmlformats.org/drawingml/2006/main">
              <a:ext uri="{FF2B5EF4-FFF2-40B4-BE49-F238E27FC236}">
                <a16:creationId xmlns:a16="http://schemas.microsoft.com/office/drawing/2014/main" id="{78544D40-5005-4BEA-951C-755FA181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XIN CẢM ƠN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HỘI ĐỒNG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6F79E206-2684-4BD9-B3E7-232F96EC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Kính mong nhận được câu hỏi và góp ý.</a:t>
            </a:r>
          </a:p>
        </p:txBody>
      </p:sp>
      <p:sp>
        <p:nvSpPr>
          <p:cNvPr id="5" name="author-close">
            <a:extLst xmlns:a="http://schemas.openxmlformats.org/drawingml/2006/main">
              <a:ext uri="{FF2B5EF4-FFF2-40B4-BE49-F238E27FC236}">
                <a16:creationId xmlns:a16="http://schemas.microsoft.com/office/drawing/2014/main" id="{E2509EEB-DBF1-406C-B446-6D6AA6D5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Nguyễn Đông Từ • MTU Face</a:t>
            </a:r>
          </a:p>
        </p:txBody>
      </p:sp>
    </p:spTree>
    <p:extLst>
      <p:ext uri="{BB962C8B-B14F-4D97-AF65-F5344CB8AC3E}">
        <p14:creationId xmlns:p14="http://schemas.microsoft.com/office/powerpoint/2010/main" val="1332299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2026-08-04T03:59:10.2080000Z</dcterms:created>
  <dcterms:modified xsi:type="dcterms:W3CDTF">2026-08-04T03:59:10.2080000Z</dcterms:modified>
</coreProperties>
</file>